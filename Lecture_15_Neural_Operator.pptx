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8"/>
  </p:notesMasterIdLst>
  <p:sldIdLst>
    <p:sldId id="256" r:id="rId2"/>
    <p:sldId id="333" r:id="rId3"/>
    <p:sldId id="523" r:id="rId4"/>
    <p:sldId id="543" r:id="rId5"/>
    <p:sldId id="553" r:id="rId6"/>
    <p:sldId id="552" r:id="rId7"/>
    <p:sldId id="557" r:id="rId8"/>
    <p:sldId id="551" r:id="rId9"/>
    <p:sldId id="554" r:id="rId10"/>
    <p:sldId id="555" r:id="rId11"/>
    <p:sldId id="550" r:id="rId12"/>
    <p:sldId id="544" r:id="rId13"/>
    <p:sldId id="546" r:id="rId14"/>
    <p:sldId id="547" r:id="rId15"/>
    <p:sldId id="548" r:id="rId16"/>
    <p:sldId id="549" r:id="rId17"/>
    <p:sldId id="486" r:id="rId18"/>
    <p:sldId id="527" r:id="rId19"/>
    <p:sldId id="528" r:id="rId20"/>
    <p:sldId id="524" r:id="rId21"/>
    <p:sldId id="526" r:id="rId22"/>
    <p:sldId id="529" r:id="rId23"/>
    <p:sldId id="531" r:id="rId24"/>
    <p:sldId id="530" r:id="rId25"/>
    <p:sldId id="532" r:id="rId26"/>
    <p:sldId id="537" r:id="rId27"/>
    <p:sldId id="533" r:id="rId28"/>
    <p:sldId id="534" r:id="rId29"/>
    <p:sldId id="556" r:id="rId30"/>
    <p:sldId id="542" r:id="rId31"/>
    <p:sldId id="535" r:id="rId32"/>
    <p:sldId id="536" r:id="rId33"/>
    <p:sldId id="538" r:id="rId34"/>
    <p:sldId id="539" r:id="rId35"/>
    <p:sldId id="541" r:id="rId36"/>
    <p:sldId id="338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8FD"/>
    <a:srgbClr val="3333FD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19" autoAdjust="0"/>
  </p:normalViewPr>
  <p:slideViewPr>
    <p:cSldViewPr snapToGrid="0">
      <p:cViewPr varScale="1">
        <p:scale>
          <a:sx n="94" d="100"/>
          <a:sy n="94" d="100"/>
        </p:scale>
        <p:origin x="20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3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2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92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62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60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54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60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60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89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99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57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96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00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36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11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05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08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10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02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98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8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26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331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143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352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557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75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129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931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0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532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858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165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16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613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1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375658" y="246221"/>
            <a:ext cx="8392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Scientific Machine Learning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2D0D78-D0B9-403E-B5AC-66E83F5A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07" y="155558"/>
            <a:ext cx="973866" cy="704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2604B1-DFD6-4A0E-BA4B-23A06DBE5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82409"/>
          <a:stretch/>
        </p:blipFill>
        <p:spPr>
          <a:xfrm>
            <a:off x="992586" y="37675"/>
            <a:ext cx="893400" cy="940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7CEB32-1021-4218-A4D5-F1083BF5322E}"/>
              </a:ext>
            </a:extLst>
          </p:cNvPr>
          <p:cNvSpPr txBox="1"/>
          <p:nvPr/>
        </p:nvSpPr>
        <p:spPr>
          <a:xfrm>
            <a:off x="629265" y="1784198"/>
            <a:ext cx="8239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15: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solution operators using neural networks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F80A-5EF6-4539-ACB8-DA297CF81EAA}"/>
              </a:ext>
            </a:extLst>
          </p:cNvPr>
          <p:cNvSpPr txBox="1"/>
          <p:nvPr/>
        </p:nvSpPr>
        <p:spPr>
          <a:xfrm>
            <a:off x="629265" y="3137509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孟旭辉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126DFE-D15F-47B5-9240-27C4587C9024}"/>
              </a:ext>
            </a:extLst>
          </p:cNvPr>
          <p:cNvSpPr txBox="1"/>
          <p:nvPr/>
        </p:nvSpPr>
        <p:spPr>
          <a:xfrm>
            <a:off x="629265" y="3648390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数学与统计学院数学与应用学科交叉创新研究院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D2569-83C5-47AE-B0C1-B755D485CBD5}"/>
              </a:ext>
            </a:extLst>
          </p:cNvPr>
          <p:cNvSpPr txBox="1"/>
          <p:nvPr/>
        </p:nvSpPr>
        <p:spPr>
          <a:xfrm>
            <a:off x="629265" y="4213821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办公室：东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室</a:t>
            </a:r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Email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xuhui_meng@hust.edu.cn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361427-37D8-46C8-9C84-F47E163DF02A}"/>
              </a:ext>
            </a:extLst>
          </p:cNvPr>
          <p:cNvSpPr/>
          <p:nvPr/>
        </p:nvSpPr>
        <p:spPr>
          <a:xfrm>
            <a:off x="2497488" y="5505133"/>
            <a:ext cx="414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https://github.com/XuhuiM/SciML-Course</a:t>
            </a:r>
          </a:p>
        </p:txBody>
      </p:sp>
    </p:spTree>
    <p:extLst>
      <p:ext uri="{BB962C8B-B14F-4D97-AF65-F5344CB8AC3E}">
        <p14:creationId xmlns:p14="http://schemas.microsoft.com/office/powerpoint/2010/main" val="6050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494686" y="1333902"/>
            <a:ext cx="8524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Operator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DeepONet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operator networks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FNO: Fourier Neural Operator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301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494686" y="1333902"/>
            <a:ext cx="8524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Operator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DeepONet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Deep operator networks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FNO: Fourier Neural Operator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7673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Universal approximation theorem for functionals: 1D case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0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et al., 1993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0B4768F-E7E8-7B2C-B7A9-BE96D4A603EB}"/>
              </a:ext>
            </a:extLst>
          </p:cNvPr>
          <p:cNvGrpSpPr/>
          <p:nvPr/>
        </p:nvGrpSpPr>
        <p:grpSpPr>
          <a:xfrm>
            <a:off x="50800" y="1727200"/>
            <a:ext cx="9042400" cy="3888059"/>
            <a:chOff x="351042" y="1331400"/>
            <a:chExt cx="11489915" cy="4250599"/>
          </a:xfrm>
        </p:grpSpPr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60C537C2-D3E9-76E8-9CFC-ADD5B6361D39}"/>
                </a:ext>
              </a:extLst>
            </p:cNvPr>
            <p:cNvSpPr/>
            <p:nvPr/>
          </p:nvSpPr>
          <p:spPr>
            <a:xfrm>
              <a:off x="351042" y="1331400"/>
              <a:ext cx="11489915" cy="4250599"/>
            </a:xfrm>
            <a:prstGeom prst="roundRect">
              <a:avLst/>
            </a:prstGeom>
            <a:solidFill>
              <a:srgbClr val="A1E35F"/>
            </a:solidFill>
            <a:ln>
              <a:noFill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0" name="Picture 5" descr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2in,&#10;top=1in,&#10;bottom=1in,&#10;footskip=.25in]{geometry}&#10;&#10;\tolerance=1&#10;\emergencystretch=\maxdimen&#10;\hyphenpenalty=10000&#10;\hbadness=10000&#10;&#10;\begin{document}&#10;&#10;\subsubsection*{Theorem}&#10;&#10;Suppose that $U$ is a compact set in $C[a, b], f$ is a continuous functional defined on $U$, and $\sigma(x)$ is a bounded generalized sigmoidal function, then for any $\epsilon&gt;0$, there exist $m+1$ points $a=x_{0}&lt;\cdots&lt;x_{m}=b$, a positive integer $N$ and constants $W_{i}^1, \theta_{i}, W_{i, j}^2, i=1, \cdots, N, j=0,1, \cdots, m$, such that&#10;$$&#10;\left|f(u)-\sum_{i=1}^{N} W_{i}^1 \sigma\left(\sum_{j=0}^{m} W_{i, j}^2 u\left(x_{j}\right)+\theta_{i}\right)\right|&lt;\epsilon&#10;$$&#10;&#10;&#10;\end{document}&#10;&#10;&#10;&#10;&#10;&#10;&#10;&#10;" title="IguanaTex Bitmap Display">
              <a:extLst>
                <a:ext uri="{FF2B5EF4-FFF2-40B4-BE49-F238E27FC236}">
                  <a16:creationId xmlns:a16="http://schemas.microsoft.com/office/drawing/2014/main" id="{F23BFB0E-DC6B-428D-2B46-2C722D821E4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761" y="1765667"/>
              <a:ext cx="11103087" cy="34157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08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Universal approximation theorem for functionals: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nD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case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0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et al., 1993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AA7BBDBA-AB33-5FBF-DF16-FED564FED97D}"/>
              </a:ext>
            </a:extLst>
          </p:cNvPr>
          <p:cNvGrpSpPr/>
          <p:nvPr/>
        </p:nvGrpSpPr>
        <p:grpSpPr>
          <a:xfrm>
            <a:off x="0" y="1554480"/>
            <a:ext cx="9144001" cy="3982024"/>
            <a:chOff x="351042" y="1004612"/>
            <a:chExt cx="11489915" cy="4531892"/>
          </a:xfrm>
        </p:grpSpPr>
        <p:sp>
          <p:nvSpPr>
            <p:cNvPr id="3" name="Rectangle: Rounded Corners 17">
              <a:extLst>
                <a:ext uri="{FF2B5EF4-FFF2-40B4-BE49-F238E27FC236}">
                  <a16:creationId xmlns:a16="http://schemas.microsoft.com/office/drawing/2014/main" id="{9BC2EB8E-62B9-650F-3740-03C2A32CD042}"/>
                </a:ext>
              </a:extLst>
            </p:cNvPr>
            <p:cNvSpPr/>
            <p:nvPr/>
          </p:nvSpPr>
          <p:spPr>
            <a:xfrm>
              <a:off x="351042" y="1004612"/>
              <a:ext cx="11489915" cy="4531892"/>
            </a:xfrm>
            <a:prstGeom prst="roundRect">
              <a:avLst/>
            </a:prstGeom>
            <a:solidFill>
              <a:srgbClr val="A1E35F"/>
            </a:solidFill>
            <a:ln>
              <a:noFill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4" name="Picture 5" descr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1in,&#10;top=1in,&#10;bottom=1in,&#10;footskip=.25in]{geometry}&#10;&#10;\tolerance=1&#10;\emergencystretch=\maxdimen&#10;\hyphenpenalty=10000&#10;\hbadness=10000&#10;&#10;\begin{document}&#10; &#10; \subsubsection*{Theorem}&#10; &#10; Suppose that $U$ is a compact set in $C_{V}\left(\Pi_{k=1}^{n}\left[a_{k}, b_{k}\right]\right), f$ is a continuous functional defined on $U$, and $\sigma(x)$ is a bounded generalized sigmoidal function, then for any $\epsilon&gt;0$, there exist $(m+1)^{n}$ points $\left(x_{1}^{j_{1}}, \cdots, x_{n}^{j_{n}}\right), x_{k}^{j_{k}}=$ $a_{k}+j_{k}(b-a) / m, j_{k}=0,1, \cdots, m, k=1, \cdots, n, a$ positive integer $N$, and constants $W_{i}^1, \theta_{i}$, and $q \times(m+1)^{n}$-vectors $\bar{W}_{i}^2$, such that&#10; &#10; $$\left| f(u)-\sum_{i=1}^{N} W_{i}^1 \sigma\left(\bar{W}_{i}^2 \cdot \bar{u}_{q, n, m}+\theta_{i}\right) \right| &lt;\epsilon, \quad \forall u \in U$$&#10; &#10; where $\bar{u}_{q, n, m}=\left(u_{l}\left(x_{1}^{j_{1}}, \cdots, x_{n}^{j_{n}}\right)\right), l=1, \cdots, q, j_{k}=$ 1), $1, \cdots, m, k=1, \cdots, n$ are $q \times(m+1)^{n}$-vectors.&#10; &#10; &#10;\end{document}&#10;&#10;&#10;&#10;&#10;&#10;&#10;&#10;" title="IguanaTex Bitmap Display">
              <a:extLst>
                <a:ext uri="{FF2B5EF4-FFF2-40B4-BE49-F238E27FC236}">
                  <a16:creationId xmlns:a16="http://schemas.microsoft.com/office/drawing/2014/main" id="{DDFA691B-855C-C2FE-9F8B-74AFC7D95F9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735" y="1441758"/>
              <a:ext cx="11081142" cy="3654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608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 Operator Networks (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0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et al., 1995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8AC79C-8116-4960-A0C0-22D19C52A1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489"/>
          <a:stretch/>
        </p:blipFill>
        <p:spPr>
          <a:xfrm>
            <a:off x="180325" y="813147"/>
            <a:ext cx="8783350" cy="523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 Operator Networks (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0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et al.,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1CAE40F1-A138-DD2C-949D-C5F700A86D87}"/>
              </a:ext>
            </a:extLst>
          </p:cNvPr>
          <p:cNvGrpSpPr/>
          <p:nvPr/>
        </p:nvGrpSpPr>
        <p:grpSpPr>
          <a:xfrm>
            <a:off x="0" y="1239520"/>
            <a:ext cx="9144000" cy="4813742"/>
            <a:chOff x="1142113" y="919796"/>
            <a:chExt cx="9907774" cy="5018408"/>
          </a:xfrm>
        </p:grpSpPr>
        <p:sp>
          <p:nvSpPr>
            <p:cNvPr id="4" name="Rectangle: Rounded Corners 17">
              <a:extLst>
                <a:ext uri="{FF2B5EF4-FFF2-40B4-BE49-F238E27FC236}">
                  <a16:creationId xmlns:a16="http://schemas.microsoft.com/office/drawing/2014/main" id="{4193E5A3-9C80-A70E-1AD6-D12849DF7B18}"/>
                </a:ext>
              </a:extLst>
            </p:cNvPr>
            <p:cNvSpPr/>
            <p:nvPr/>
          </p:nvSpPr>
          <p:spPr>
            <a:xfrm>
              <a:off x="1142113" y="919796"/>
              <a:ext cx="9907774" cy="5018408"/>
            </a:xfrm>
            <a:prstGeom prst="roundRect">
              <a:avLst/>
            </a:prstGeom>
            <a:solidFill>
              <a:srgbClr val="A1E35F"/>
            </a:solidFill>
            <a:ln>
              <a:noFill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14">
              <a:extLst>
                <a:ext uri="{FF2B5EF4-FFF2-40B4-BE49-F238E27FC236}">
                  <a16:creationId xmlns:a16="http://schemas.microsoft.com/office/drawing/2014/main" id="{C52862AA-241F-FB2D-7BA9-457F1E2F053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9402" y="1071061"/>
              <a:ext cx="9446359" cy="4809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0015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 Operator Networks (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1" y="6581001"/>
            <a:ext cx="1435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et al.,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095D10-8A3F-4DF0-BD8E-08AC3597E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60" y="1179871"/>
            <a:ext cx="8811279" cy="515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2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: numerical example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1" y="6581001"/>
            <a:ext cx="1435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et al.,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A7743FDD-061F-3448-A7F1-5A06E2D05C4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12" y="960023"/>
            <a:ext cx="7280575" cy="259350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5DA1EEB-9062-4479-25D4-6423EB6D4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29" y="4218284"/>
            <a:ext cx="5365386" cy="2061678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23FA4129-BFF7-D83C-2F0F-5BBCE1BAF3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0684" y="4100795"/>
            <a:ext cx="3242787" cy="22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9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: numerical example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7708491" y="6581001"/>
            <a:ext cx="1435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et al.,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899E3C0-D7F8-7DFC-4A38-49E4B6DE0C0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278" y="891962"/>
            <a:ext cx="5861304" cy="2401214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6F11E1F-3F99-E638-7AC4-003E84BA62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61" t="26701" r="7542" b="31656"/>
          <a:stretch/>
        </p:blipFill>
        <p:spPr>
          <a:xfrm>
            <a:off x="324595" y="3429000"/>
            <a:ext cx="8494809" cy="287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5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Extensions of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469CED-53F7-408B-9817-FB095D0C5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04" y="1214128"/>
            <a:ext cx="8716591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9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Extensions of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A1C474-F678-4A4A-BD83-6746CFA44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46" y="1356280"/>
            <a:ext cx="8830907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2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Extensions of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316687-5587-4FC0-BEEC-A464C4AD7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09" y="1457050"/>
            <a:ext cx="8821381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7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Extensions of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910664-44A5-488D-A6FE-934162177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10" y="789971"/>
            <a:ext cx="7981199" cy="593754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Extensions of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9D5811-9A7E-4616-9069-260D2F5C69F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845454-5049-4E2B-951F-34CF7391B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8" y="2019103"/>
            <a:ext cx="8945223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1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494686" y="1333902"/>
            <a:ext cx="8524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Operator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DeepONet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Deep operator networks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FNO: Fourier Neural Operator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0037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Fourier Neural Operator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E26E1F-9EDD-4AA7-9879-5EA856166F61}"/>
              </a:ext>
            </a:extLst>
          </p:cNvPr>
          <p:cNvSpPr txBox="1"/>
          <p:nvPr/>
        </p:nvSpPr>
        <p:spPr>
          <a:xfrm>
            <a:off x="7531510" y="6629484"/>
            <a:ext cx="235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Li, et al., ICLR, 2020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2D45B4-8981-4E55-A36C-97389968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500" y="1408386"/>
            <a:ext cx="2925000" cy="735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143BBC4-D34B-41D1-B887-28B807ACA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77157"/>
            <a:ext cx="9144000" cy="248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2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Convolution Theorem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E26E1F-9EDD-4AA7-9879-5EA856166F61}"/>
              </a:ext>
            </a:extLst>
          </p:cNvPr>
          <p:cNvSpPr txBox="1"/>
          <p:nvPr/>
        </p:nvSpPr>
        <p:spPr>
          <a:xfrm>
            <a:off x="8308259" y="6581001"/>
            <a:ext cx="235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Wiki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DDB227-ACA3-4709-B451-287526112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023" y="1336122"/>
            <a:ext cx="4867954" cy="4477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434F5C-B383-46F1-B9E0-1A982CC91F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185" y="1973299"/>
            <a:ext cx="4707792" cy="13036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A573FF0-9A5C-4837-B509-F4ECFFF89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61" y="3722135"/>
            <a:ext cx="3248478" cy="73352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14F08A8-4B34-4D73-B081-631951DE51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129" y="4884701"/>
            <a:ext cx="334374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3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Fourier Neural Operator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E26E1F-9EDD-4AA7-9879-5EA856166F61}"/>
              </a:ext>
            </a:extLst>
          </p:cNvPr>
          <p:cNvSpPr txBox="1"/>
          <p:nvPr/>
        </p:nvSpPr>
        <p:spPr>
          <a:xfrm>
            <a:off x="7531510" y="6629484"/>
            <a:ext cx="235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Li, et al., ICLR,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2D45B4-8981-4E55-A36C-97389968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500" y="1054425"/>
            <a:ext cx="2925000" cy="735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143BBC4-D34B-41D1-B887-28B807ACAD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011"/>
          <a:stretch/>
        </p:blipFill>
        <p:spPr>
          <a:xfrm>
            <a:off x="0" y="2087712"/>
            <a:ext cx="9144000" cy="5460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A7D39C-AE94-47EB-A35B-F246C82AC12F}"/>
                  </a:ext>
                </a:extLst>
              </p:cNvPr>
              <p:cNvSpPr txBox="1"/>
              <p:nvPr/>
            </p:nvSpPr>
            <p:spPr>
              <a:xfrm>
                <a:off x="1799303" y="3500284"/>
                <a:ext cx="5545393" cy="379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A7D39C-AE94-47EB-A35B-F246C82AC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303" y="3500284"/>
                <a:ext cx="5545393" cy="379848"/>
              </a:xfrm>
              <a:prstGeom prst="rect">
                <a:avLst/>
              </a:prstGeom>
              <a:blipFill>
                <a:blip r:embed="rId5"/>
                <a:stretch>
                  <a:fillRect b="-17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D8A5E5E-1FCA-4CE6-A800-6976A78523EF}"/>
              </a:ext>
            </a:extLst>
          </p:cNvPr>
          <p:cNvCxnSpPr>
            <a:stCxn id="10" idx="2"/>
            <a:endCxn id="2" idx="0"/>
          </p:cNvCxnSpPr>
          <p:nvPr/>
        </p:nvCxnSpPr>
        <p:spPr>
          <a:xfrm>
            <a:off x="4572000" y="2633810"/>
            <a:ext cx="0" cy="86647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CC2FCCB-63D8-494D-A230-060849E69FD4}"/>
                  </a:ext>
                </a:extLst>
              </p:cNvPr>
              <p:cNvSpPr txBox="1"/>
              <p:nvPr/>
            </p:nvSpPr>
            <p:spPr>
              <a:xfrm>
                <a:off x="1804222" y="4822153"/>
                <a:ext cx="5545393" cy="407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CC2FCCB-63D8-494D-A230-060849E69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222" y="4822153"/>
                <a:ext cx="5545393" cy="407163"/>
              </a:xfrm>
              <a:prstGeom prst="rect">
                <a:avLst/>
              </a:prstGeom>
              <a:blipFill>
                <a:blip r:embed="rId6"/>
                <a:stretch>
                  <a:fillRect t="-5970" b="-1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EA20EA-6C31-44E3-B8DE-00B724BF0B89}"/>
              </a:ext>
            </a:extLst>
          </p:cNvPr>
          <p:cNvCxnSpPr/>
          <p:nvPr/>
        </p:nvCxnSpPr>
        <p:spPr>
          <a:xfrm>
            <a:off x="4567082" y="3880132"/>
            <a:ext cx="0" cy="86647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2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Fourier Neural Operator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D1B663-3191-44CB-AD88-7F435FC90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9207"/>
            <a:ext cx="9144000" cy="2995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790C4B-3594-49C1-B480-3564DF9E15E6}"/>
                  </a:ext>
                </a:extLst>
              </p:cNvPr>
              <p:cNvSpPr txBox="1"/>
              <p:nvPr/>
            </p:nvSpPr>
            <p:spPr>
              <a:xfrm>
                <a:off x="2664542" y="945114"/>
                <a:ext cx="3814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790C4B-3594-49C1-B480-3564DF9E1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542" y="945114"/>
                <a:ext cx="381491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44E26E1F-9EDD-4AA7-9879-5EA856166F61}"/>
              </a:ext>
            </a:extLst>
          </p:cNvPr>
          <p:cNvSpPr txBox="1"/>
          <p:nvPr/>
        </p:nvSpPr>
        <p:spPr>
          <a:xfrm>
            <a:off x="7531510" y="6629484"/>
            <a:ext cx="235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Li, et al., ICLR,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4DA8BD-4CC1-444E-A3C5-3E93A0E433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58" y="1378329"/>
            <a:ext cx="741148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5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FNO: Universal Approximation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E26E1F-9EDD-4AA7-9879-5EA856166F61}"/>
              </a:ext>
            </a:extLst>
          </p:cNvPr>
          <p:cNvSpPr txBox="1"/>
          <p:nvPr/>
        </p:nvSpPr>
        <p:spPr>
          <a:xfrm>
            <a:off x="7344697" y="6581001"/>
            <a:ext cx="235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Kovichki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JML,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C63283-37A3-4F1A-8AAC-B7F457979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5" y="4420574"/>
            <a:ext cx="8022066" cy="16754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1FA018-529E-4A85-93F4-98FD56A0D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48590"/>
            <a:ext cx="9144000" cy="29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52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FNO: Universal Approximation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E26E1F-9EDD-4AA7-9879-5EA856166F61}"/>
              </a:ext>
            </a:extLst>
          </p:cNvPr>
          <p:cNvSpPr txBox="1"/>
          <p:nvPr/>
        </p:nvSpPr>
        <p:spPr>
          <a:xfrm>
            <a:off x="7344697" y="6581001"/>
            <a:ext cx="2359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Kovichki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JML, 2021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C63283-37A3-4F1A-8AAC-B7F457979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5" y="4420574"/>
            <a:ext cx="8022066" cy="16754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1FA018-529E-4A85-93F4-98FD56A0D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90688"/>
            <a:ext cx="9144000" cy="29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5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Normalization of training data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F1BF80-BE92-495B-B21D-600E67C49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3540"/>
            <a:ext cx="8926171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3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Burgers equation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D7C87A-5996-4E2A-951A-69945975D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100" y="1349395"/>
            <a:ext cx="3543795" cy="514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2F0470-B652-4DCA-8B2F-81EE8BAE32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6" y="2370145"/>
            <a:ext cx="8630854" cy="8097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F89A836-DE9D-47FE-92EC-FD52C7224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6" y="3678117"/>
            <a:ext cx="8707065" cy="9812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E8D468-7B82-4B32-9B9D-ACE6F9D77B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1" b="40675"/>
          <a:stretch/>
        </p:blipFill>
        <p:spPr>
          <a:xfrm>
            <a:off x="1223493" y="5157563"/>
            <a:ext cx="6620799" cy="107171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67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B4E039-4487-4960-81DE-5CB6EFFEC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83" y="834596"/>
            <a:ext cx="8659433" cy="10002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6081DA5-95FE-484C-9185-5F62D305AA9C}"/>
                  </a:ext>
                </a:extLst>
              </p:cNvPr>
              <p:cNvSpPr txBox="1"/>
              <p:nvPr/>
            </p:nvSpPr>
            <p:spPr>
              <a:xfrm>
                <a:off x="1238865" y="2202426"/>
                <a:ext cx="59976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6081DA5-95FE-484C-9185-5F62D305A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65" y="2202426"/>
                <a:ext cx="599767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41F32E7A-C0C0-415E-86E2-8279040BB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865" y="4632306"/>
            <a:ext cx="7097115" cy="13717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6D1BD08-F800-4BB4-8D3F-1D0F0DDD06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83" y="2866820"/>
            <a:ext cx="849748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4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B4E039-4487-4960-81DE-5CB6EFFEC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83" y="834596"/>
            <a:ext cx="8659433" cy="10002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6081DA5-95FE-484C-9185-5F62D305AA9C}"/>
                  </a:ext>
                </a:extLst>
              </p:cNvPr>
              <p:cNvSpPr txBox="1"/>
              <p:nvPr/>
            </p:nvSpPr>
            <p:spPr>
              <a:xfrm>
                <a:off x="1238865" y="2202426"/>
                <a:ext cx="59976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6081DA5-95FE-484C-9185-5F62D305A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865" y="2202426"/>
                <a:ext cx="599767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41F32E7A-C0C0-415E-86E2-8279040BB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865" y="4632306"/>
            <a:ext cx="7097115" cy="13717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6D1BD08-F800-4BB4-8D3F-1D0F0DDD06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83" y="2866820"/>
            <a:ext cx="849748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7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87021C-BEA6-4EA6-AEF1-6EBD3E337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3" y="3605243"/>
            <a:ext cx="8268854" cy="1790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E7B3EB-1EEF-4147-B7BC-B33F4BDE4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9860"/>
            <a:ext cx="8764223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6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6C03D1-E719-4D35-BFB7-35FD224B4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7" y="1293438"/>
            <a:ext cx="8678486" cy="22767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0370917-5099-4906-B179-AEC500F80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99" y="3849823"/>
            <a:ext cx="8792802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dFNO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+: Inputs/outputs defined on different domains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B6340ECC-0D26-EDDB-E86E-7787FEEE3871}"/>
              </a:ext>
            </a:extLst>
          </p:cNvPr>
          <p:cNvGrpSpPr/>
          <p:nvPr/>
        </p:nvGrpSpPr>
        <p:grpSpPr>
          <a:xfrm>
            <a:off x="81280" y="955452"/>
            <a:ext cx="9427400" cy="4197182"/>
            <a:chOff x="377820" y="1394408"/>
            <a:chExt cx="9427400" cy="4197182"/>
          </a:xfrm>
        </p:grpSpPr>
        <p:sp>
          <p:nvSpPr>
            <p:cNvPr id="4" name="Rectangle 34">
              <a:extLst>
                <a:ext uri="{FF2B5EF4-FFF2-40B4-BE49-F238E27FC236}">
                  <a16:creationId xmlns:a16="http://schemas.microsoft.com/office/drawing/2014/main" id="{DEB63BB8-2729-B987-7A6F-01F6E2D3D642}"/>
                </a:ext>
              </a:extLst>
            </p:cNvPr>
            <p:cNvSpPr/>
            <p:nvPr/>
          </p:nvSpPr>
          <p:spPr>
            <a:xfrm>
              <a:off x="2573562" y="3847914"/>
              <a:ext cx="2272742" cy="365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30">
              <a:extLst>
                <a:ext uri="{FF2B5EF4-FFF2-40B4-BE49-F238E27FC236}">
                  <a16:creationId xmlns:a16="http://schemas.microsoft.com/office/drawing/2014/main" id="{80525F2F-80E2-CBCC-8BE9-66E5ACC80231}"/>
                </a:ext>
              </a:extLst>
            </p:cNvPr>
            <p:cNvSpPr/>
            <p:nvPr/>
          </p:nvSpPr>
          <p:spPr>
            <a:xfrm>
              <a:off x="377820" y="1394408"/>
              <a:ext cx="8824823" cy="3651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35">
              <a:extLst>
                <a:ext uri="{FF2B5EF4-FFF2-40B4-BE49-F238E27FC236}">
                  <a16:creationId xmlns:a16="http://schemas.microsoft.com/office/drawing/2014/main" id="{0C4F3BD7-CCE2-90CA-DEC4-035BCC476CA4}"/>
                </a:ext>
              </a:extLst>
            </p:cNvPr>
            <p:cNvSpPr/>
            <p:nvPr/>
          </p:nvSpPr>
          <p:spPr>
            <a:xfrm>
              <a:off x="2573562" y="5098466"/>
              <a:ext cx="2272742" cy="365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Picture 58" descr="\documentclass{article}&#10;\usepackage[a4paper, total={7.0in, 8in}]{geometry}&#10;\usepackage{amsmath}&#10;\usepackage{amssymb}&#10;\usepackage{xcolor}&#10;\usepackage{graphicx}&#10;&#10;\pagestyle{empty}&#10;\begin{document}&#10;&#10;&#10;\hspace{-0.35in}FNO limitation: input function domain $D$ and output function domain $D^{\prime}$ is the same. \newline&#10;\begin{itemize}&#10;\item[Case I:] The output space is a product space of the input space and another space $D_O$, i.e., $D' = D \times D_O$ \newline&#10;&#10;Example: PDE solution operator mapping from IC to the solution in the whole domain&#10;$$&#10;\mathcal{G}: v(x)=u(x, 0) \mapsto u(x, t)&#10;$$&#10;where $x \in [0,1]$ and $t \in [0, T] .$ Here, $D=[0,1], D^{\prime}=[0,1] \times [0, T]$, and thus $D_{0}=[0, T]$.&#10;\begin{itemize}&#10;\item Method 1: Extend the input domain by adding the extra coordinate $t$, defining $\tilde{v}$ as $$\tilde{v}(x, t) = v(x).$$  Then, FNO is used to learn the mapping from $\tilde{v}(x, t)$ to $u(x, t)$.&#10;\item Method 2: Shrink the ouput domain via RNN for time marching. Hard to train and \newline&#10;unstable. \end{itemize}&#10;\end{itemize}&#10;&#10;\end{document}&#10;" title="IguanaTex Bitmap Display">
              <a:extLst>
                <a:ext uri="{FF2B5EF4-FFF2-40B4-BE49-F238E27FC236}">
                  <a16:creationId xmlns:a16="http://schemas.microsoft.com/office/drawing/2014/main" id="{AE413BC9-866F-ACBD-76D2-21B2823DCCB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686" y="1469991"/>
              <a:ext cx="9352534" cy="4121599"/>
            </a:xfrm>
            <a:prstGeom prst="rect">
              <a:avLst/>
            </a:prstGeom>
          </p:spPr>
        </p:pic>
      </p:grpSp>
      <p:pic>
        <p:nvPicPr>
          <p:cNvPr id="10" name="Picture 55">
            <a:extLst>
              <a:ext uri="{FF2B5EF4-FFF2-40B4-BE49-F238E27FC236}">
                <a16:creationId xmlns:a16="http://schemas.microsoft.com/office/drawing/2014/main" id="{EDDE9F06-931F-99BC-76A5-31DA52D552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579"/>
          <a:stretch/>
        </p:blipFill>
        <p:spPr>
          <a:xfrm>
            <a:off x="4260496" y="4987048"/>
            <a:ext cx="2336949" cy="1870952"/>
          </a:xfrm>
          <a:prstGeom prst="rect">
            <a:avLst/>
          </a:prstGeom>
        </p:spPr>
      </p:pic>
      <p:pic>
        <p:nvPicPr>
          <p:cNvPr id="11" name="Picture 54">
            <a:extLst>
              <a:ext uri="{FF2B5EF4-FFF2-40B4-BE49-F238E27FC236}">
                <a16:creationId xmlns:a16="http://schemas.microsoft.com/office/drawing/2014/main" id="{504B5108-DEAD-6F5E-30EB-6C1DF3CD5D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3231"/>
          <a:stretch/>
        </p:blipFill>
        <p:spPr>
          <a:xfrm>
            <a:off x="2263365" y="5047572"/>
            <a:ext cx="1959698" cy="17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0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36602A-95AE-488B-BD9A-2D20E42A2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" y="1706132"/>
            <a:ext cx="9050013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9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668AB8-DB08-4C22-A77A-E332FEC6B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7" y="1583641"/>
            <a:ext cx="8135485" cy="17242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B9673F-99B9-49FB-9177-39B836481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8" y="3550094"/>
            <a:ext cx="7983064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Darcy Problem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FC6E1B-CDDD-4C40-9407-210EFC19B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95" y="3651443"/>
            <a:ext cx="7760010" cy="15774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20CEA7A-0605-4F99-A7BD-4ECFCA8FB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68" y="1131359"/>
            <a:ext cx="7983064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4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Navier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-Stokes equations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4EF5C7-1C78-49F4-AAFC-43571CA2C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7" y="1254456"/>
            <a:ext cx="8707065" cy="11241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50EBE3-69D5-498D-9B66-B3CD1AB70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12" y="2953599"/>
            <a:ext cx="3753374" cy="6477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5CA716-10F8-4DD0-81FD-E19E1C753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657" y="3924066"/>
            <a:ext cx="5477639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8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Navier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-Stokes equation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9449CF-1B0C-4F4F-B200-E67B4DE9BB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43"/>
          <a:stretch/>
        </p:blipFill>
        <p:spPr>
          <a:xfrm>
            <a:off x="142257" y="946476"/>
            <a:ext cx="8859486" cy="10676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9A6321-39C5-4028-A4C0-2CAFB050AC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54"/>
          <a:stretch/>
        </p:blipFill>
        <p:spPr>
          <a:xfrm>
            <a:off x="73431" y="2139853"/>
            <a:ext cx="8859486" cy="18074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F31D4D9-6345-4431-8FD1-9646731A9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57" y="3947345"/>
            <a:ext cx="8878539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4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DeepONet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vs FNO: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Navier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-Stokes equations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EC01D4-266D-4567-B162-38456D40FFBA}"/>
              </a:ext>
            </a:extLst>
          </p:cNvPr>
          <p:cNvSpPr txBox="1"/>
          <p:nvPr/>
        </p:nvSpPr>
        <p:spPr>
          <a:xfrm>
            <a:off x="6597445" y="6589013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Lu&amp;Meng&amp;Cai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CMAME, 2022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C2C646-0E6F-4DE8-BC5D-6F354F98C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2"/>
          <a:stretch/>
        </p:blipFill>
        <p:spPr>
          <a:xfrm>
            <a:off x="126976" y="3505200"/>
            <a:ext cx="8890047" cy="22528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9EFCB0-9339-48BC-A5C1-018D9DA00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9" y="1839182"/>
            <a:ext cx="8992855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233" y="3075057"/>
            <a:ext cx="7175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DC31F1-D89B-4C21-B37C-7E760FAC0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59" y="6263149"/>
            <a:ext cx="822241" cy="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"/>
    </mc:Choice>
    <mc:Fallback xmlns="">
      <p:transition spd="slow" advTm="192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0.825"/>
  <p:tag name="ORIGINALWIDTH" val="4553.431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2in,&#10;top=1in,&#10;bottom=1in,&#10;footskip=.25in]{geometry}&#10;&#10;\tolerance=1&#10;\emergencystretch=\maxdimen&#10;\hyphenpenalty=10000&#10;\hbadness=10000&#10;&#10;\begin{document}&#10;&#10;\subsubsection*{Theorem}&#10;&#10;Suppose that $U$ is a compact set in $C[a, b], f$ is a continuous functional defined on $U$, and $\sigma(x)$ is a bounded generalized sigmoidal function, then for any $\epsilon&gt;0$, there exist $m+1$ points $a=x_{0}&lt;\cdots&lt;x_{m}=b$, a positive integer $N$ and constants $W_{i}^1, \theta_{i}, W_{i, j}^2, i=1, \cdots, N, j=0,1, \cdots, m$, such that&#10;$$&#10;\left|f(u)-\sum_{i=1}^{N} W_{i}^1 \sigma\left(\sum_{j=0}^{m} W_{i, j}^2 u\left(x_{j}\right)+\theta_{i}\right)\right|&lt;\epsilon&#10;$$&#10;&#10;&#10;\end{document}&#10;&#10;&#10;&#10;&#10;&#10;&#10;&#10;"/>
  <p:tag name="IGUANATEXSIZE" val="24"/>
  <p:tag name="IGUANATEXCURSOR" val="14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98.275"/>
  <p:tag name="ORIGINALWIDTH" val="5453.318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1in,&#10;top=1in,&#10;bottom=1in,&#10;footskip=.25in]{geometry}&#10;&#10;\tolerance=1&#10;\emergencystretch=\maxdimen&#10;\hyphenpenalty=10000&#10;\hbadness=10000&#10;&#10;\begin{document}&#10; &#10; \subsubsection*{Theorem}&#10; &#10; Suppose that $U$ is a compact set in $C_{V}\left(\Pi_{k=1}^{n}\left[a_{k}, b_{k}\right]\right), f$ is a continuous functional defined on $U$, and $\sigma(x)$ is a bounded generalized sigmoidal function, then for any $\epsilon&gt;0$, there exist $(m+1)^{n}$ points $\left(x_{1}^{j_{1}}, \cdots, x_{n}^{j_{n}}\right), x_{k}^{j_{k}}=$ $a_{k}+j_{k}(b-a) / m, j_{k}=0,1, \cdots, m, k=1, \cdots, n, a$ positive integer $N$, and constants $W_{i}^1, \theta_{i}$, and $q \times(m+1)^{n}$-vectors $\bar{W}_{i}^2$, such that&#10; &#10; $$\left| f(u)-\sum_{i=1}^{N} W_{i}^1 \sigma\left(\bar{W}_{i}^2 \cdot \bar{u}_{q, n, m}+\theta_{i}\right) \right| &lt;\epsilon, \quad \forall u \in U$$&#10; &#10; where $\bar{u}_{q, n, m}=\left(u_{l}\left(x_{1}^{j_{1}}, \cdots, x_{n}^{j_{n}}\right)\right), l=1, \cdots, q, j_{k}=$ 1), $1, \cdots, m, k=1, \cdots, n$ are $q \times(m+1)^{n}$-vectors.&#10; &#10; &#10;\end{document}&#10;&#10;&#10;&#10;&#10;&#10;&#10;&#10;"/>
  <p:tag name="IGUANATEXSIZE" val="20"/>
  <p:tag name="IGUANATEXCURSOR" val="163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0"/>
  <p:tag name="ORIGINALWIDTH" val="4555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2in,&#10;top=1in,&#10;bottom=1in,&#10;footskip=.25in]{geometry}&#10;&#10;\tolerance=1&#10;\emergencystretch=\maxdimen&#10;\hyphenpenalty=10000&#10;\hbadness=10000&#10;&#10;\begin{document}&#10; &#10; \subsection*{Theorem (Lu et al, Nature Machine Intelligence 2021)}&#10; Let $X$ be a Banach Space and $K_{1} \subset X$ be compact. Let $V \subset C\left(K_{1}\right)$ be compact and $K_{2} \subset \mathbb{R}^{d}$ be compact. Assume that $\mathcal{G}: V \rightarrow C\left(K_{2}\right)$ is a nonlinear continuous operator. Then for any $\epsilon&gt;0$, there are positive integers $n, p, m$, constants $c_{i}^{k} \in \mathbb{R}$, neural networks $f \mathcal{N}\left(\cdot ; \theta^{(k)}\right)$ and $g^{\mathcal{N}}\left(\cdot ; \Theta^{(k, i)}\right), x_{j} \in K_{1}, i=1, \ldots, n, k=1, \ldots, p, j=1, \ldots, m$, such that&#10; $$&#10; |\mathcal{G}(u)(y)-\sum_{k=1}^{p} \underbrace{\sum_{i=1}^{n} c_{i}^{k} g^{\mathcal{N}}\left(u_{m} ; \Theta^{(k, i)}\right)}_{\text {branches }} \underbrace{f^{\mathcal{N}}\left(y ; \theta^{(k)}\right)}_{\text {trunk }}|&lt;\epsilon&#10; $$&#10; holds for all $u \in V$ and $y \in K_{2} \subseteq \mathbb{R}^{d}$, where&#10; &#10; \begin{itemize}&#10;  \item $\mathrm{u}_{m}=\left[u\left(x_{1}\right), u\left(x_{2}\right), \cdots, u\left(x_{m}\right)\right]^{\top} \in \mathbb{R}^{m}$,&#10;  \item and the neural networks $f^{\mathcal{N}}\left(y ; \theta^{(k)}\right)$ and $g^{\mathcal{N}}\left(u_{m} ; \Theta^{(k, i)}\right)$ satisfy the universal approximation theorem of continuous functions on compact sets.&#10; \end{itemize}&#10; &#10; &#10;\end{document}&#10;&#10;&#10;&#10;&#10;&#10;&#10;&#10;"/>
  <p:tag name="IGUANATEXSIZE" val="18"/>
  <p:tag name="IGUANATEXCURSOR" val="1097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4"/>
  <p:tag name="ORIGINALWIDTH" val="3801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2in,&#10;top=1in,&#10;bottom=1in,&#10;footskip=.25in]{geometry}&#10;&#10;\tolerance=1&#10;\emergencystretch=\maxdimen&#10;\hyphenpenalty=10000&#10;\hbadness=10000&#10;&#10;\begin{document}&#10;&#10;   \subsubsection*{A simple ODE case}&#10;   $$&#10;   \frac{d s(x)}{d x}=u(x), \quad x \in[0,1]&#10;   $$&#10;   with an initial condition $s(0)=0$.&#10;   $$&#10;   G: u(x) \mapsto s(x)=\int_{0}^{x} u(\tau) d \tau&#10;   $$&#10;   100 sensors, $10000 \times 1$ training points&#10;   Very small generalization error!&#10; &#10;\end{document}&#10;&#10;&#10;&#10;&#10;&#10;&#10;&#10;"/>
  <p:tag name="IGUANATEXSIZE" val="18"/>
  <p:tag name="IGUANATEXCURSOR" val="1338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3"/>
  <p:tag name="ORIGINALWIDTH" val="3205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2in,&#10;top=1in,&#10;bottom=1in,&#10;footskip=.25in]{geometry}&#10;&#10;\tolerance=1&#10;\emergencystretch=\maxdimen&#10;\hyphenpenalty=10000&#10;\hbadness=10000&#10;&#10;\begin{document}&#10;&#10;   $$\frac{d s_{1}}{d t}=s_{2}, \quad \frac{d s_{2}}{d t}=-k \sin s_{1}+u(t)$$&#10;   &#10;   \vspace{3mm}&#10;   &#10;   \noindent Test/generalization error:&#10;   \begin{itemize}&#10;   \item small dataset: exponential convergence&#10;   \item large dataset: polynomial rates&#10;   \item  smaller network has earlier transition point&#10;   \end{itemize}&#10;&#10;\end{document}&#10;&#10;&#10;&#10;&#10;&#10;&#10;&#10;"/>
  <p:tag name="IGUANATEXSIZE" val="18"/>
  <p:tag name="IGUANATEXCURSOR" val="1377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5.433"/>
  <p:tag name="ORIGINALWIDTH" val="5753.281"/>
  <p:tag name="LATEXADDIN" val="\documentclass{article}&#10;\usepackage[a4paper, total={7.0in, 8in}]{geometry}&#10;\usepackage{amsmath}&#10;\usepackage{amssymb}&#10;\usepackage{xcolor}&#10;\usepackage{graphicx}&#10;&#10;\pagestyle{empty}&#10;\begin{document}&#10;&#10;&#10;\hspace{-0.35in}FNO limitation: input function domain $D$ and output function domain $D^{\prime}$ is the same. \newline&#10;\begin{itemize}&#10;\item[Case I:] The output space is a product space of the input space and another space $D_O$, i.e., $D' = D \times D_O$ \newline&#10;&#10;Example: PDE solution operator mapping from IC to the solution in the whole domain&#10;$$&#10;\mathcal{G}: v(x)=u(x, 0) \mapsto u(x, t)&#10;$$&#10;where $x \in [0,1]$ and $t \in [0, T] .$ Here, $D=[0,1], D^{\prime}=[0,1] \times [0, T]$, and thus $D_{0}=[0, T]$.&#10;\begin{itemize}&#10;\item Method 1: Extend the input domain by adding the extra coordinate $t$, defining $\tilde{v}$ as $$\tilde{v}(x, t) = v(x).$$  Then, FNO is used to learn the mapping from $\tilde{v}(x, t)$ to $u(x, t)$.&#10;\item Method 2: Shrink the ouput domain via RNN for time marching. Hard to train and \newline&#10;unstable. \end{itemize}&#10;\end{itemize}&#10;&#10;\end{document}&#10;"/>
  <p:tag name="IGUANATEXSIZE" val="16"/>
  <p:tag name="IGUANATEXCURSOR" val="1025"/>
  <p:tag name="TRANSPARENCY" val="True"/>
  <p:tag name="LATEXENGINEID" val="0"/>
  <p:tag name="TEMPFOLDER" val="c:\temp\"/>
  <p:tag name="LATEXFORMHEIGHT" val="460.5"/>
  <p:tag name="LATEXFORMWIDTH" val="651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14809</TotalTime>
  <Words>646</Words>
  <Application>Microsoft Office PowerPoint</Application>
  <PresentationFormat>全屏显示(4:3)</PresentationFormat>
  <Paragraphs>153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Microsoft YaHei UI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1414</cp:revision>
  <dcterms:created xsi:type="dcterms:W3CDTF">2017-09-04T15:34:47Z</dcterms:created>
  <dcterms:modified xsi:type="dcterms:W3CDTF">2026-05-09T07:13:26Z</dcterms:modified>
</cp:coreProperties>
</file>