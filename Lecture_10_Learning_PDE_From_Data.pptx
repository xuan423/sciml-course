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57"/>
  </p:notesMasterIdLst>
  <p:sldIdLst>
    <p:sldId id="256" r:id="rId2"/>
    <p:sldId id="333" r:id="rId3"/>
    <p:sldId id="575" r:id="rId4"/>
    <p:sldId id="543" r:id="rId5"/>
    <p:sldId id="577" r:id="rId6"/>
    <p:sldId id="576" r:id="rId7"/>
    <p:sldId id="304" r:id="rId8"/>
    <p:sldId id="307" r:id="rId9"/>
    <p:sldId id="552" r:id="rId10"/>
    <p:sldId id="553" r:id="rId11"/>
    <p:sldId id="572" r:id="rId12"/>
    <p:sldId id="554" r:id="rId13"/>
    <p:sldId id="559" r:id="rId14"/>
    <p:sldId id="562" r:id="rId15"/>
    <p:sldId id="558" r:id="rId16"/>
    <p:sldId id="563" r:id="rId17"/>
    <p:sldId id="564" r:id="rId18"/>
    <p:sldId id="565" r:id="rId19"/>
    <p:sldId id="556" r:id="rId20"/>
    <p:sldId id="567" r:id="rId21"/>
    <p:sldId id="568" r:id="rId22"/>
    <p:sldId id="569" r:id="rId23"/>
    <p:sldId id="566" r:id="rId24"/>
    <p:sldId id="557" r:id="rId25"/>
    <p:sldId id="590" r:id="rId26"/>
    <p:sldId id="591" r:id="rId27"/>
    <p:sldId id="592" r:id="rId28"/>
    <p:sldId id="593" r:id="rId29"/>
    <p:sldId id="594" r:id="rId30"/>
    <p:sldId id="595" r:id="rId31"/>
    <p:sldId id="596" r:id="rId32"/>
    <p:sldId id="597" r:id="rId33"/>
    <p:sldId id="598" r:id="rId34"/>
    <p:sldId id="600" r:id="rId35"/>
    <p:sldId id="599" r:id="rId36"/>
    <p:sldId id="601" r:id="rId37"/>
    <p:sldId id="603" r:id="rId38"/>
    <p:sldId id="602" r:id="rId39"/>
    <p:sldId id="605" r:id="rId40"/>
    <p:sldId id="604" r:id="rId41"/>
    <p:sldId id="606" r:id="rId42"/>
    <p:sldId id="607" r:id="rId43"/>
    <p:sldId id="578" r:id="rId44"/>
    <p:sldId id="579" r:id="rId45"/>
    <p:sldId id="580" r:id="rId46"/>
    <p:sldId id="581" r:id="rId47"/>
    <p:sldId id="582" r:id="rId48"/>
    <p:sldId id="583" r:id="rId49"/>
    <p:sldId id="584" r:id="rId50"/>
    <p:sldId id="589" r:id="rId51"/>
    <p:sldId id="585" r:id="rId52"/>
    <p:sldId id="586" r:id="rId53"/>
    <p:sldId id="587" r:id="rId54"/>
    <p:sldId id="588" r:id="rId55"/>
    <p:sldId id="338" r:id="rId5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338FD"/>
    <a:srgbClr val="3333FD"/>
    <a:srgbClr val="0000CC"/>
    <a:srgbClr val="CC1704"/>
    <a:srgbClr val="000099"/>
    <a:srgbClr val="003399"/>
    <a:srgbClr val="6732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5619" autoAdjust="0"/>
  </p:normalViewPr>
  <p:slideViewPr>
    <p:cSldViewPr snapToGrid="0">
      <p:cViewPr varScale="1">
        <p:scale>
          <a:sx n="94" d="100"/>
          <a:sy n="94" d="100"/>
        </p:scale>
        <p:origin x="209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24CD06-CDB8-463C-82C0-327730F8ACA7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96392-4F4E-4DC5-B4DA-6DF644E23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79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4355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8827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3006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7622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7415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2122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360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8108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5532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2073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711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9961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3580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6202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3827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6428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0036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3953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1826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3691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4181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6112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5100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37636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2109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79016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60829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32748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03802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82565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14738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57780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05802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8970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55531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03280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1042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52204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84662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92067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09346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2788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07401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07024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10405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19992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99137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66134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72562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2484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88429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03283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24537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78637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937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169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476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676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759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199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921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20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814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564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6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776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8D91E-FFF0-45B5-AFE0-22E101FDFDB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574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jp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jpeg"/><Relationship Id="rId4" Type="http://schemas.openxmlformats.org/officeDocument/2006/relationships/image" Target="../media/image1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jpeg"/><Relationship Id="rId5" Type="http://schemas.openxmlformats.org/officeDocument/2006/relationships/image" Target="../media/image15.png"/><Relationship Id="rId4" Type="http://schemas.openxmlformats.org/officeDocument/2006/relationships/image" Target="../media/image1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1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16.jpe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jpeg"/><Relationship Id="rId4" Type="http://schemas.openxmlformats.org/officeDocument/2006/relationships/image" Target="../media/image18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jpe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jpe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2.emf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emf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emf"/><Relationship Id="rId5" Type="http://schemas.openxmlformats.org/officeDocument/2006/relationships/image" Target="../media/image41.emf"/><Relationship Id="rId4" Type="http://schemas.openxmlformats.org/officeDocument/2006/relationships/image" Target="../media/image40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emf"/><Relationship Id="rId4" Type="http://schemas.openxmlformats.org/officeDocument/2006/relationships/image" Target="../media/image48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emf"/><Relationship Id="rId4" Type="http://schemas.openxmlformats.org/officeDocument/2006/relationships/image" Target="../media/image51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55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em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em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em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7.emf"/><Relationship Id="rId4" Type="http://schemas.openxmlformats.org/officeDocument/2006/relationships/image" Target="../media/image66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emf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emf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emf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emf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2.e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emf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4.e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emf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6.e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emf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emf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emf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emf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1.e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emf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0452A146-20B8-4FD8-A214-319B3897D56E}"/>
              </a:ext>
            </a:extLst>
          </p:cNvPr>
          <p:cNvSpPr txBox="1"/>
          <p:nvPr/>
        </p:nvSpPr>
        <p:spPr>
          <a:xfrm>
            <a:off x="375658" y="246221"/>
            <a:ext cx="83926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Scientific Machine Learning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82D0D78-D0B9-403E-B5AC-66E83F5AC8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6207" y="155558"/>
            <a:ext cx="973866" cy="70454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72604B1-DFD6-4A0E-BA4B-23A06DBE536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25" r="82409"/>
          <a:stretch/>
        </p:blipFill>
        <p:spPr>
          <a:xfrm>
            <a:off x="992586" y="37675"/>
            <a:ext cx="893400" cy="94031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B7CEB32-1021-4218-A4D5-F1083BF5322E}"/>
              </a:ext>
            </a:extLst>
          </p:cNvPr>
          <p:cNvSpPr txBox="1"/>
          <p:nvPr/>
        </p:nvSpPr>
        <p:spPr>
          <a:xfrm>
            <a:off x="629265" y="1784198"/>
            <a:ext cx="82394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10: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differential equations from data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56BF80A-5EF6-4539-ACB8-DA297CF81EAA}"/>
              </a:ext>
            </a:extLst>
          </p:cNvPr>
          <p:cNvSpPr txBox="1"/>
          <p:nvPr/>
        </p:nvSpPr>
        <p:spPr>
          <a:xfrm>
            <a:off x="629265" y="3137509"/>
            <a:ext cx="7885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孟旭辉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6126DFE-D15F-47B5-9240-27C4587C9024}"/>
              </a:ext>
            </a:extLst>
          </p:cNvPr>
          <p:cNvSpPr txBox="1"/>
          <p:nvPr/>
        </p:nvSpPr>
        <p:spPr>
          <a:xfrm>
            <a:off x="629265" y="3648390"/>
            <a:ext cx="7885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数学与统计学院数学与应用学科交叉创新研究院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B9D2569-83C5-47AE-B0C1-B755D485CBD5}"/>
              </a:ext>
            </a:extLst>
          </p:cNvPr>
          <p:cNvSpPr txBox="1"/>
          <p:nvPr/>
        </p:nvSpPr>
        <p:spPr>
          <a:xfrm>
            <a:off x="629265" y="4213821"/>
            <a:ext cx="78854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办公室：东</a:t>
            </a:r>
            <a:r>
              <a:rPr lang="en-US" altLang="zh-CN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32</a:t>
            </a:r>
            <a:r>
              <a:rPr lang="zh-CN" altLang="en-US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楼</a:t>
            </a:r>
            <a:r>
              <a:rPr lang="en-US" altLang="zh-CN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111</a:t>
            </a:r>
            <a:r>
              <a:rPr lang="zh-CN" altLang="en-US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室</a:t>
            </a:r>
            <a:endParaRPr lang="en-US" altLang="zh-CN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/>
            <a:endParaRPr lang="en-US" altLang="zh-CN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/>
            <a:r>
              <a:rPr lang="en-US" altLang="zh-CN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Email</a:t>
            </a:r>
            <a:r>
              <a:rPr lang="zh-CN" altLang="en-US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r>
              <a:rPr lang="en-US" altLang="zh-CN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xuhui_meng@hust.edu.cn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1361427-37D8-46C8-9C84-F47E163DF02A}"/>
              </a:ext>
            </a:extLst>
          </p:cNvPr>
          <p:cNvSpPr/>
          <p:nvPr/>
        </p:nvSpPr>
        <p:spPr>
          <a:xfrm>
            <a:off x="2497488" y="5505133"/>
            <a:ext cx="41490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https://github.com/XuhuiM/SciML-Course</a:t>
            </a:r>
          </a:p>
        </p:txBody>
      </p:sp>
    </p:spTree>
    <p:extLst>
      <p:ext uri="{BB962C8B-B14F-4D97-AF65-F5344CB8AC3E}">
        <p14:creationId xmlns:p14="http://schemas.microsoft.com/office/powerpoint/2010/main" val="605082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6C4B3CC-4919-4B0C-BEDA-5A309DD3CCAF}"/>
              </a:ext>
            </a:extLst>
          </p:cNvPr>
          <p:cNvSpPr txBox="1"/>
          <p:nvPr/>
        </p:nvSpPr>
        <p:spPr>
          <a:xfrm>
            <a:off x="494686" y="1333902"/>
            <a:ext cx="8524567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Sparse identification of non-linear dynamics (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SINDy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PDE-Net</a:t>
            </a: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Residual network for learning equations from data</a:t>
            </a: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930185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94"/>
    </mc:Choice>
    <mc:Fallback xmlns="">
      <p:transition spd="slow" advTm="4594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6C4B3CC-4919-4B0C-BEDA-5A309DD3CCAF}"/>
              </a:ext>
            </a:extLst>
          </p:cNvPr>
          <p:cNvSpPr txBox="1"/>
          <p:nvPr/>
        </p:nvSpPr>
        <p:spPr>
          <a:xfrm>
            <a:off x="494686" y="1333902"/>
            <a:ext cx="852456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Sparse identification of non-linear dynamics (</a:t>
            </a:r>
            <a:r>
              <a:rPr lang="en-US" altLang="zh-CN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SINDy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PDE-Net</a:t>
            </a: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Residual network for learning equations from data</a:t>
            </a: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03496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94"/>
    </mc:Choice>
    <mc:Fallback xmlns="">
      <p:transition spd="slow" advTm="4594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Machine learning for discovering equations from data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D235958-7F4F-4DFA-A445-C53FCEC8A9A4}"/>
              </a:ext>
            </a:extLst>
          </p:cNvPr>
          <p:cNvSpPr txBox="1"/>
          <p:nvPr/>
        </p:nvSpPr>
        <p:spPr>
          <a:xfrm>
            <a:off x="7177548" y="6581001"/>
            <a:ext cx="2546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Brunton et al. Sci. Adv. 2017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A0E9789-4CC9-42F1-8EFB-4E027F33A2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0639" y="899441"/>
            <a:ext cx="3082722" cy="65154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ECF7723-C67A-4734-8C15-D63FB3128D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621" y="1550983"/>
            <a:ext cx="6930758" cy="4549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81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Machine learning for discovering equations from data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D235958-7F4F-4DFA-A445-C53FCEC8A9A4}"/>
              </a:ext>
            </a:extLst>
          </p:cNvPr>
          <p:cNvSpPr txBox="1"/>
          <p:nvPr/>
        </p:nvSpPr>
        <p:spPr>
          <a:xfrm>
            <a:off x="7177548" y="6581001"/>
            <a:ext cx="2546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Brunton et al. Sci. Adv. 2017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4E87C9C-D22B-4484-9D79-7546A87D9A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37887"/>
            <a:ext cx="9144000" cy="460142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DB0ADED-1505-424A-BD13-62BB3FEA2A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0639" y="899441"/>
            <a:ext cx="3082722" cy="651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977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Machine learning for discovering equations from data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D235958-7F4F-4DFA-A445-C53FCEC8A9A4}"/>
              </a:ext>
            </a:extLst>
          </p:cNvPr>
          <p:cNvSpPr txBox="1"/>
          <p:nvPr/>
        </p:nvSpPr>
        <p:spPr>
          <a:xfrm>
            <a:off x="7177548" y="6581001"/>
            <a:ext cx="2546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Brunton et al. Sci. Adv. 2017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A0E9789-4CC9-42F1-8EFB-4E027F33A2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0639" y="899441"/>
            <a:ext cx="3082722" cy="65154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E53DB3B-C23F-4EFA-97F2-1A06402A69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29" y="1550983"/>
            <a:ext cx="8150942" cy="4786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69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0452A146-20B8-4FD8-A214-319B3897D56E}"/>
              </a:ext>
            </a:extLst>
          </p:cNvPr>
          <p:cNvSpPr txBox="1"/>
          <p:nvPr/>
        </p:nvSpPr>
        <p:spPr>
          <a:xfrm>
            <a:off x="0" y="2119282"/>
            <a:ext cx="9144000" cy="1309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Correcting model misspecification in physics-informed neural networks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5ABF62-DCF1-D770-A938-AD974B9836CE}"/>
              </a:ext>
            </a:extLst>
          </p:cNvPr>
          <p:cNvSpPr txBox="1"/>
          <p:nvPr/>
        </p:nvSpPr>
        <p:spPr>
          <a:xfrm>
            <a:off x="6796223" y="3756521"/>
            <a:ext cx="296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Zou, et al., JCP, 2024</a:t>
            </a:r>
          </a:p>
        </p:txBody>
      </p:sp>
    </p:spTree>
    <p:extLst>
      <p:ext uri="{BB962C8B-B14F-4D97-AF65-F5344CB8AC3E}">
        <p14:creationId xmlns:p14="http://schemas.microsoft.com/office/powerpoint/2010/main" val="1887087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662"/>
    </mc:Choice>
    <mc:Fallback xmlns="">
      <p:transition spd="slow" advTm="17662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PINN for inverse problems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43762" y="4901210"/>
            <a:ext cx="80564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function: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2130541" y="5515363"/>
                <a:ext cx="5534143" cy="4905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lim>
                          </m:limLow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⁡(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+|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𝑏𝑐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𝑏𝑐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0541" y="5515363"/>
                <a:ext cx="5534143" cy="4905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矩形 17"/>
          <p:cNvSpPr/>
          <p:nvPr/>
        </p:nvSpPr>
        <p:spPr>
          <a:xfrm>
            <a:off x="7664684" y="6504490"/>
            <a:ext cx="147931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Zou, et al, JCP, 2024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587133A6-0C60-4758-ABE7-0F7E5CAAA4C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762" y="1254746"/>
            <a:ext cx="8056476" cy="3433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938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PINNs with </a:t>
            </a:r>
            <a:r>
              <a:rPr lang="en-US" altLang="zh-CN" sz="2400" b="1" dirty="0" err="1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misspecified</a:t>
            </a:r>
            <a:r>
              <a:rPr lang="en-US" altLang="zh-CN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 model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4204FDA-974A-4033-865A-8C81729213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800" y="831061"/>
            <a:ext cx="6556399" cy="2389913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1AA47455-F598-4F6B-802B-BCF5BEFB11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49" y="3268452"/>
            <a:ext cx="4245306" cy="3182766"/>
          </a:xfrm>
          <a:prstGeom prst="rect">
            <a:avLst/>
          </a:prstGeom>
        </p:spPr>
      </p:pic>
      <p:pic>
        <p:nvPicPr>
          <p:cNvPr id="54" name="图片 53">
            <a:extLst>
              <a:ext uri="{FF2B5EF4-FFF2-40B4-BE49-F238E27FC236}">
                <a16:creationId xmlns:a16="http://schemas.microsoft.com/office/drawing/2014/main" id="{EA776AC3-9BC4-41E2-B038-0F11ABFBCC2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2"/>
          <a:stretch/>
        </p:blipFill>
        <p:spPr>
          <a:xfrm>
            <a:off x="4032538" y="3143965"/>
            <a:ext cx="5022513" cy="3538432"/>
          </a:xfrm>
          <a:prstGeom prst="rect">
            <a:avLst/>
          </a:prstGeom>
        </p:spPr>
      </p:pic>
      <p:sp>
        <p:nvSpPr>
          <p:cNvPr id="61" name="TextBox 1">
            <a:extLst>
              <a:ext uri="{FF2B5EF4-FFF2-40B4-BE49-F238E27FC236}">
                <a16:creationId xmlns:a16="http://schemas.microsoft.com/office/drawing/2014/main" id="{4410F5BF-D9C5-41A5-9FC5-73F2871A643B}"/>
              </a:ext>
            </a:extLst>
          </p:cNvPr>
          <p:cNvSpPr txBox="1"/>
          <p:nvPr/>
        </p:nvSpPr>
        <p:spPr>
          <a:xfrm>
            <a:off x="6806383" y="6581001"/>
            <a:ext cx="296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Zou, et al., JCP, 2024</a:t>
            </a:r>
          </a:p>
        </p:txBody>
      </p:sp>
    </p:spTree>
    <p:extLst>
      <p:ext uri="{BB962C8B-B14F-4D97-AF65-F5344CB8AC3E}">
        <p14:creationId xmlns:p14="http://schemas.microsoft.com/office/powerpoint/2010/main" val="4065681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Correcting model misspecification in PINNs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2E87E90-31D5-4E28-9FC3-B0FC600FE2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091" y="798113"/>
            <a:ext cx="6100058" cy="2223569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8E2D5346-655A-47E1-A2AB-DE398DB07711}"/>
              </a:ext>
            </a:extLst>
          </p:cNvPr>
          <p:cNvGrpSpPr/>
          <p:nvPr/>
        </p:nvGrpSpPr>
        <p:grpSpPr>
          <a:xfrm>
            <a:off x="373626" y="3063657"/>
            <a:ext cx="8665406" cy="3778564"/>
            <a:chOff x="373626" y="3063657"/>
            <a:chExt cx="8665406" cy="3778564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E50DF9D5-B0D3-4E8F-86D1-829B36AC42E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3626" y="3063657"/>
              <a:ext cx="8396748" cy="3778564"/>
            </a:xfrm>
            <a:prstGeom prst="rect">
              <a:avLst/>
            </a:prstGeom>
          </p:spPr>
        </p:pic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A3B5CCB7-931C-4140-9FB6-2414B66F333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14656" y="3757543"/>
              <a:ext cx="3324376" cy="2653089"/>
            </a:xfrm>
            <a:prstGeom prst="rect">
              <a:avLst/>
            </a:prstGeom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B1F28F6D-0469-4B2A-8CDD-EE6732BB24FE}"/>
                </a:ext>
              </a:extLst>
            </p:cNvPr>
            <p:cNvSpPr/>
            <p:nvPr/>
          </p:nvSpPr>
          <p:spPr>
            <a:xfrm>
              <a:off x="3429345" y="4159045"/>
              <a:ext cx="1408126" cy="3539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TextBox 1">
            <a:extLst>
              <a:ext uri="{FF2B5EF4-FFF2-40B4-BE49-F238E27FC236}">
                <a16:creationId xmlns:a16="http://schemas.microsoft.com/office/drawing/2014/main" id="{B4098477-20A1-4C76-9ED9-D47AF0C6F24A}"/>
              </a:ext>
            </a:extLst>
          </p:cNvPr>
          <p:cNvSpPr txBox="1"/>
          <p:nvPr/>
        </p:nvSpPr>
        <p:spPr>
          <a:xfrm>
            <a:off x="6806383" y="6581001"/>
            <a:ext cx="296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Zou, et al., JCP, 2024</a:t>
            </a:r>
          </a:p>
        </p:txBody>
      </p:sp>
    </p:spTree>
    <p:extLst>
      <p:ext uri="{BB962C8B-B14F-4D97-AF65-F5344CB8AC3E}">
        <p14:creationId xmlns:p14="http://schemas.microsoft.com/office/powerpoint/2010/main" val="2974165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0" y="1108175"/>
            <a:ext cx="9311148" cy="4665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misspecification in PINNs</a:t>
            </a:r>
          </a:p>
          <a:p>
            <a:pPr>
              <a:lnSpc>
                <a:spcPct val="125000"/>
              </a:lnSpc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Correcting model misspecification in PINNs</a:t>
            </a:r>
          </a:p>
          <a:p>
            <a:pPr>
              <a:lnSpc>
                <a:spcPct val="125000"/>
              </a:lnSpc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Ø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Numerical examples</a:t>
            </a:r>
          </a:p>
          <a:p>
            <a:pPr>
              <a:lnSpc>
                <a:spcPct val="125000"/>
              </a:lnSpc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17600B9-8112-4CB0-8EB8-9B2C83ACC3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2064" y="6125914"/>
            <a:ext cx="1011936" cy="732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158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067"/>
    </mc:Choice>
    <mc:Fallback xmlns="">
      <p:transition spd="slow" advTm="65067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Example I: ODE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C8A157D-2FC4-4EA3-996B-EA9382037DCC}"/>
                  </a:ext>
                </a:extLst>
              </p:cNvPr>
              <p:cNvSpPr txBox="1"/>
              <p:nvPr/>
            </p:nvSpPr>
            <p:spPr>
              <a:xfrm>
                <a:off x="1686230" y="1842116"/>
                <a:ext cx="57715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b="0" dirty="0"/>
                  <a:t> </a:t>
                </a:r>
                <a:r>
                  <a:rPr lang="en-US" altLang="zh-CN" sz="24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Case A:</a:t>
                </a:r>
                <a:r>
                  <a:rPr lang="en-US" altLang="zh-CN" sz="2400" b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(1−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C8A157D-2FC4-4EA3-996B-EA9382037D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6230" y="1842116"/>
                <a:ext cx="5771536" cy="461665"/>
              </a:xfrm>
              <a:prstGeom prst="rect">
                <a:avLst/>
              </a:prstGeom>
              <a:blipFill>
                <a:blip r:embed="rId3"/>
                <a:stretch>
                  <a:fillRect t="-11842" b="-27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49F22B7-6DF2-4BB1-A69E-B376C61CC636}"/>
                  </a:ext>
                </a:extLst>
              </p:cNvPr>
              <p:cNvSpPr txBox="1"/>
              <p:nvPr/>
            </p:nvSpPr>
            <p:spPr>
              <a:xfrm>
                <a:off x="1686231" y="765614"/>
                <a:ext cx="5771535" cy="9844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US" altLang="zh-CN" sz="20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49F22B7-6DF2-4BB1-A69E-B376C61CC6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6231" y="765614"/>
                <a:ext cx="5771535" cy="9844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图片 13">
            <a:extLst>
              <a:ext uri="{FF2B5EF4-FFF2-40B4-BE49-F238E27FC236}">
                <a16:creationId xmlns:a16="http://schemas.microsoft.com/office/drawing/2014/main" id="{08E83643-D755-40E5-9D8D-671E4975E25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095"/>
          <a:stretch/>
        </p:blipFill>
        <p:spPr>
          <a:xfrm>
            <a:off x="501623" y="2303781"/>
            <a:ext cx="8140749" cy="2080256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43471153-FA8B-4DB4-A465-F20CA1625B4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056" b="53959"/>
          <a:stretch/>
        </p:blipFill>
        <p:spPr>
          <a:xfrm>
            <a:off x="577365" y="4581744"/>
            <a:ext cx="8065007" cy="22762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888154C5-77DA-43D5-A34D-C542C8AFB803}"/>
                  </a:ext>
                </a:extLst>
              </p:cNvPr>
              <p:cNvSpPr txBox="1"/>
              <p:nvPr/>
            </p:nvSpPr>
            <p:spPr>
              <a:xfrm>
                <a:off x="1686230" y="4263818"/>
                <a:ext cx="57715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b="0" dirty="0"/>
                  <a:t> </a:t>
                </a:r>
                <a:r>
                  <a:rPr lang="en-US" altLang="zh-CN" sz="24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Case B:</a:t>
                </a:r>
                <a:r>
                  <a:rPr lang="en-US" altLang="zh-CN" sz="2400" b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888154C5-77DA-43D5-A34D-C542C8AFB8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6230" y="4263818"/>
                <a:ext cx="5771536" cy="461665"/>
              </a:xfrm>
              <a:prstGeom prst="rect">
                <a:avLst/>
              </a:prstGeom>
              <a:blipFill>
                <a:blip r:embed="rId6"/>
                <a:stretch>
                  <a:fillRect t="-11842" b="-27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89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A5060F74-23E6-4226-B877-C892BEE56A4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560" b="2763"/>
          <a:stretch/>
        </p:blipFill>
        <p:spPr>
          <a:xfrm>
            <a:off x="298247" y="4171461"/>
            <a:ext cx="8390184" cy="233491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8CD9E3D-C2A6-4424-A01B-64EC9B748F9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204" b="28272"/>
          <a:stretch/>
        </p:blipFill>
        <p:spPr>
          <a:xfrm>
            <a:off x="298247" y="1519083"/>
            <a:ext cx="8390184" cy="2318354"/>
          </a:xfrm>
          <a:prstGeom prst="rect">
            <a:avLst/>
          </a:prstGeom>
        </p:spPr>
      </p:pic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Correcting model misspecification in PINNs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C8A157D-2FC4-4EA3-996B-EA9382037DCC}"/>
                  </a:ext>
                </a:extLst>
              </p:cNvPr>
              <p:cNvSpPr txBox="1"/>
              <p:nvPr/>
            </p:nvSpPr>
            <p:spPr>
              <a:xfrm>
                <a:off x="1686229" y="952511"/>
                <a:ext cx="5771536" cy="4948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b="0" dirty="0"/>
                  <a:t> </a:t>
                </a:r>
                <a:r>
                  <a:rPr lang="en-US" altLang="zh-CN" sz="24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Case C:</a:t>
                </a:r>
                <a:r>
                  <a:rPr lang="en-US" altLang="zh-CN" sz="2400" b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0.2</m:t>
                    </m:r>
                    <m:func>
                      <m:funcPr>
                        <m:ctrlP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e>
                    </m:func>
                    <m:r>
                      <a:rPr lang="en-US" altLang="zh-CN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C8A157D-2FC4-4EA3-996B-EA9382037D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6229" y="952511"/>
                <a:ext cx="5771536" cy="494815"/>
              </a:xfrm>
              <a:prstGeom prst="rect">
                <a:avLst/>
              </a:prstGeom>
              <a:blipFill>
                <a:blip r:embed="rId4"/>
                <a:stretch>
                  <a:fillRect t="-9877" b="-209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8701B36-FBBB-413B-AE26-A676FB5C9B36}"/>
                  </a:ext>
                </a:extLst>
              </p:cNvPr>
              <p:cNvSpPr txBox="1"/>
              <p:nvPr/>
            </p:nvSpPr>
            <p:spPr>
              <a:xfrm>
                <a:off x="1607571" y="3757042"/>
                <a:ext cx="5771536" cy="4948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b="0" dirty="0"/>
                  <a:t> </a:t>
                </a:r>
                <a:r>
                  <a:rPr lang="en-US" altLang="zh-CN" sz="24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Case D:</a:t>
                </a:r>
                <a:r>
                  <a:rPr lang="en-US" altLang="zh-CN" sz="2400" b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0.</m:t>
                    </m:r>
                    <m:r>
                      <a:rPr lang="en-US" altLang="zh-CN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1</m:t>
                    </m:r>
                    <m:func>
                      <m:funcPr>
                        <m:ctrlP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e>
                    </m:func>
                    <m:r>
                      <a:rPr lang="en-US" altLang="zh-CN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8701B36-FBBB-413B-AE26-A676FB5C9B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7571" y="3757042"/>
                <a:ext cx="5771536" cy="494815"/>
              </a:xfrm>
              <a:prstGeom prst="rect">
                <a:avLst/>
              </a:prstGeom>
              <a:blipFill>
                <a:blip r:embed="rId5"/>
                <a:stretch>
                  <a:fillRect t="-9877" b="-209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16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Bayesian PINNs for uncertainty quantification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C8A157D-2FC4-4EA3-996B-EA9382037DCC}"/>
                  </a:ext>
                </a:extLst>
              </p:cNvPr>
              <p:cNvSpPr txBox="1"/>
              <p:nvPr/>
            </p:nvSpPr>
            <p:spPr>
              <a:xfrm>
                <a:off x="1686230" y="1769690"/>
                <a:ext cx="57715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b="0" dirty="0"/>
                  <a:t> </a:t>
                </a:r>
                <a:r>
                  <a:rPr lang="en-US" altLang="zh-CN" sz="24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Case A:</a:t>
                </a:r>
                <a:r>
                  <a:rPr lang="en-US" altLang="zh-CN" sz="2400" b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(1−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C8A157D-2FC4-4EA3-996B-EA9382037D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6230" y="1769690"/>
                <a:ext cx="5771536" cy="461665"/>
              </a:xfrm>
              <a:prstGeom prst="rect">
                <a:avLst/>
              </a:prstGeom>
              <a:blipFill>
                <a:blip r:embed="rId3"/>
                <a:stretch>
                  <a:fillRect t="-11842" b="-27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49F22B7-6DF2-4BB1-A69E-B376C61CC636}"/>
                  </a:ext>
                </a:extLst>
              </p:cNvPr>
              <p:cNvSpPr txBox="1"/>
              <p:nvPr/>
            </p:nvSpPr>
            <p:spPr>
              <a:xfrm>
                <a:off x="1686231" y="765614"/>
                <a:ext cx="5771535" cy="9844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US" altLang="zh-CN" sz="20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49F22B7-6DF2-4BB1-A69E-B376C61CC6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6231" y="765614"/>
                <a:ext cx="5771535" cy="9844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888154C5-77DA-43D5-A34D-C542C8AFB803}"/>
                  </a:ext>
                </a:extLst>
              </p:cNvPr>
              <p:cNvSpPr txBox="1"/>
              <p:nvPr/>
            </p:nvSpPr>
            <p:spPr>
              <a:xfrm>
                <a:off x="1686230" y="4263818"/>
                <a:ext cx="57715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b="0" dirty="0"/>
                  <a:t> </a:t>
                </a:r>
                <a:r>
                  <a:rPr lang="en-US" altLang="zh-CN" sz="24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Case B:</a:t>
                </a:r>
                <a:r>
                  <a:rPr lang="en-US" altLang="zh-CN" sz="2400" b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888154C5-77DA-43D5-A34D-C542C8AFB8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6230" y="4263818"/>
                <a:ext cx="5771536" cy="461665"/>
              </a:xfrm>
              <a:prstGeom prst="rect">
                <a:avLst/>
              </a:prstGeom>
              <a:blipFill>
                <a:blip r:embed="rId5"/>
                <a:stretch>
                  <a:fillRect t="-11842" b="-27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>
            <a:extLst>
              <a:ext uri="{FF2B5EF4-FFF2-40B4-BE49-F238E27FC236}">
                <a16:creationId xmlns:a16="http://schemas.microsoft.com/office/drawing/2014/main" id="{CD100173-633D-4A62-B515-E28AC5D321C5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303"/>
          <a:stretch/>
        </p:blipFill>
        <p:spPr>
          <a:xfrm>
            <a:off x="254023" y="2196400"/>
            <a:ext cx="8314410" cy="210237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D912B00-BA90-4160-9A74-2025186707C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61" b="54321"/>
          <a:stretch/>
        </p:blipFill>
        <p:spPr>
          <a:xfrm>
            <a:off x="440837" y="4601406"/>
            <a:ext cx="8127596" cy="22138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306EDBA7-0C48-415F-A160-B04B7329B338}"/>
                  </a:ext>
                </a:extLst>
              </p:cNvPr>
              <p:cNvSpPr txBox="1"/>
              <p:nvPr/>
            </p:nvSpPr>
            <p:spPr>
              <a:xfrm>
                <a:off x="5206179" y="1802318"/>
                <a:ext cx="4503174" cy="3940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𝐵𝑁𝑁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306EDBA7-0C48-415F-A160-B04B7329B3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6179" y="1802318"/>
                <a:ext cx="4503174" cy="394082"/>
              </a:xfrm>
              <a:prstGeom prst="rect">
                <a:avLst/>
              </a:prstGeom>
              <a:blipFill>
                <a:blip r:embed="rId7"/>
                <a:stretch>
                  <a:fillRect b="-109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8816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Bayesian PINNs for uncertainty quantification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DA3CECB4-FD08-431F-AB03-05529B87FAF5}"/>
              </a:ext>
            </a:extLst>
          </p:cNvPr>
          <p:cNvSpPr txBox="1"/>
          <p:nvPr/>
        </p:nvSpPr>
        <p:spPr>
          <a:xfrm>
            <a:off x="6806383" y="6581001"/>
            <a:ext cx="296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Zou, et al., JCP, 2024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52B308F7-1D31-4BA2-8C0A-99579CE44CD0}"/>
                  </a:ext>
                </a:extLst>
              </p:cNvPr>
              <p:cNvSpPr txBox="1"/>
              <p:nvPr/>
            </p:nvSpPr>
            <p:spPr>
              <a:xfrm>
                <a:off x="1253610" y="971857"/>
                <a:ext cx="5771536" cy="4948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b="0" dirty="0"/>
                  <a:t> </a:t>
                </a:r>
                <a:r>
                  <a:rPr lang="en-US" altLang="zh-CN" sz="24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Case C:</a:t>
                </a:r>
                <a:r>
                  <a:rPr lang="en-US" altLang="zh-CN" sz="2400" b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0.2</m:t>
                    </m:r>
                    <m:func>
                      <m:funcPr>
                        <m:ctrlP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e>
                    </m:func>
                    <m:r>
                      <a:rPr lang="en-US" altLang="zh-CN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52B308F7-1D31-4BA2-8C0A-99579CE44C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3610" y="971857"/>
                <a:ext cx="5771536" cy="494815"/>
              </a:xfrm>
              <a:prstGeom prst="rect">
                <a:avLst/>
              </a:prstGeom>
              <a:blipFill>
                <a:blip r:embed="rId3"/>
                <a:stretch>
                  <a:fillRect t="-9756" b="-195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4E71531C-5B91-4B70-BA5A-828FF01B3750}"/>
                  </a:ext>
                </a:extLst>
              </p:cNvPr>
              <p:cNvSpPr txBox="1"/>
              <p:nvPr/>
            </p:nvSpPr>
            <p:spPr>
              <a:xfrm>
                <a:off x="5152102" y="1022223"/>
                <a:ext cx="4503174" cy="3940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𝐵𝑁𝑁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4E71531C-5B91-4B70-BA5A-828FF01B37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2102" y="1022223"/>
                <a:ext cx="4503174" cy="394082"/>
              </a:xfrm>
              <a:prstGeom prst="rect">
                <a:avLst/>
              </a:prstGeom>
              <a:blipFill>
                <a:blip r:embed="rId4"/>
                <a:stretch>
                  <a:fillRect b="-109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>
            <a:extLst>
              <a:ext uri="{FF2B5EF4-FFF2-40B4-BE49-F238E27FC236}">
                <a16:creationId xmlns:a16="http://schemas.microsoft.com/office/drawing/2014/main" id="{EC6FD616-553B-414A-8A47-743B8529B32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714" b="28492"/>
          <a:stretch/>
        </p:blipFill>
        <p:spPr>
          <a:xfrm>
            <a:off x="559631" y="1517038"/>
            <a:ext cx="8024737" cy="21421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D9D42BA4-774F-4C7F-A0FE-828EFD06794D}"/>
                  </a:ext>
                </a:extLst>
              </p:cNvPr>
              <p:cNvSpPr txBox="1"/>
              <p:nvPr/>
            </p:nvSpPr>
            <p:spPr>
              <a:xfrm>
                <a:off x="1632153" y="3759914"/>
                <a:ext cx="5771536" cy="4948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b="0" dirty="0"/>
                  <a:t> </a:t>
                </a:r>
                <a:r>
                  <a:rPr lang="en-US" altLang="zh-CN" sz="24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Case D:</a:t>
                </a:r>
                <a:r>
                  <a:rPr lang="en-US" altLang="zh-CN" sz="2400" b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0.</m:t>
                    </m:r>
                    <m:r>
                      <a:rPr lang="en-US" altLang="zh-CN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1</m:t>
                    </m:r>
                    <m:func>
                      <m:funcPr>
                        <m:ctrlP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e>
                    </m:func>
                    <m:r>
                      <a:rPr lang="en-US" altLang="zh-CN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D9D42BA4-774F-4C7F-A0FE-828EFD067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2153" y="3759914"/>
                <a:ext cx="5771536" cy="494815"/>
              </a:xfrm>
              <a:prstGeom prst="rect">
                <a:avLst/>
              </a:prstGeom>
              <a:blipFill>
                <a:blip r:embed="rId6"/>
                <a:stretch>
                  <a:fillRect t="-9877" b="-209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图片 17">
            <a:extLst>
              <a:ext uri="{FF2B5EF4-FFF2-40B4-BE49-F238E27FC236}">
                <a16:creationId xmlns:a16="http://schemas.microsoft.com/office/drawing/2014/main" id="{F3ACC4A3-EF45-4406-801D-38530761CD65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735" b="2049"/>
          <a:stretch/>
        </p:blipFill>
        <p:spPr>
          <a:xfrm>
            <a:off x="639587" y="4251856"/>
            <a:ext cx="7944781" cy="216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780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Symbolic regression for discovering equation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DA3CECB4-FD08-431F-AB03-05529B87FAF5}"/>
              </a:ext>
            </a:extLst>
          </p:cNvPr>
          <p:cNvSpPr txBox="1"/>
          <p:nvPr/>
        </p:nvSpPr>
        <p:spPr>
          <a:xfrm>
            <a:off x="6806383" y="6581001"/>
            <a:ext cx="296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Zou, et al., JCP, 2024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D9D42BA4-774F-4C7F-A0FE-828EFD06794D}"/>
                  </a:ext>
                </a:extLst>
              </p:cNvPr>
              <p:cNvSpPr txBox="1"/>
              <p:nvPr/>
            </p:nvSpPr>
            <p:spPr>
              <a:xfrm>
                <a:off x="1686232" y="950141"/>
                <a:ext cx="5771536" cy="4948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altLang="zh-CN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func>
                        <m:funcPr>
                          <m:ctrlPr>
                            <a:rPr lang="en-US" altLang="zh-CN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</m:e>
                      </m:func>
                      <m:r>
                        <a:rPr lang="en-US" altLang="zh-CN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D9D42BA4-774F-4C7F-A0FE-828EFD067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6232" y="950141"/>
                <a:ext cx="5771536" cy="494815"/>
              </a:xfrm>
              <a:prstGeom prst="rect">
                <a:avLst/>
              </a:prstGeom>
              <a:blipFill>
                <a:blip r:embed="rId3"/>
                <a:stretch>
                  <a:fillRect b="-123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09657232-857D-41C0-9E0C-CF8AE27926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697" y="4474053"/>
            <a:ext cx="8483528" cy="182201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5646619-8AA6-400E-AF1E-B8B8C6AC85F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38959"/>
            <a:ext cx="8834922" cy="2550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080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Example II: reaction-diffusion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49F22B7-6DF2-4BB1-A69E-B376C61CC636}"/>
                  </a:ext>
                </a:extLst>
              </p:cNvPr>
              <p:cNvSpPr txBox="1"/>
              <p:nvPr/>
            </p:nvSpPr>
            <p:spPr>
              <a:xfrm>
                <a:off x="-184356" y="1097169"/>
                <a:ext cx="6563034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  <m:sSubSup>
                        <m:sSub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sz="2000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=0, 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US" altLang="zh-CN" sz="2000" b="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,0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=0.5</m:t>
                      </m:r>
                      <m:func>
                        <m:func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∈[0,1]</m:t>
                          </m:r>
                        </m:e>
                      </m:func>
                    </m:oMath>
                  </m:oMathPara>
                </a14:m>
                <a:endParaRPr lang="en-US" altLang="zh-CN" sz="2000" b="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49F22B7-6DF2-4BB1-A69E-B376C61CC6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4356" y="1097169"/>
                <a:ext cx="6563034" cy="14773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4225B79-33A6-48B9-BE58-762108E020DE}"/>
                  </a:ext>
                </a:extLst>
              </p:cNvPr>
              <p:cNvSpPr txBox="1"/>
              <p:nvPr/>
            </p:nvSpPr>
            <p:spPr>
              <a:xfrm>
                <a:off x="6172201" y="846171"/>
                <a:ext cx="2893141" cy="1979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Case A: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endParaRPr lang="en-US" altLang="zh-CN" sz="2400" b="0" dirty="0">
                  <a:latin typeface="Times New Roman" panose="020206030504050203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Case B: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sSup>
                      <m:sSupPr>
                        <m:ctrlP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Case C: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sub>
                    </m:sSub>
                  </m:oMath>
                </a14:m>
                <a:endPara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4225B79-33A6-48B9-BE58-762108E020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1" y="846171"/>
                <a:ext cx="2893141" cy="1979324"/>
              </a:xfrm>
              <a:prstGeom prst="rect">
                <a:avLst/>
              </a:prstGeom>
              <a:blipFill>
                <a:blip r:embed="rId4"/>
                <a:stretch>
                  <a:fillRect l="-2954" t="-2469" b="-46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16A6344B-9464-4825-9923-F0758A138CC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443" y="2915528"/>
            <a:ext cx="7303500" cy="3642649"/>
          </a:xfrm>
          <a:prstGeom prst="rect">
            <a:avLst/>
          </a:prstGeom>
        </p:spPr>
      </p:pic>
      <p:sp>
        <p:nvSpPr>
          <p:cNvPr id="12" name="TextBox 1">
            <a:extLst>
              <a:ext uri="{FF2B5EF4-FFF2-40B4-BE49-F238E27FC236}">
                <a16:creationId xmlns:a16="http://schemas.microsoft.com/office/drawing/2014/main" id="{3A12B824-1ABF-46CF-938E-B8D48DCD8EC6}"/>
              </a:ext>
            </a:extLst>
          </p:cNvPr>
          <p:cNvSpPr txBox="1"/>
          <p:nvPr/>
        </p:nvSpPr>
        <p:spPr>
          <a:xfrm>
            <a:off x="6806383" y="6581001"/>
            <a:ext cx="296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Zou, et al., JCP, 2024</a:t>
            </a:r>
          </a:p>
        </p:txBody>
      </p:sp>
    </p:spTree>
    <p:extLst>
      <p:ext uri="{BB962C8B-B14F-4D97-AF65-F5344CB8AC3E}">
        <p14:creationId xmlns:p14="http://schemas.microsoft.com/office/powerpoint/2010/main" val="3945933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Example II: reaction-diffusion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49F22B7-6DF2-4BB1-A69E-B376C61CC636}"/>
                  </a:ext>
                </a:extLst>
              </p:cNvPr>
              <p:cNvSpPr txBox="1"/>
              <p:nvPr/>
            </p:nvSpPr>
            <p:spPr>
              <a:xfrm>
                <a:off x="-184356" y="1097169"/>
                <a:ext cx="6563034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  <m:sSubSup>
                        <m:sSub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sz="2000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=0, 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US" altLang="zh-CN" sz="2000" b="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,0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=0.5</m:t>
                      </m:r>
                      <m:func>
                        <m:func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∈[0,1]</m:t>
                          </m:r>
                        </m:e>
                      </m:func>
                    </m:oMath>
                  </m:oMathPara>
                </a14:m>
                <a:endParaRPr lang="en-US" altLang="zh-CN" sz="2000" b="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49F22B7-6DF2-4BB1-A69E-B376C61CC6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4356" y="1097169"/>
                <a:ext cx="6563034" cy="14773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4225B79-33A6-48B9-BE58-762108E020DE}"/>
                  </a:ext>
                </a:extLst>
              </p:cNvPr>
              <p:cNvSpPr txBox="1"/>
              <p:nvPr/>
            </p:nvSpPr>
            <p:spPr>
              <a:xfrm>
                <a:off x="6172201" y="846171"/>
                <a:ext cx="2893141" cy="1979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Case A: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endParaRPr lang="en-US" altLang="zh-CN" sz="2400" b="0" dirty="0">
                  <a:latin typeface="Times New Roman" panose="020206030504050203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Case B: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sSup>
                      <m:sSupPr>
                        <m:ctrlP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Case C: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sub>
                    </m:sSub>
                  </m:oMath>
                </a14:m>
                <a:endPara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4225B79-33A6-48B9-BE58-762108E020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1" y="846171"/>
                <a:ext cx="2893141" cy="1979324"/>
              </a:xfrm>
              <a:prstGeom prst="rect">
                <a:avLst/>
              </a:prstGeom>
              <a:blipFill>
                <a:blip r:embed="rId4"/>
                <a:stretch>
                  <a:fillRect l="-2954" t="-2469" b="-46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5C8AB4C3-BBB9-49BD-B8DA-EE36F18AA20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776" y="2825495"/>
            <a:ext cx="6332447" cy="392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136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Example III: Non-Newtonian flow-Channel flow 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DA3CECB4-FD08-431F-AB03-05529B87FAF5}"/>
              </a:ext>
            </a:extLst>
          </p:cNvPr>
          <p:cNvSpPr txBox="1"/>
          <p:nvPr/>
        </p:nvSpPr>
        <p:spPr>
          <a:xfrm>
            <a:off x="6806383" y="6581001"/>
            <a:ext cx="296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Zou, et al., JCP, 2024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156FB269-0216-4295-9BE9-C1DA302A3387}"/>
              </a:ext>
            </a:extLst>
          </p:cNvPr>
          <p:cNvGrpSpPr/>
          <p:nvPr/>
        </p:nvGrpSpPr>
        <p:grpSpPr>
          <a:xfrm>
            <a:off x="521110" y="999173"/>
            <a:ext cx="8023122" cy="1919640"/>
            <a:chOff x="521110" y="999173"/>
            <a:chExt cx="8023122" cy="1919640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7AE6525F-BE3E-4D4D-A4DB-BD33AA07AD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1110" y="999173"/>
              <a:ext cx="6558116" cy="191964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22D275C9-50FE-4CBA-B924-DF7012DDAD65}"/>
                    </a:ext>
                  </a:extLst>
                </p:cNvPr>
                <p:cNvSpPr txBox="1"/>
                <p:nvPr/>
              </p:nvSpPr>
              <p:spPr>
                <a:xfrm>
                  <a:off x="4758813" y="1089960"/>
                  <a:ext cx="378541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=0.25,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=−1,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=1, 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=0.5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22D275C9-50FE-4CBA-B924-DF7012DDAD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8813" y="1089960"/>
                  <a:ext cx="3785419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B37BC918-A4C8-44FE-B934-51FF728F0233}"/>
                  </a:ext>
                </a:extLst>
              </p:cNvPr>
              <p:cNvSpPr txBox="1"/>
              <p:nvPr/>
            </p:nvSpPr>
            <p:spPr>
              <a:xfrm>
                <a:off x="521110" y="5086586"/>
                <a:ext cx="619678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p"/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 a DNN to approximate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B37BC918-A4C8-44FE-B934-51FF728F02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110" y="5086586"/>
                <a:ext cx="6196783" cy="400110"/>
              </a:xfrm>
              <a:prstGeom prst="rect">
                <a:avLst/>
              </a:prstGeom>
              <a:blipFill>
                <a:blip r:embed="rId5"/>
                <a:stretch>
                  <a:fillRect l="-885" t="-7576" b="-257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本框 17">
            <a:extLst>
              <a:ext uri="{FF2B5EF4-FFF2-40B4-BE49-F238E27FC236}">
                <a16:creationId xmlns:a16="http://schemas.microsoft.com/office/drawing/2014/main" id="{3949BD68-02F6-4061-9087-156C42E8DA01}"/>
              </a:ext>
            </a:extLst>
          </p:cNvPr>
          <p:cNvSpPr txBox="1"/>
          <p:nvPr/>
        </p:nvSpPr>
        <p:spPr>
          <a:xfrm>
            <a:off x="521110" y="3473937"/>
            <a:ext cx="61967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the model misspecification using a DNN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C3E5A4B3-C8EC-413F-A906-5A111CA8F6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6010" y="4043427"/>
            <a:ext cx="3555000" cy="7583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D15A4C51-6926-4E77-BED1-41B7AE775558}"/>
                  </a:ext>
                </a:extLst>
              </p:cNvPr>
              <p:cNvSpPr txBox="1"/>
              <p:nvPr/>
            </p:nvSpPr>
            <p:spPr>
              <a:xfrm>
                <a:off x="3021010" y="5715091"/>
                <a:ext cx="2925000" cy="7202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𝜇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D15A4C51-6926-4E77-BED1-41B7AE7755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1010" y="5715091"/>
                <a:ext cx="2925000" cy="72026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094A26BC-8DAD-42E2-84CA-8CF9C95BD7E9}"/>
                  </a:ext>
                </a:extLst>
              </p:cNvPr>
              <p:cNvSpPr txBox="1"/>
              <p:nvPr/>
            </p:nvSpPr>
            <p:spPr>
              <a:xfrm>
                <a:off x="6371304" y="4233660"/>
                <a:ext cx="10913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=0.1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094A26BC-8DAD-42E2-84CA-8CF9C95BD7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1304" y="4233660"/>
                <a:ext cx="1091381" cy="369332"/>
              </a:xfrm>
              <a:prstGeom prst="rect">
                <a:avLst/>
              </a:prstGeom>
              <a:blipFill>
                <a:blip r:embed="rId8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4253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PINN with clean data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DA3CECB4-FD08-431F-AB03-05529B87FAF5}"/>
              </a:ext>
            </a:extLst>
          </p:cNvPr>
          <p:cNvSpPr txBox="1"/>
          <p:nvPr/>
        </p:nvSpPr>
        <p:spPr>
          <a:xfrm>
            <a:off x="6806383" y="6581001"/>
            <a:ext cx="296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Zou, et al., JCP, 2024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52B6CCC-CEBD-4BAF-8E0C-43140F25BA3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38" t="-811" b="53986"/>
          <a:stretch/>
        </p:blipFill>
        <p:spPr>
          <a:xfrm>
            <a:off x="1338519" y="3788094"/>
            <a:ext cx="5886177" cy="2931406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5E9A3540-BBEC-4442-9161-80A7EAD3BC9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792" b="55785"/>
          <a:stretch/>
        </p:blipFill>
        <p:spPr>
          <a:xfrm>
            <a:off x="1436842" y="963016"/>
            <a:ext cx="6270315" cy="2825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916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PINN with clean data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DA3CECB4-FD08-431F-AB03-05529B87FAF5}"/>
              </a:ext>
            </a:extLst>
          </p:cNvPr>
          <p:cNvSpPr txBox="1"/>
          <p:nvPr/>
        </p:nvSpPr>
        <p:spPr>
          <a:xfrm>
            <a:off x="6806383" y="6581001"/>
            <a:ext cx="296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Zou, et al., JCP, 2024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D53E89A-23A1-4E49-8741-116FB6D1D63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419" t="46228" b="4341"/>
          <a:stretch/>
        </p:blipFill>
        <p:spPr>
          <a:xfrm>
            <a:off x="2337618" y="3491198"/>
            <a:ext cx="3946784" cy="312448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63F6C8E-BB8D-4F7F-91AA-00E420D765E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507" r="34005" b="4341"/>
          <a:stretch/>
        </p:blipFill>
        <p:spPr>
          <a:xfrm>
            <a:off x="1030521" y="850581"/>
            <a:ext cx="7082953" cy="264061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3BC2201-3A40-45A1-B0E8-27948B287C8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58" r="4529" b="6995"/>
          <a:stretch/>
        </p:blipFill>
        <p:spPr>
          <a:xfrm>
            <a:off x="6409269" y="4572187"/>
            <a:ext cx="1300565" cy="28513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C1998D5-CE30-43B3-9E32-7116C2AA31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4551" y="5033549"/>
            <a:ext cx="1810003" cy="32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486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BPINN with noisy data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DA3CECB4-FD08-431F-AB03-05529B87FAF5}"/>
              </a:ext>
            </a:extLst>
          </p:cNvPr>
          <p:cNvSpPr txBox="1"/>
          <p:nvPr/>
        </p:nvSpPr>
        <p:spPr>
          <a:xfrm>
            <a:off x="6806383" y="6581001"/>
            <a:ext cx="296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Zou, et al., JCP, 2024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0A28FFD-0A6A-4ED3-8FFF-B52CCD4240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687" y="1257398"/>
            <a:ext cx="8130625" cy="496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375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Model misspecification in PINNs: Non-Newtonian flow 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DA3CECB4-FD08-431F-AB03-05529B87FAF5}"/>
              </a:ext>
            </a:extLst>
          </p:cNvPr>
          <p:cNvSpPr txBox="1"/>
          <p:nvPr/>
        </p:nvSpPr>
        <p:spPr>
          <a:xfrm>
            <a:off x="6806383" y="6581001"/>
            <a:ext cx="296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Zou, et al., JCP, 2024</a:t>
            </a:r>
          </a:p>
        </p:txBody>
      </p:sp>
      <p:pic>
        <p:nvPicPr>
          <p:cNvPr id="11" name="Picture 56">
            <a:extLst>
              <a:ext uri="{FF2B5EF4-FFF2-40B4-BE49-F238E27FC236}">
                <a16:creationId xmlns:a16="http://schemas.microsoft.com/office/drawing/2014/main" id="{A41DBD29-C860-4713-B866-921BE3C8DA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78" t="2197" r="10667" b="11667"/>
          <a:stretch/>
        </p:blipFill>
        <p:spPr>
          <a:xfrm>
            <a:off x="348512" y="1001091"/>
            <a:ext cx="1750110" cy="173636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B777AF8-3EAA-4E38-94D9-D4B49BF0D5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8819" y="1393424"/>
            <a:ext cx="4353533" cy="79068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228A5DB-1D68-4F68-B902-E8CCE31F4CF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58" r="4529" b="6995"/>
          <a:stretch/>
        </p:blipFill>
        <p:spPr>
          <a:xfrm>
            <a:off x="7371486" y="1337306"/>
            <a:ext cx="1300565" cy="285135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9EA293EE-A8C9-4E77-89A3-591EFE73496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6766" y="1879715"/>
            <a:ext cx="1810003" cy="323895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DAA3A83B-7ACC-43C1-9759-96BED5AFEE0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73" y="3063382"/>
            <a:ext cx="8449854" cy="2657846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461C6CAB-841F-4CD6-B426-25ABF085D176}"/>
              </a:ext>
            </a:extLst>
          </p:cNvPr>
          <p:cNvSpPr txBox="1"/>
          <p:nvPr/>
        </p:nvSpPr>
        <p:spPr>
          <a:xfrm>
            <a:off x="658761" y="5801032"/>
            <a:ext cx="36182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NS + constant viscosity</a:t>
            </a:r>
            <a:endParaRPr lang="zh-CN" altLang="en-US" sz="2000" b="1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FE2910E-4E80-47B9-A4E5-A564A680A0AE}"/>
              </a:ext>
            </a:extLst>
          </p:cNvPr>
          <p:cNvSpPr txBox="1"/>
          <p:nvPr/>
        </p:nvSpPr>
        <p:spPr>
          <a:xfrm>
            <a:off x="4866970" y="5847099"/>
            <a:ext cx="36182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NS + constant viscosity </a:t>
            </a:r>
            <a:r>
              <a:rPr lang="en-US" altLang="zh-CN" sz="2000" b="1" i="1" dirty="0">
                <a:solidFill>
                  <a:srgbClr val="3333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s</a:t>
            </a:r>
            <a:endParaRPr lang="zh-CN" altLang="en-US" sz="2000" b="1" i="1" dirty="0">
              <a:solidFill>
                <a:srgbClr val="3333F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7395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Model misspecification in PINNs: Non-Newtonian flow 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0D51362-F51F-4FDE-B7E1-5A1FBD6C84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2844" y="1031303"/>
            <a:ext cx="5918311" cy="121373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F72D25C-58AB-45E8-891A-695835C05F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726" y="2364155"/>
            <a:ext cx="8204545" cy="4097730"/>
          </a:xfrm>
          <a:prstGeom prst="rect">
            <a:avLst/>
          </a:prstGeom>
        </p:spPr>
      </p:pic>
      <p:sp>
        <p:nvSpPr>
          <p:cNvPr id="7" name="TextBox 1">
            <a:extLst>
              <a:ext uri="{FF2B5EF4-FFF2-40B4-BE49-F238E27FC236}">
                <a16:creationId xmlns:a16="http://schemas.microsoft.com/office/drawing/2014/main" id="{60DF788C-BFA4-4151-9F33-A7DA65D9A703}"/>
              </a:ext>
            </a:extLst>
          </p:cNvPr>
          <p:cNvSpPr txBox="1"/>
          <p:nvPr/>
        </p:nvSpPr>
        <p:spPr>
          <a:xfrm>
            <a:off x="6806383" y="6581001"/>
            <a:ext cx="296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Zou, et al., JCP, 2024</a:t>
            </a:r>
          </a:p>
        </p:txBody>
      </p:sp>
    </p:spTree>
    <p:extLst>
      <p:ext uri="{BB962C8B-B14F-4D97-AF65-F5344CB8AC3E}">
        <p14:creationId xmlns:p14="http://schemas.microsoft.com/office/powerpoint/2010/main" val="1903892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Residual-net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09B42D4-6214-4D8E-900F-2CC34513863F}"/>
              </a:ext>
            </a:extLst>
          </p:cNvPr>
          <p:cNvSpPr txBox="1"/>
          <p:nvPr/>
        </p:nvSpPr>
        <p:spPr>
          <a:xfrm>
            <a:off x="7698659" y="6581001"/>
            <a:ext cx="2546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Qin et al. JCP 2019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8E0FC91-F731-41A7-AB54-1E8E18C7CD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7000" y="831411"/>
            <a:ext cx="2790000" cy="71166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8769B550-ACF0-42AE-83F2-4C842B3FB9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18351"/>
            <a:ext cx="9144000" cy="116815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7FA9AC9-7A06-43FE-B4E8-2577CC8E51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019760"/>
            <a:ext cx="9144000" cy="153087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E7B25C7-CC7A-42E6-9030-6260E7E5ED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883325"/>
            <a:ext cx="9144000" cy="1229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380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Residual-net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09B42D4-6214-4D8E-900F-2CC34513863F}"/>
              </a:ext>
            </a:extLst>
          </p:cNvPr>
          <p:cNvSpPr txBox="1"/>
          <p:nvPr/>
        </p:nvSpPr>
        <p:spPr>
          <a:xfrm>
            <a:off x="7698659" y="6581001"/>
            <a:ext cx="2546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Qin et al. JCP 2019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C461A96-7317-4280-A160-51E38AA63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1321" y="976320"/>
            <a:ext cx="5787338" cy="324559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5B8BEF0-4ED9-4963-BC1E-99ADB54139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258884"/>
            <a:ext cx="9144000" cy="857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637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Residual-net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09B42D4-6214-4D8E-900F-2CC34513863F}"/>
              </a:ext>
            </a:extLst>
          </p:cNvPr>
          <p:cNvSpPr txBox="1"/>
          <p:nvPr/>
        </p:nvSpPr>
        <p:spPr>
          <a:xfrm>
            <a:off x="7698659" y="6581001"/>
            <a:ext cx="2546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Qin et al. JCP 2019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AB1B798-E2DE-44B5-AB00-6979F4A740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21056"/>
            <a:ext cx="9144000" cy="218963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554E2B4F-0C42-4A45-A1DA-26AB19E75E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275164"/>
            <a:ext cx="9144000" cy="1741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255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Residual-net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09B42D4-6214-4D8E-900F-2CC34513863F}"/>
              </a:ext>
            </a:extLst>
          </p:cNvPr>
          <p:cNvSpPr txBox="1"/>
          <p:nvPr/>
        </p:nvSpPr>
        <p:spPr>
          <a:xfrm>
            <a:off x="7698659" y="6581001"/>
            <a:ext cx="2546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Qin et al. JCP 2019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BEE341F-411E-49D1-A801-9BD1EEBA7B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2" y="841414"/>
            <a:ext cx="9144000" cy="1566024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797DA57-686E-4B9E-BD21-4563D8363C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2" y="2407438"/>
            <a:ext cx="9144000" cy="316848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DCCEF69-7F41-47CF-8A1F-42C0B2B63E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9650" y="5575925"/>
            <a:ext cx="4009975" cy="1257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470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Residual-net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09B42D4-6214-4D8E-900F-2CC34513863F}"/>
              </a:ext>
            </a:extLst>
          </p:cNvPr>
          <p:cNvSpPr txBox="1"/>
          <p:nvPr/>
        </p:nvSpPr>
        <p:spPr>
          <a:xfrm>
            <a:off x="7698659" y="6581001"/>
            <a:ext cx="2546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Qin et al. JCP 2019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07CBF11-F185-4598-A6D9-38C26AE398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23164"/>
            <a:ext cx="9144000" cy="288790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496C2FD-CCDA-4F6D-A7BB-E8B83FDC0A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322" y="3978093"/>
            <a:ext cx="6305014" cy="260451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985B0CB-4049-452F-A8B9-D403508AB2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3813" y="4344367"/>
            <a:ext cx="5985001" cy="170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317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Residual-net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09B42D4-6214-4D8E-900F-2CC34513863F}"/>
              </a:ext>
            </a:extLst>
          </p:cNvPr>
          <p:cNvSpPr txBox="1"/>
          <p:nvPr/>
        </p:nvSpPr>
        <p:spPr>
          <a:xfrm>
            <a:off x="7698659" y="6581001"/>
            <a:ext cx="2546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Qin et al. JCP 2019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496C2FD-CCDA-4F6D-A7BB-E8B83FDC0A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806" y="1064053"/>
            <a:ext cx="6305014" cy="260451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985B0CB-4049-452F-A8B9-D403508AB2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3812" y="3872418"/>
            <a:ext cx="5985001" cy="170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797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Residual-net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09B42D4-6214-4D8E-900F-2CC34513863F}"/>
              </a:ext>
            </a:extLst>
          </p:cNvPr>
          <p:cNvSpPr txBox="1"/>
          <p:nvPr/>
        </p:nvSpPr>
        <p:spPr>
          <a:xfrm>
            <a:off x="7698659" y="6581001"/>
            <a:ext cx="2546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Qin et al. JCP 2019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E8D1AE4-6030-4F48-AB9E-C97B6A8E79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48806"/>
            <a:ext cx="9144000" cy="2944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150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Residual-net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09B42D4-6214-4D8E-900F-2CC34513863F}"/>
              </a:ext>
            </a:extLst>
          </p:cNvPr>
          <p:cNvSpPr txBox="1"/>
          <p:nvPr/>
        </p:nvSpPr>
        <p:spPr>
          <a:xfrm>
            <a:off x="7698659" y="6581001"/>
            <a:ext cx="2546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Qin et al. JCP 2019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238A3F8-6318-4FCD-904E-99DDB4E480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654" y="1175319"/>
            <a:ext cx="8415001" cy="1715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025140C-A7EB-4901-873D-D5DA3BB03A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153" y="3302682"/>
            <a:ext cx="8190001" cy="665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9C80329-AC41-41D9-AB46-572A16A8C0B9}"/>
                  </a:ext>
                </a:extLst>
              </p:cNvPr>
              <p:cNvSpPr txBox="1"/>
              <p:nvPr/>
            </p:nvSpPr>
            <p:spPr>
              <a:xfrm>
                <a:off x="3460954" y="4395019"/>
                <a:ext cx="22220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=0.1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9C80329-AC41-41D9-AB46-572A16A8C0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0954" y="4395019"/>
                <a:ext cx="222209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1139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Residual-net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09B42D4-6214-4D8E-900F-2CC34513863F}"/>
              </a:ext>
            </a:extLst>
          </p:cNvPr>
          <p:cNvSpPr txBox="1"/>
          <p:nvPr/>
        </p:nvSpPr>
        <p:spPr>
          <a:xfrm>
            <a:off x="7698659" y="6581001"/>
            <a:ext cx="2546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Qin et al. JCP 2019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5E4FD36-7D2F-4E18-8582-CA503A85F2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7328" y="822764"/>
            <a:ext cx="6209344" cy="5758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270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Residual-net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09B42D4-6214-4D8E-900F-2CC34513863F}"/>
              </a:ext>
            </a:extLst>
          </p:cNvPr>
          <p:cNvSpPr txBox="1"/>
          <p:nvPr/>
        </p:nvSpPr>
        <p:spPr>
          <a:xfrm>
            <a:off x="7698659" y="6581001"/>
            <a:ext cx="2546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Qin et al. JCP 2019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8C25FEA-16CA-4E83-AC56-7DA22E69A3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499" y="1655666"/>
            <a:ext cx="8235001" cy="354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811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Residual-net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09B42D4-6214-4D8E-900F-2CC34513863F}"/>
              </a:ext>
            </a:extLst>
          </p:cNvPr>
          <p:cNvSpPr txBox="1"/>
          <p:nvPr/>
        </p:nvSpPr>
        <p:spPr>
          <a:xfrm>
            <a:off x="7698659" y="6581001"/>
            <a:ext cx="2546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Qin et al. JCP 2019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297847C-BB81-420B-8F04-EDA9F96A6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999" y="1551440"/>
            <a:ext cx="8280001" cy="1808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474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Residual-net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09B42D4-6214-4D8E-900F-2CC34513863F}"/>
              </a:ext>
            </a:extLst>
          </p:cNvPr>
          <p:cNvSpPr txBox="1"/>
          <p:nvPr/>
        </p:nvSpPr>
        <p:spPr>
          <a:xfrm>
            <a:off x="7698659" y="6581001"/>
            <a:ext cx="2546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Qin et al. JCP 2019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27D0C4B-42C6-4DF0-ADD2-DEDCCC380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008" y="1620666"/>
            <a:ext cx="8415001" cy="361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34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Residual-net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09B42D4-6214-4D8E-900F-2CC34513863F}"/>
              </a:ext>
            </a:extLst>
          </p:cNvPr>
          <p:cNvSpPr txBox="1"/>
          <p:nvPr/>
        </p:nvSpPr>
        <p:spPr>
          <a:xfrm>
            <a:off x="7698659" y="6581001"/>
            <a:ext cx="2546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Qin et al. JCP 2019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232774D-A9E9-4BB7-8A6F-5D2BB6232A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999" y="1696500"/>
            <a:ext cx="8280001" cy="346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907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Residual-net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09B42D4-6214-4D8E-900F-2CC34513863F}"/>
              </a:ext>
            </a:extLst>
          </p:cNvPr>
          <p:cNvSpPr txBox="1"/>
          <p:nvPr/>
        </p:nvSpPr>
        <p:spPr>
          <a:xfrm>
            <a:off x="7698659" y="6581001"/>
            <a:ext cx="2546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Qin et al. JCP 2019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740AE4F-F0A7-4DC7-8BDC-66C220A0A6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999" y="1731500"/>
            <a:ext cx="8190001" cy="339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580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Residual-net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09B42D4-6214-4D8E-900F-2CC34513863F}"/>
              </a:ext>
            </a:extLst>
          </p:cNvPr>
          <p:cNvSpPr txBox="1"/>
          <p:nvPr/>
        </p:nvSpPr>
        <p:spPr>
          <a:xfrm>
            <a:off x="7698659" y="6581001"/>
            <a:ext cx="2546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Qin et al. JCP 2019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297847C-BB81-420B-8F04-EDA9F96A6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999" y="2092214"/>
            <a:ext cx="8280001" cy="1808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403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Residual-net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09B42D4-6214-4D8E-900F-2CC34513863F}"/>
              </a:ext>
            </a:extLst>
          </p:cNvPr>
          <p:cNvSpPr txBox="1"/>
          <p:nvPr/>
        </p:nvSpPr>
        <p:spPr>
          <a:xfrm>
            <a:off x="7698659" y="6581001"/>
            <a:ext cx="2546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Qin et al. JCP 2019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9D5DAFA-90E4-4D0F-8CE8-E481A364A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999" y="1684833"/>
            <a:ext cx="8190001" cy="3488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32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Residual-net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09B42D4-6214-4D8E-900F-2CC34513863F}"/>
              </a:ext>
            </a:extLst>
          </p:cNvPr>
          <p:cNvSpPr txBox="1"/>
          <p:nvPr/>
        </p:nvSpPr>
        <p:spPr>
          <a:xfrm>
            <a:off x="7698659" y="6581001"/>
            <a:ext cx="2546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Qin et al. JCP 2019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605DF34-E93D-4615-AFE9-7B0FF10E6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499" y="1661500"/>
            <a:ext cx="8235001" cy="35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464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Residual-net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09B42D4-6214-4D8E-900F-2CC34513863F}"/>
              </a:ext>
            </a:extLst>
          </p:cNvPr>
          <p:cNvSpPr txBox="1"/>
          <p:nvPr/>
        </p:nvSpPr>
        <p:spPr>
          <a:xfrm>
            <a:off x="7698659" y="6581001"/>
            <a:ext cx="2546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Qin et al. JCP 2019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E4D5F48-FFB6-4847-9BE4-3A5C90AF1E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999" y="1369833"/>
            <a:ext cx="8280001" cy="4118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380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PDE-net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D235958-7F4F-4DFA-A445-C53FCEC8A9A4}"/>
              </a:ext>
            </a:extLst>
          </p:cNvPr>
          <p:cNvSpPr txBox="1"/>
          <p:nvPr/>
        </p:nvSpPr>
        <p:spPr>
          <a:xfrm>
            <a:off x="7492181" y="6581001"/>
            <a:ext cx="2546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et al. ICML 2018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2323310-CC8D-458F-AB34-F03085D200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4499" y="877088"/>
            <a:ext cx="4995001" cy="44333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C2456C2-E7FB-43AB-90D5-C03A926B41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998" y="1519372"/>
            <a:ext cx="8730001" cy="309166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3810502-5BDA-4429-9A72-0CA95782D1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130" y="4492834"/>
            <a:ext cx="7855974" cy="2088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237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PDE-net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09B42D4-6214-4D8E-900F-2CC34513863F}"/>
              </a:ext>
            </a:extLst>
          </p:cNvPr>
          <p:cNvSpPr txBox="1"/>
          <p:nvPr/>
        </p:nvSpPr>
        <p:spPr>
          <a:xfrm>
            <a:off x="7492181" y="6581001"/>
            <a:ext cx="2546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et al. ICML 2018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C9E0A71-A6B2-4D12-8486-22408E3B9F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99" y="1019833"/>
            <a:ext cx="8955001" cy="4818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457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PDE-net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09B42D4-6214-4D8E-900F-2CC34513863F}"/>
              </a:ext>
            </a:extLst>
          </p:cNvPr>
          <p:cNvSpPr txBox="1"/>
          <p:nvPr/>
        </p:nvSpPr>
        <p:spPr>
          <a:xfrm>
            <a:off x="7492181" y="6581001"/>
            <a:ext cx="2546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et al. ICML 2018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0D2B098-06E2-423F-B39F-9380958A7C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999" y="1054833"/>
            <a:ext cx="6930001" cy="4748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312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PDE-net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09B42D4-6214-4D8E-900F-2CC34513863F}"/>
              </a:ext>
            </a:extLst>
          </p:cNvPr>
          <p:cNvSpPr txBox="1"/>
          <p:nvPr/>
        </p:nvSpPr>
        <p:spPr>
          <a:xfrm>
            <a:off x="7492181" y="6581001"/>
            <a:ext cx="2546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et al. ICML 2018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6537725-7B69-4A26-8883-47C92BFF3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99" y="1725666"/>
            <a:ext cx="8730001" cy="340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065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PDE-net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09B42D4-6214-4D8E-900F-2CC34513863F}"/>
              </a:ext>
            </a:extLst>
          </p:cNvPr>
          <p:cNvSpPr txBox="1"/>
          <p:nvPr/>
        </p:nvSpPr>
        <p:spPr>
          <a:xfrm>
            <a:off x="7492181" y="6581001"/>
            <a:ext cx="2546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et al. ICML 2018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D83B0C1-F0EC-4945-9971-D150D595BB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48" y="1581153"/>
            <a:ext cx="7695001" cy="393166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86894895-17A2-462C-9E55-3F2B26664D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6999" y="5679410"/>
            <a:ext cx="5130001" cy="7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244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PDE-net: Convection-diffusion equation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09B42D4-6214-4D8E-900F-2CC34513863F}"/>
              </a:ext>
            </a:extLst>
          </p:cNvPr>
          <p:cNvSpPr txBox="1"/>
          <p:nvPr/>
        </p:nvSpPr>
        <p:spPr>
          <a:xfrm>
            <a:off x="7492181" y="6581001"/>
            <a:ext cx="2546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et al. ICML 2018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9C3CB86-EA61-4ED5-AAE7-C1C3BD270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04795"/>
            <a:ext cx="8685001" cy="250833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0E9AAC5-6C6D-4C2F-87B6-2CE17B1049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129" y="3452054"/>
            <a:ext cx="8259097" cy="3190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725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PDE-net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: Convection-diffusion equation</a:t>
            </a:r>
            <a:endParaRPr lang="en-US" sz="2800" b="1" dirty="0">
              <a:solidFill>
                <a:srgbClr val="C00000"/>
              </a:solidFill>
              <a:latin typeface="Times New Roman" panose="02020603050405020304" pitchFamily="18" charset="0"/>
              <a:ea typeface="Microsoft YaHei U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09B42D4-6214-4D8E-900F-2CC34513863F}"/>
              </a:ext>
            </a:extLst>
          </p:cNvPr>
          <p:cNvSpPr txBox="1"/>
          <p:nvPr/>
        </p:nvSpPr>
        <p:spPr>
          <a:xfrm>
            <a:off x="7492181" y="6581001"/>
            <a:ext cx="2546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et al. ICML 2018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713265F-A85F-4BFD-883D-2841B100BC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17" y="3429000"/>
            <a:ext cx="8730001" cy="317333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56AF908-EEE3-4ABF-B5E5-8C71A8F93C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799" y="994512"/>
            <a:ext cx="7973439" cy="239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192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PDE-net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: Convection-diffusion equation</a:t>
            </a:r>
            <a:endParaRPr lang="en-US" sz="2800" b="1" dirty="0">
              <a:solidFill>
                <a:srgbClr val="C00000"/>
              </a:solidFill>
              <a:latin typeface="Times New Roman" panose="02020603050405020304" pitchFamily="18" charset="0"/>
              <a:ea typeface="Microsoft YaHei U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09B42D4-6214-4D8E-900F-2CC34513863F}"/>
              </a:ext>
            </a:extLst>
          </p:cNvPr>
          <p:cNvSpPr txBox="1"/>
          <p:nvPr/>
        </p:nvSpPr>
        <p:spPr>
          <a:xfrm>
            <a:off x="7492181" y="6581001"/>
            <a:ext cx="2546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et al. ICML 2018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FDD559A-A966-4FEB-8067-730CD0111C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499" y="994512"/>
            <a:ext cx="6525001" cy="515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628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PDE-net: Diffusion-reaction system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09B42D4-6214-4D8E-900F-2CC34513863F}"/>
              </a:ext>
            </a:extLst>
          </p:cNvPr>
          <p:cNvSpPr txBox="1"/>
          <p:nvPr/>
        </p:nvSpPr>
        <p:spPr>
          <a:xfrm>
            <a:off x="7492181" y="6581001"/>
            <a:ext cx="2546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et al. ICML 2018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FA41F39-C2B8-4957-A6E2-FDA1FB0265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499" y="979259"/>
            <a:ext cx="6525001" cy="3208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074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PDE-net: Diffusion-reaction system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09B42D4-6214-4D8E-900F-2CC34513863F}"/>
              </a:ext>
            </a:extLst>
          </p:cNvPr>
          <p:cNvSpPr txBox="1"/>
          <p:nvPr/>
        </p:nvSpPr>
        <p:spPr>
          <a:xfrm>
            <a:off x="7492181" y="6581001"/>
            <a:ext cx="2546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et al. ICML 2018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6D4E225-4F0A-4C61-B100-1AECE39294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828" y="1097667"/>
            <a:ext cx="6300001" cy="5483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590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PDE-net: Diffusion-reaction system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09B42D4-6214-4D8E-900F-2CC34513863F}"/>
              </a:ext>
            </a:extLst>
          </p:cNvPr>
          <p:cNvSpPr txBox="1"/>
          <p:nvPr/>
        </p:nvSpPr>
        <p:spPr>
          <a:xfrm>
            <a:off x="7492181" y="6581001"/>
            <a:ext cx="2546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et al. ICML 2018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C490708-ED70-403E-A442-4268A2B2B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7631" y="1177824"/>
            <a:ext cx="6154550" cy="3723123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7D9F80A-5B6F-47E5-B425-0051547B23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7631" y="5009342"/>
            <a:ext cx="6300001" cy="134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077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PDE-net: Diffusion-reaction system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09B42D4-6214-4D8E-900F-2CC34513863F}"/>
              </a:ext>
            </a:extLst>
          </p:cNvPr>
          <p:cNvSpPr txBox="1"/>
          <p:nvPr/>
        </p:nvSpPr>
        <p:spPr>
          <a:xfrm>
            <a:off x="7492181" y="6581001"/>
            <a:ext cx="2546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et al. ICML 2018</a:t>
            </a:r>
            <a:endParaRPr lang="zh-CN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61E09EA-E7B0-46AD-8020-94A21D99D6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1999" y="1061069"/>
            <a:ext cx="6300001" cy="52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454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596"/>
    </mc:Choice>
    <mc:Fallback xmlns="">
      <p:transition spd="slow" advTm="169596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84233" y="3075057"/>
            <a:ext cx="71755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your attention!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ADC31F1-D89B-4C21-B37C-7E760FAC0C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1759" y="6263149"/>
            <a:ext cx="822241" cy="594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601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26"/>
    </mc:Choice>
    <mc:Fallback xmlns="">
      <p:transition spd="slow" advTm="1926"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14819</TotalTime>
  <Words>988</Words>
  <Application>Microsoft Office PowerPoint</Application>
  <PresentationFormat>全屏显示(4:3)</PresentationFormat>
  <Paragraphs>239</Paragraphs>
  <Slides>55</Slides>
  <Notes>55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55</vt:i4>
      </vt:variant>
    </vt:vector>
  </HeadingPairs>
  <TitlesOfParts>
    <vt:vector size="64" baseType="lpstr">
      <vt:lpstr>Microsoft YaHei UI</vt:lpstr>
      <vt:lpstr>华文楷体</vt:lpstr>
      <vt:lpstr>Arial</vt:lpstr>
      <vt:lpstr>Calibri</vt:lpstr>
      <vt:lpstr>Calibri Light</vt:lpstr>
      <vt:lpstr>Cambria Math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xhmeng</dc:creator>
  <cp:lastModifiedBy>Xuhui Meng</cp:lastModifiedBy>
  <cp:revision>1446</cp:revision>
  <dcterms:created xsi:type="dcterms:W3CDTF">2017-09-04T15:34:47Z</dcterms:created>
  <dcterms:modified xsi:type="dcterms:W3CDTF">2026-04-14T07:19:58Z</dcterms:modified>
</cp:coreProperties>
</file>