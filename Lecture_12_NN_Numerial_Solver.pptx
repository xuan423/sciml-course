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4"/>
  </p:notesMasterIdLst>
  <p:sldIdLst>
    <p:sldId id="256" r:id="rId2"/>
    <p:sldId id="333" r:id="rId3"/>
    <p:sldId id="2476" r:id="rId4"/>
    <p:sldId id="2477" r:id="rId5"/>
    <p:sldId id="2478" r:id="rId6"/>
    <p:sldId id="2479" r:id="rId7"/>
    <p:sldId id="2480" r:id="rId8"/>
    <p:sldId id="2481" r:id="rId9"/>
    <p:sldId id="2482" r:id="rId10"/>
    <p:sldId id="2483" r:id="rId11"/>
    <p:sldId id="2484" r:id="rId12"/>
    <p:sldId id="2485" r:id="rId13"/>
    <p:sldId id="577" r:id="rId14"/>
    <p:sldId id="546" r:id="rId15"/>
    <p:sldId id="543" r:id="rId16"/>
    <p:sldId id="552" r:id="rId17"/>
    <p:sldId id="547" r:id="rId18"/>
    <p:sldId id="553" r:id="rId19"/>
    <p:sldId id="554" r:id="rId20"/>
    <p:sldId id="307" r:id="rId21"/>
    <p:sldId id="576" r:id="rId22"/>
    <p:sldId id="575" r:id="rId23"/>
    <p:sldId id="555" r:id="rId24"/>
    <p:sldId id="556" r:id="rId25"/>
    <p:sldId id="557" r:id="rId26"/>
    <p:sldId id="558" r:id="rId27"/>
    <p:sldId id="559" r:id="rId28"/>
    <p:sldId id="561" r:id="rId29"/>
    <p:sldId id="562" r:id="rId30"/>
    <p:sldId id="563" r:id="rId31"/>
    <p:sldId id="564" r:id="rId32"/>
    <p:sldId id="565" r:id="rId33"/>
    <p:sldId id="566" r:id="rId34"/>
    <p:sldId id="567" r:id="rId35"/>
    <p:sldId id="568" r:id="rId36"/>
    <p:sldId id="569" r:id="rId37"/>
    <p:sldId id="570" r:id="rId38"/>
    <p:sldId id="571" r:id="rId39"/>
    <p:sldId id="572" r:id="rId40"/>
    <p:sldId id="573" r:id="rId41"/>
    <p:sldId id="574" r:id="rId42"/>
    <p:sldId id="33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8FD"/>
    <a:srgbClr val="3333FD"/>
    <a:srgbClr val="0000CC"/>
    <a:srgbClr val="CC1704"/>
    <a:srgbClr val="000099"/>
    <a:srgbClr val="003399"/>
    <a:srgbClr val="6732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619" autoAdjust="0"/>
  </p:normalViewPr>
  <p:slideViewPr>
    <p:cSldViewPr snapToGrid="0">
      <p:cViewPr varScale="1">
        <p:scale>
          <a:sx n="94" d="100"/>
          <a:sy n="94" d="100"/>
        </p:scale>
        <p:origin x="20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24CD06-CDB8-463C-82C0-327730F8ACA7}" type="datetimeFigureOut">
              <a:rPr lang="en-US" smtClean="0"/>
              <a:t>4/22/2026</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96392-4F4E-4DC5-B4DA-6DF644E23DB5}" type="slidenum">
              <a:rPr lang="en-US" smtClean="0"/>
              <a:t>‹#›</a:t>
            </a:fld>
            <a:endParaRPr lang="en-US"/>
          </a:p>
        </p:txBody>
      </p:sp>
    </p:spTree>
    <p:extLst>
      <p:ext uri="{BB962C8B-B14F-4D97-AF65-F5344CB8AC3E}">
        <p14:creationId xmlns:p14="http://schemas.microsoft.com/office/powerpoint/2010/main" val="341579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3796392-4F4E-4DC5-B4DA-6DF644E23DB5}" type="slidenum">
              <a:rPr lang="en-US" smtClean="0"/>
              <a:t>1</a:t>
            </a:fld>
            <a:endParaRPr lang="en-US"/>
          </a:p>
        </p:txBody>
      </p:sp>
    </p:spTree>
    <p:extLst>
      <p:ext uri="{BB962C8B-B14F-4D97-AF65-F5344CB8AC3E}">
        <p14:creationId xmlns:p14="http://schemas.microsoft.com/office/powerpoint/2010/main" val="3734435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a:t>
            </a:fld>
            <a:endParaRPr lang="en-US"/>
          </a:p>
        </p:txBody>
      </p:sp>
    </p:spTree>
    <p:extLst>
      <p:ext uri="{BB962C8B-B14F-4D97-AF65-F5344CB8AC3E}">
        <p14:creationId xmlns:p14="http://schemas.microsoft.com/office/powerpoint/2010/main" val="98188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229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conservation laws, we can get inspiration from finite volumes using fluxes at the interfaces and hence derive proper interface conditions that will be added as extra loss terms in the total</a:t>
            </a:r>
          </a:p>
          <a:p>
            <a:r>
              <a:rPr lang="en-US" dirty="0"/>
              <a:t>Loss function. In addition, we penalize the solution at the interface. Mimicking DG methods.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5146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consider again the Burgers equation – here we split the domain in space only in 4 elements. Note that we can assign different NN in every domain of different size and even different AF and this gives</a:t>
            </a:r>
          </a:p>
          <a:p>
            <a:r>
              <a:rPr lang="en-US" dirty="0"/>
              <a:t>Us great flexibility.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801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this to the standard cavity benchmark at Re=100, we can introduce  12 domains here with different architectures; the results are compared with benchmark solutions.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9599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tackle the inverse Burgers to identify three parameters, shown here, and convergence seems </a:t>
            </a:r>
            <a:r>
              <a:rPr lang="en-US" dirty="0" err="1"/>
              <a:t>ti</a:t>
            </a:r>
            <a:r>
              <a:rPr lang="en-US" dirty="0"/>
              <a:t> be uniform across all domains.</a:t>
            </a:r>
          </a:p>
        </p:txBody>
      </p:sp>
      <p:sp>
        <p:nvSpPr>
          <p:cNvPr id="4" name="Slide Number Placeholder 3"/>
          <p:cNvSpPr>
            <a:spLocks noGrp="1"/>
          </p:cNvSpPr>
          <p:nvPr>
            <p:ph type="sldNum" sz="quarter" idx="5"/>
          </p:nvPr>
        </p:nvSpPr>
        <p:spPr/>
        <p:txBody>
          <a:bodyPr/>
          <a:lstStyle/>
          <a:p>
            <a:fld id="{FD4CD3F8-A766-4A13-8946-C8D5E4F49586}" type="slidenum">
              <a:rPr lang="en-US" smtClean="0"/>
              <a:t>7</a:t>
            </a:fld>
            <a:endParaRPr lang="en-US"/>
          </a:p>
        </p:txBody>
      </p:sp>
    </p:spTree>
    <p:extLst>
      <p:ext uri="{BB962C8B-B14F-4D97-AF65-F5344CB8AC3E}">
        <p14:creationId xmlns:p14="http://schemas.microsoft.com/office/powerpoint/2010/main" val="3390578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XPINN is a generalization of CPINN as it can be applied to arbitrary PDEs. Here we can penalize the residual at the interface since we know its continuous and equals to zero.</a:t>
            </a:r>
          </a:p>
          <a:p>
            <a:r>
              <a:rPr lang="en-US" dirty="0"/>
              <a:t>We also impose the average velocity at the interface. This algorithm works but theoretically to prove convergence, we also need to impose the gradient at the interface that </a:t>
            </a:r>
          </a:p>
          <a:p>
            <a:r>
              <a:rPr lang="en-US" dirty="0"/>
              <a:t>Will make the algorithm more complicated. An alternative is to use the </a:t>
            </a:r>
            <a:r>
              <a:rPr lang="en-US" dirty="0" err="1"/>
              <a:t>gPINN</a:t>
            </a:r>
            <a:r>
              <a:rPr lang="en-US" dirty="0"/>
              <a:t> approach.</a:t>
            </a:r>
          </a:p>
        </p:txBody>
      </p:sp>
      <p:sp>
        <p:nvSpPr>
          <p:cNvPr id="4" name="Slide Number Placeholder 3"/>
          <p:cNvSpPr>
            <a:spLocks noGrp="1"/>
          </p:cNvSpPr>
          <p:nvPr>
            <p:ph type="sldNum" sz="quarter" idx="5"/>
          </p:nvPr>
        </p:nvSpPr>
        <p:spPr/>
        <p:txBody>
          <a:bodyPr/>
          <a:lstStyle/>
          <a:p>
            <a:fld id="{FD4CD3F8-A766-4A13-8946-C8D5E4F49586}" type="slidenum">
              <a:rPr lang="en-US" smtClean="0"/>
              <a:t>8</a:t>
            </a:fld>
            <a:endParaRPr lang="en-US"/>
          </a:p>
        </p:txBody>
      </p:sp>
    </p:spTree>
    <p:extLst>
      <p:ext uri="{BB962C8B-B14F-4D97-AF65-F5344CB8AC3E}">
        <p14:creationId xmlns:p14="http://schemas.microsoft.com/office/powerpoint/2010/main" val="899005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summarize three versions of PINNs……</a:t>
            </a:r>
          </a:p>
        </p:txBody>
      </p:sp>
      <p:sp>
        <p:nvSpPr>
          <p:cNvPr id="4" name="Slide Number Placeholder 3"/>
          <p:cNvSpPr>
            <a:spLocks noGrp="1"/>
          </p:cNvSpPr>
          <p:nvPr>
            <p:ph type="sldNum" sz="quarter" idx="5"/>
          </p:nvPr>
        </p:nvSpPr>
        <p:spPr/>
        <p:txBody>
          <a:bodyPr/>
          <a:lstStyle/>
          <a:p>
            <a:fld id="{FD4CD3F8-A766-4A13-8946-C8D5E4F49586}" type="slidenum">
              <a:rPr lang="en-US" smtClean="0"/>
              <a:t>9</a:t>
            </a:fld>
            <a:endParaRPr lang="en-US"/>
          </a:p>
        </p:txBody>
      </p:sp>
    </p:spTree>
    <p:extLst>
      <p:ext uri="{BB962C8B-B14F-4D97-AF65-F5344CB8AC3E}">
        <p14:creationId xmlns:p14="http://schemas.microsoft.com/office/powerpoint/2010/main" val="2933392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XPINN can provide decomposition in both space and time and hence we can </a:t>
            </a:r>
            <a:r>
              <a:rPr lang="en-US" dirty="0" err="1"/>
              <a:t>achive</a:t>
            </a:r>
            <a:r>
              <a:rPr lang="en-US" dirty="0"/>
              <a:t> parallelism in time that </a:t>
            </a:r>
            <a:r>
              <a:rPr lang="en-US" dirty="0" err="1"/>
              <a:t>iis</a:t>
            </a:r>
            <a:r>
              <a:rPr lang="en-US" dirty="0"/>
              <a:t> typically very hard to do in scientific computing. Note also that the</a:t>
            </a:r>
          </a:p>
          <a:p>
            <a:r>
              <a:rPr lang="en-US" dirty="0"/>
              <a:t>Domains can be of arbitrary shape unlike the </a:t>
            </a:r>
            <a:r>
              <a:rPr lang="en-US" dirty="0" err="1"/>
              <a:t>convebtional</a:t>
            </a:r>
            <a:r>
              <a:rPr lang="en-US" dirty="0"/>
              <a:t> methods.</a:t>
            </a:r>
          </a:p>
        </p:txBody>
      </p:sp>
      <p:sp>
        <p:nvSpPr>
          <p:cNvPr id="4" name="Slide Number Placeholder 3"/>
          <p:cNvSpPr>
            <a:spLocks noGrp="1"/>
          </p:cNvSpPr>
          <p:nvPr>
            <p:ph type="sldNum" sz="quarter" idx="5"/>
          </p:nvPr>
        </p:nvSpPr>
        <p:spPr/>
        <p:txBody>
          <a:bodyPr/>
          <a:lstStyle/>
          <a:p>
            <a:fld id="{FD4CD3F8-A766-4A13-8946-C8D5E4F49586}" type="slidenum">
              <a:rPr lang="en-US" smtClean="0"/>
              <a:t>10</a:t>
            </a:fld>
            <a:endParaRPr lang="en-US"/>
          </a:p>
        </p:txBody>
      </p:sp>
    </p:spTree>
    <p:extLst>
      <p:ext uri="{BB962C8B-B14F-4D97-AF65-F5344CB8AC3E}">
        <p14:creationId xmlns:p14="http://schemas.microsoft.com/office/powerpoint/2010/main" val="2620930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of arbitrary decomposition is the peanut domain for the 2D steady Euler equations. Note again that we use different NNs and different AF in each domain.</a:t>
            </a:r>
          </a:p>
        </p:txBody>
      </p:sp>
      <p:sp>
        <p:nvSpPr>
          <p:cNvPr id="4" name="Slide Number Placeholder 3"/>
          <p:cNvSpPr>
            <a:spLocks noGrp="1"/>
          </p:cNvSpPr>
          <p:nvPr>
            <p:ph type="sldNum" sz="quarter" idx="5"/>
          </p:nvPr>
        </p:nvSpPr>
        <p:spPr/>
        <p:txBody>
          <a:bodyPr/>
          <a:lstStyle/>
          <a:p>
            <a:fld id="{FD4CD3F8-A766-4A13-8946-C8D5E4F49586}" type="slidenum">
              <a:rPr lang="en-US" smtClean="0"/>
              <a:t>11</a:t>
            </a:fld>
            <a:endParaRPr lang="en-US"/>
          </a:p>
        </p:txBody>
      </p:sp>
    </p:spTree>
    <p:extLst>
      <p:ext uri="{BB962C8B-B14F-4D97-AF65-F5344CB8AC3E}">
        <p14:creationId xmlns:p14="http://schemas.microsoft.com/office/powerpoint/2010/main" val="1976598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arbitrary decomposition, the solution is seamless across the interfaces. </a:t>
            </a:r>
          </a:p>
        </p:txBody>
      </p:sp>
      <p:sp>
        <p:nvSpPr>
          <p:cNvPr id="4" name="Slide Number Placeholder 3"/>
          <p:cNvSpPr>
            <a:spLocks noGrp="1"/>
          </p:cNvSpPr>
          <p:nvPr>
            <p:ph type="sldNum" sz="quarter" idx="5"/>
          </p:nvPr>
        </p:nvSpPr>
        <p:spPr/>
        <p:txBody>
          <a:bodyPr/>
          <a:lstStyle/>
          <a:p>
            <a:fld id="{FD4CD3F8-A766-4A13-8946-C8D5E4F49586}" type="slidenum">
              <a:rPr lang="en-US" smtClean="0"/>
              <a:t>12</a:t>
            </a:fld>
            <a:endParaRPr lang="en-US"/>
          </a:p>
        </p:txBody>
      </p:sp>
    </p:spTree>
    <p:extLst>
      <p:ext uri="{BB962C8B-B14F-4D97-AF65-F5344CB8AC3E}">
        <p14:creationId xmlns:p14="http://schemas.microsoft.com/office/powerpoint/2010/main" val="672438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13</a:t>
            </a:fld>
            <a:endParaRPr lang="en-US"/>
          </a:p>
        </p:txBody>
      </p:sp>
    </p:spTree>
    <p:extLst>
      <p:ext uri="{BB962C8B-B14F-4D97-AF65-F5344CB8AC3E}">
        <p14:creationId xmlns:p14="http://schemas.microsoft.com/office/powerpoint/2010/main" val="1470181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14</a:t>
            </a:fld>
            <a:endParaRPr lang="en-US"/>
          </a:p>
        </p:txBody>
      </p:sp>
    </p:spTree>
    <p:extLst>
      <p:ext uri="{BB962C8B-B14F-4D97-AF65-F5344CB8AC3E}">
        <p14:creationId xmlns:p14="http://schemas.microsoft.com/office/powerpoint/2010/main" val="1057200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15</a:t>
            </a:fld>
            <a:endParaRPr lang="en-US"/>
          </a:p>
        </p:txBody>
      </p:sp>
    </p:spTree>
    <p:extLst>
      <p:ext uri="{BB962C8B-B14F-4D97-AF65-F5344CB8AC3E}">
        <p14:creationId xmlns:p14="http://schemas.microsoft.com/office/powerpoint/2010/main" val="3307762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16</a:t>
            </a:fld>
            <a:endParaRPr lang="en-US"/>
          </a:p>
        </p:txBody>
      </p:sp>
    </p:spTree>
    <p:extLst>
      <p:ext uri="{BB962C8B-B14F-4D97-AF65-F5344CB8AC3E}">
        <p14:creationId xmlns:p14="http://schemas.microsoft.com/office/powerpoint/2010/main" val="3682732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17</a:t>
            </a:fld>
            <a:endParaRPr lang="en-US"/>
          </a:p>
        </p:txBody>
      </p:sp>
    </p:spTree>
    <p:extLst>
      <p:ext uri="{BB962C8B-B14F-4D97-AF65-F5344CB8AC3E}">
        <p14:creationId xmlns:p14="http://schemas.microsoft.com/office/powerpoint/2010/main" val="1929385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18</a:t>
            </a:fld>
            <a:endParaRPr lang="en-US"/>
          </a:p>
        </p:txBody>
      </p:sp>
    </p:spTree>
    <p:extLst>
      <p:ext uri="{BB962C8B-B14F-4D97-AF65-F5344CB8AC3E}">
        <p14:creationId xmlns:p14="http://schemas.microsoft.com/office/powerpoint/2010/main" val="211050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19</a:t>
            </a:fld>
            <a:endParaRPr lang="en-US"/>
          </a:p>
        </p:txBody>
      </p:sp>
    </p:spTree>
    <p:extLst>
      <p:ext uri="{BB962C8B-B14F-4D97-AF65-F5344CB8AC3E}">
        <p14:creationId xmlns:p14="http://schemas.microsoft.com/office/powerpoint/2010/main" val="2438189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20</a:t>
            </a:fld>
            <a:endParaRPr lang="en-US"/>
          </a:p>
        </p:txBody>
      </p:sp>
    </p:spTree>
    <p:extLst>
      <p:ext uri="{BB962C8B-B14F-4D97-AF65-F5344CB8AC3E}">
        <p14:creationId xmlns:p14="http://schemas.microsoft.com/office/powerpoint/2010/main" val="2805773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21</a:t>
            </a:fld>
            <a:endParaRPr lang="en-US"/>
          </a:p>
        </p:txBody>
      </p:sp>
    </p:spTree>
    <p:extLst>
      <p:ext uri="{BB962C8B-B14F-4D97-AF65-F5344CB8AC3E}">
        <p14:creationId xmlns:p14="http://schemas.microsoft.com/office/powerpoint/2010/main" val="31909394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22</a:t>
            </a:fld>
            <a:endParaRPr lang="en-US"/>
          </a:p>
        </p:txBody>
      </p:sp>
    </p:spTree>
    <p:extLst>
      <p:ext uri="{BB962C8B-B14F-4D97-AF65-F5344CB8AC3E}">
        <p14:creationId xmlns:p14="http://schemas.microsoft.com/office/powerpoint/2010/main" val="3031389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23</a:t>
            </a:fld>
            <a:endParaRPr lang="en-US"/>
          </a:p>
        </p:txBody>
      </p:sp>
    </p:spTree>
    <p:extLst>
      <p:ext uri="{BB962C8B-B14F-4D97-AF65-F5344CB8AC3E}">
        <p14:creationId xmlns:p14="http://schemas.microsoft.com/office/powerpoint/2010/main" val="3684186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24</a:t>
            </a:fld>
            <a:endParaRPr lang="en-US"/>
          </a:p>
        </p:txBody>
      </p:sp>
    </p:spTree>
    <p:extLst>
      <p:ext uri="{BB962C8B-B14F-4D97-AF65-F5344CB8AC3E}">
        <p14:creationId xmlns:p14="http://schemas.microsoft.com/office/powerpoint/2010/main" val="1463940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25</a:t>
            </a:fld>
            <a:endParaRPr lang="en-US"/>
          </a:p>
        </p:txBody>
      </p:sp>
    </p:spTree>
    <p:extLst>
      <p:ext uri="{BB962C8B-B14F-4D97-AF65-F5344CB8AC3E}">
        <p14:creationId xmlns:p14="http://schemas.microsoft.com/office/powerpoint/2010/main" val="41856620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26</a:t>
            </a:fld>
            <a:endParaRPr lang="en-US"/>
          </a:p>
        </p:txBody>
      </p:sp>
    </p:spTree>
    <p:extLst>
      <p:ext uri="{BB962C8B-B14F-4D97-AF65-F5344CB8AC3E}">
        <p14:creationId xmlns:p14="http://schemas.microsoft.com/office/powerpoint/2010/main" val="3162794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27</a:t>
            </a:fld>
            <a:endParaRPr lang="en-US"/>
          </a:p>
        </p:txBody>
      </p:sp>
    </p:spTree>
    <p:extLst>
      <p:ext uri="{BB962C8B-B14F-4D97-AF65-F5344CB8AC3E}">
        <p14:creationId xmlns:p14="http://schemas.microsoft.com/office/powerpoint/2010/main" val="697442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28</a:t>
            </a:fld>
            <a:endParaRPr lang="en-US"/>
          </a:p>
        </p:txBody>
      </p:sp>
    </p:spTree>
    <p:extLst>
      <p:ext uri="{BB962C8B-B14F-4D97-AF65-F5344CB8AC3E}">
        <p14:creationId xmlns:p14="http://schemas.microsoft.com/office/powerpoint/2010/main" val="532447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29</a:t>
            </a:fld>
            <a:endParaRPr lang="en-US"/>
          </a:p>
        </p:txBody>
      </p:sp>
    </p:spTree>
    <p:extLst>
      <p:ext uri="{BB962C8B-B14F-4D97-AF65-F5344CB8AC3E}">
        <p14:creationId xmlns:p14="http://schemas.microsoft.com/office/powerpoint/2010/main" val="4284479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30</a:t>
            </a:fld>
            <a:endParaRPr lang="en-US"/>
          </a:p>
        </p:txBody>
      </p:sp>
    </p:spTree>
    <p:extLst>
      <p:ext uri="{BB962C8B-B14F-4D97-AF65-F5344CB8AC3E}">
        <p14:creationId xmlns:p14="http://schemas.microsoft.com/office/powerpoint/2010/main" val="3238181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31</a:t>
            </a:fld>
            <a:endParaRPr lang="en-US"/>
          </a:p>
        </p:txBody>
      </p:sp>
    </p:spTree>
    <p:extLst>
      <p:ext uri="{BB962C8B-B14F-4D97-AF65-F5344CB8AC3E}">
        <p14:creationId xmlns:p14="http://schemas.microsoft.com/office/powerpoint/2010/main" val="35487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32</a:t>
            </a:fld>
            <a:endParaRPr lang="en-US"/>
          </a:p>
        </p:txBody>
      </p:sp>
    </p:spTree>
    <p:extLst>
      <p:ext uri="{BB962C8B-B14F-4D97-AF65-F5344CB8AC3E}">
        <p14:creationId xmlns:p14="http://schemas.microsoft.com/office/powerpoint/2010/main" val="6404230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33</a:t>
            </a:fld>
            <a:endParaRPr lang="en-US"/>
          </a:p>
        </p:txBody>
      </p:sp>
    </p:spTree>
    <p:extLst>
      <p:ext uri="{BB962C8B-B14F-4D97-AF65-F5344CB8AC3E}">
        <p14:creationId xmlns:p14="http://schemas.microsoft.com/office/powerpoint/2010/main" val="1145531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34</a:t>
            </a:fld>
            <a:endParaRPr lang="en-US"/>
          </a:p>
        </p:txBody>
      </p:sp>
    </p:spTree>
    <p:extLst>
      <p:ext uri="{BB962C8B-B14F-4D97-AF65-F5344CB8AC3E}">
        <p14:creationId xmlns:p14="http://schemas.microsoft.com/office/powerpoint/2010/main" val="42078303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35</a:t>
            </a:fld>
            <a:endParaRPr lang="en-US"/>
          </a:p>
        </p:txBody>
      </p:sp>
    </p:spTree>
    <p:extLst>
      <p:ext uri="{BB962C8B-B14F-4D97-AF65-F5344CB8AC3E}">
        <p14:creationId xmlns:p14="http://schemas.microsoft.com/office/powerpoint/2010/main" val="7029212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36</a:t>
            </a:fld>
            <a:endParaRPr lang="en-US"/>
          </a:p>
        </p:txBody>
      </p:sp>
    </p:spTree>
    <p:extLst>
      <p:ext uri="{BB962C8B-B14F-4D97-AF65-F5344CB8AC3E}">
        <p14:creationId xmlns:p14="http://schemas.microsoft.com/office/powerpoint/2010/main" val="3795634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37</a:t>
            </a:fld>
            <a:endParaRPr lang="en-US"/>
          </a:p>
        </p:txBody>
      </p:sp>
    </p:spTree>
    <p:extLst>
      <p:ext uri="{BB962C8B-B14F-4D97-AF65-F5344CB8AC3E}">
        <p14:creationId xmlns:p14="http://schemas.microsoft.com/office/powerpoint/2010/main" val="31434078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38</a:t>
            </a:fld>
            <a:endParaRPr lang="en-US"/>
          </a:p>
        </p:txBody>
      </p:sp>
    </p:spTree>
    <p:extLst>
      <p:ext uri="{BB962C8B-B14F-4D97-AF65-F5344CB8AC3E}">
        <p14:creationId xmlns:p14="http://schemas.microsoft.com/office/powerpoint/2010/main" val="1674114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39</a:t>
            </a:fld>
            <a:endParaRPr lang="en-US"/>
          </a:p>
        </p:txBody>
      </p:sp>
    </p:spTree>
    <p:extLst>
      <p:ext uri="{BB962C8B-B14F-4D97-AF65-F5344CB8AC3E}">
        <p14:creationId xmlns:p14="http://schemas.microsoft.com/office/powerpoint/2010/main" val="19188953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40</a:t>
            </a:fld>
            <a:endParaRPr lang="en-US"/>
          </a:p>
        </p:txBody>
      </p:sp>
    </p:spTree>
    <p:extLst>
      <p:ext uri="{BB962C8B-B14F-4D97-AF65-F5344CB8AC3E}">
        <p14:creationId xmlns:p14="http://schemas.microsoft.com/office/powerpoint/2010/main" val="10209220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41</a:t>
            </a:fld>
            <a:endParaRPr lang="en-US"/>
          </a:p>
        </p:txBody>
      </p:sp>
    </p:spTree>
    <p:extLst>
      <p:ext uri="{BB962C8B-B14F-4D97-AF65-F5344CB8AC3E}">
        <p14:creationId xmlns:p14="http://schemas.microsoft.com/office/powerpoint/2010/main" val="36483275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42</a:t>
            </a:fld>
            <a:endParaRPr lang="en-US"/>
          </a:p>
        </p:txBody>
      </p:sp>
    </p:spTree>
    <p:extLst>
      <p:ext uri="{BB962C8B-B14F-4D97-AF65-F5344CB8AC3E}">
        <p14:creationId xmlns:p14="http://schemas.microsoft.com/office/powerpoint/2010/main" val="28679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644169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292476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29F8D91E-FFF0-45B5-AFE0-22E101FDFDBC}"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064676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29F8D91E-FFF0-45B5-AFE0-22E101FDFDBC}"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69975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9F8D91E-FFF0-45B5-AFE0-22E101FDFDBC}"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67919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9F8D91E-FFF0-45B5-AFE0-22E101FDFDBC}"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383292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F8D91E-FFF0-45B5-AFE0-22E101FDFDBC}"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83120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9F8D91E-FFF0-45B5-AFE0-22E101FDFDBC}"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41881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9F8D91E-FFF0-45B5-AFE0-22E101FDFDBC}"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3475564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539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797776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8D91E-FFF0-45B5-AFE0-22E101FDFDBC}" type="datetimeFigureOut">
              <a:rPr lang="en-US" smtClean="0"/>
              <a:t>4/22/2026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94ABB8-7B63-458F-BB16-CC14DE560834}" type="slidenum">
              <a:rPr lang="en-US" smtClean="0"/>
              <a:t>‹#›</a:t>
            </a:fld>
            <a:endParaRPr lang="en-US"/>
          </a:p>
        </p:txBody>
      </p:sp>
    </p:spTree>
    <p:extLst>
      <p:ext uri="{BB962C8B-B14F-4D97-AF65-F5344CB8AC3E}">
        <p14:creationId xmlns:p14="http://schemas.microsoft.com/office/powerpoint/2010/main" val="8515745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0.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42.png"/><Relationship Id="rId7" Type="http://schemas.openxmlformats.org/officeDocument/2006/relationships/image" Target="../media/image240.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0.png"/></Relationships>
</file>

<file path=ppt/slides/_rels/slide21.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42.png"/><Relationship Id="rId7" Type="http://schemas.openxmlformats.org/officeDocument/2006/relationships/image" Target="../media/image43.e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0.png"/><Relationship Id="rId9" Type="http://schemas.openxmlformats.org/officeDocument/2006/relationships/image" Target="../media/image45.emf"/></Relationships>
</file>

<file path=ppt/slides/_rels/slide22.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42.png"/><Relationship Id="rId7" Type="http://schemas.openxmlformats.org/officeDocument/2006/relationships/image" Target="../media/image24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452A146-20B8-4FD8-A214-319B3897D56E}"/>
              </a:ext>
            </a:extLst>
          </p:cNvPr>
          <p:cNvSpPr txBox="1"/>
          <p:nvPr/>
        </p:nvSpPr>
        <p:spPr>
          <a:xfrm>
            <a:off x="375658" y="246221"/>
            <a:ext cx="8392682" cy="523220"/>
          </a:xfrm>
          <a:prstGeom prst="rect">
            <a:avLst/>
          </a:prstGeom>
          <a:noFill/>
        </p:spPr>
        <p:txBody>
          <a:bodyPr wrap="square">
            <a:spAutoFit/>
          </a:bodyPr>
          <a:lstStyle/>
          <a:p>
            <a:pPr algn="ctr"/>
            <a:r>
              <a:rPr lang="en-US" sz="2800" b="1" dirty="0">
                <a:latin typeface="Microsoft YaHei UI" panose="020B0503020204020204" pitchFamily="34" charset="-122"/>
                <a:ea typeface="Microsoft YaHei UI" panose="020B0503020204020204" pitchFamily="34" charset="-122"/>
              </a:rPr>
              <a:t>Scientific Machine Learning</a:t>
            </a:r>
          </a:p>
        </p:txBody>
      </p:sp>
      <p:pic>
        <p:nvPicPr>
          <p:cNvPr id="9" name="图片 8">
            <a:extLst>
              <a:ext uri="{FF2B5EF4-FFF2-40B4-BE49-F238E27FC236}">
                <a16:creationId xmlns:a16="http://schemas.microsoft.com/office/drawing/2014/main" id="{382D0D78-D0B9-403E-B5AC-66E83F5AC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6207" y="155558"/>
            <a:ext cx="973866" cy="704544"/>
          </a:xfrm>
          <a:prstGeom prst="rect">
            <a:avLst/>
          </a:prstGeom>
        </p:spPr>
      </p:pic>
      <p:pic>
        <p:nvPicPr>
          <p:cNvPr id="6" name="图片 5">
            <a:extLst>
              <a:ext uri="{FF2B5EF4-FFF2-40B4-BE49-F238E27FC236}">
                <a16:creationId xmlns:a16="http://schemas.microsoft.com/office/drawing/2014/main" id="{C72604B1-DFD6-4A0E-BA4B-23A06DBE5369}"/>
              </a:ext>
            </a:extLst>
          </p:cNvPr>
          <p:cNvPicPr>
            <a:picLocks noChangeAspect="1"/>
          </p:cNvPicPr>
          <p:nvPr/>
        </p:nvPicPr>
        <p:blipFill rotWithShape="1">
          <a:blip r:embed="rId4">
            <a:extLst>
              <a:ext uri="{28A0092B-C50C-407E-A947-70E740481C1C}">
                <a14:useLocalDpi xmlns:a14="http://schemas.microsoft.com/office/drawing/2010/main" val="0"/>
              </a:ext>
            </a:extLst>
          </a:blip>
          <a:srcRect t="3925" r="82409"/>
          <a:stretch/>
        </p:blipFill>
        <p:spPr>
          <a:xfrm>
            <a:off x="992586" y="37675"/>
            <a:ext cx="893400" cy="940311"/>
          </a:xfrm>
          <a:prstGeom prst="rect">
            <a:avLst/>
          </a:prstGeom>
        </p:spPr>
      </p:pic>
      <p:sp>
        <p:nvSpPr>
          <p:cNvPr id="8" name="文本框 7">
            <a:extLst>
              <a:ext uri="{FF2B5EF4-FFF2-40B4-BE49-F238E27FC236}">
                <a16:creationId xmlns:a16="http://schemas.microsoft.com/office/drawing/2014/main" id="{6B7CEB32-1021-4218-A4D5-F1083BF5322E}"/>
              </a:ext>
            </a:extLst>
          </p:cNvPr>
          <p:cNvSpPr txBox="1"/>
          <p:nvPr/>
        </p:nvSpPr>
        <p:spPr>
          <a:xfrm>
            <a:off x="629265" y="1784198"/>
            <a:ext cx="8239432" cy="954107"/>
          </a:xfrm>
          <a:prstGeom prst="rect">
            <a:avLst/>
          </a:prstGeom>
          <a:noFill/>
        </p:spPr>
        <p:txBody>
          <a:bodyPr wrap="square" rtlCol="0">
            <a:spAutoFit/>
          </a:bodyPr>
          <a:lstStyle/>
          <a:p>
            <a:pPr algn="ctr"/>
            <a:r>
              <a:rPr lang="en-US" altLang="zh-CN" sz="2800" b="1" dirty="0">
                <a:solidFill>
                  <a:srgbClr val="C00000"/>
                </a:solidFill>
                <a:latin typeface="Times New Roman" panose="02020603050405020304" pitchFamily="18" charset="0"/>
                <a:cs typeface="Times New Roman" panose="02020603050405020304" pitchFamily="18" charset="0"/>
              </a:rPr>
              <a:t>Lecture 12:</a:t>
            </a:r>
            <a:r>
              <a:rPr lang="zh-CN" altLang="en-US" sz="2800" b="1" dirty="0">
                <a:solidFill>
                  <a:srgbClr val="C00000"/>
                </a:solidFill>
                <a:latin typeface="Times New Roman" panose="02020603050405020304" pitchFamily="18" charset="0"/>
                <a:cs typeface="Times New Roman" panose="02020603050405020304" pitchFamily="18" charset="0"/>
              </a:rPr>
              <a:t> </a:t>
            </a:r>
            <a:r>
              <a:rPr lang="en-US" altLang="zh-CN" sz="2800" b="1" dirty="0">
                <a:solidFill>
                  <a:srgbClr val="C00000"/>
                </a:solidFill>
                <a:latin typeface="Times New Roman" panose="02020603050405020304" pitchFamily="18" charset="0"/>
                <a:cs typeface="Times New Roman" panose="02020603050405020304" pitchFamily="18" charset="0"/>
              </a:rPr>
              <a:t>Learning numerical schemes for PDEs via deep learning</a:t>
            </a:r>
          </a:p>
        </p:txBody>
      </p:sp>
      <p:sp>
        <p:nvSpPr>
          <p:cNvPr id="11" name="文本框 10">
            <a:extLst>
              <a:ext uri="{FF2B5EF4-FFF2-40B4-BE49-F238E27FC236}">
                <a16:creationId xmlns:a16="http://schemas.microsoft.com/office/drawing/2014/main" id="{256BF80A-5EF6-4539-ACB8-DA297CF81EAA}"/>
              </a:ext>
            </a:extLst>
          </p:cNvPr>
          <p:cNvSpPr txBox="1"/>
          <p:nvPr/>
        </p:nvSpPr>
        <p:spPr>
          <a:xfrm>
            <a:off x="629265" y="3137509"/>
            <a:ext cx="7885471" cy="369332"/>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孟旭辉</a:t>
            </a:r>
          </a:p>
        </p:txBody>
      </p:sp>
      <p:sp>
        <p:nvSpPr>
          <p:cNvPr id="16" name="文本框 15">
            <a:extLst>
              <a:ext uri="{FF2B5EF4-FFF2-40B4-BE49-F238E27FC236}">
                <a16:creationId xmlns:a16="http://schemas.microsoft.com/office/drawing/2014/main" id="{A6126DFE-D15F-47B5-9240-27C4587C9024}"/>
              </a:ext>
            </a:extLst>
          </p:cNvPr>
          <p:cNvSpPr txBox="1"/>
          <p:nvPr/>
        </p:nvSpPr>
        <p:spPr>
          <a:xfrm>
            <a:off x="629265" y="3648390"/>
            <a:ext cx="7885471" cy="369332"/>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数学与统计学院数学与应用学科交叉创新研究院</a:t>
            </a:r>
          </a:p>
        </p:txBody>
      </p:sp>
      <p:sp>
        <p:nvSpPr>
          <p:cNvPr id="18" name="文本框 17">
            <a:extLst>
              <a:ext uri="{FF2B5EF4-FFF2-40B4-BE49-F238E27FC236}">
                <a16:creationId xmlns:a16="http://schemas.microsoft.com/office/drawing/2014/main" id="{9B9D2569-83C5-47AE-B0C1-B755D485CBD5}"/>
              </a:ext>
            </a:extLst>
          </p:cNvPr>
          <p:cNvSpPr txBox="1"/>
          <p:nvPr/>
        </p:nvSpPr>
        <p:spPr>
          <a:xfrm>
            <a:off x="629265" y="4213821"/>
            <a:ext cx="7885471" cy="923330"/>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办公室：东</a:t>
            </a:r>
            <a:r>
              <a:rPr lang="en-US" altLang="zh-CN" b="1" dirty="0">
                <a:solidFill>
                  <a:srgbClr val="0000FF"/>
                </a:solidFill>
                <a:latin typeface="华文楷体" panose="02010600040101010101" pitchFamily="2" charset="-122"/>
                <a:ea typeface="华文楷体" panose="02010600040101010101" pitchFamily="2" charset="-122"/>
              </a:rPr>
              <a:t>32</a:t>
            </a:r>
            <a:r>
              <a:rPr lang="zh-CN" altLang="en-US" b="1" dirty="0">
                <a:solidFill>
                  <a:srgbClr val="0000FF"/>
                </a:solidFill>
                <a:latin typeface="华文楷体" panose="02010600040101010101" pitchFamily="2" charset="-122"/>
                <a:ea typeface="华文楷体" panose="02010600040101010101" pitchFamily="2" charset="-122"/>
              </a:rPr>
              <a:t>楼</a:t>
            </a:r>
            <a:r>
              <a:rPr lang="en-US" altLang="zh-CN" b="1" dirty="0">
                <a:solidFill>
                  <a:srgbClr val="0000FF"/>
                </a:solidFill>
                <a:latin typeface="华文楷体" panose="02010600040101010101" pitchFamily="2" charset="-122"/>
                <a:ea typeface="华文楷体" panose="02010600040101010101" pitchFamily="2" charset="-122"/>
              </a:rPr>
              <a:t>111</a:t>
            </a:r>
            <a:r>
              <a:rPr lang="zh-CN" altLang="en-US" b="1" dirty="0">
                <a:solidFill>
                  <a:srgbClr val="0000FF"/>
                </a:solidFill>
                <a:latin typeface="华文楷体" panose="02010600040101010101" pitchFamily="2" charset="-122"/>
                <a:ea typeface="华文楷体" panose="02010600040101010101" pitchFamily="2" charset="-122"/>
              </a:rPr>
              <a:t>室</a:t>
            </a:r>
            <a:endParaRPr lang="en-US" altLang="zh-CN" b="1" dirty="0">
              <a:solidFill>
                <a:srgbClr val="0000FF"/>
              </a:solidFill>
              <a:latin typeface="华文楷体" panose="02010600040101010101" pitchFamily="2" charset="-122"/>
              <a:ea typeface="华文楷体" panose="02010600040101010101" pitchFamily="2" charset="-122"/>
            </a:endParaRPr>
          </a:p>
          <a:p>
            <a:pPr algn="ctr"/>
            <a:endParaRPr lang="en-US" altLang="zh-CN" b="1" dirty="0">
              <a:solidFill>
                <a:srgbClr val="0000FF"/>
              </a:solidFill>
              <a:latin typeface="华文楷体" panose="02010600040101010101" pitchFamily="2" charset="-122"/>
              <a:ea typeface="华文楷体" panose="02010600040101010101" pitchFamily="2" charset="-122"/>
            </a:endParaRPr>
          </a:p>
          <a:p>
            <a:pPr algn="ctr"/>
            <a:r>
              <a:rPr lang="en-US" altLang="zh-CN" b="1" dirty="0">
                <a:solidFill>
                  <a:srgbClr val="0000FF"/>
                </a:solidFill>
                <a:latin typeface="华文楷体" panose="02010600040101010101" pitchFamily="2" charset="-122"/>
                <a:ea typeface="华文楷体" panose="02010600040101010101" pitchFamily="2" charset="-122"/>
              </a:rPr>
              <a:t>Email</a:t>
            </a:r>
            <a:r>
              <a:rPr lang="zh-CN" altLang="en-US" b="1" dirty="0">
                <a:solidFill>
                  <a:srgbClr val="0000FF"/>
                </a:solidFill>
                <a:latin typeface="华文楷体" panose="02010600040101010101" pitchFamily="2" charset="-122"/>
                <a:ea typeface="华文楷体" panose="02010600040101010101" pitchFamily="2" charset="-122"/>
              </a:rPr>
              <a:t>：</a:t>
            </a:r>
            <a:r>
              <a:rPr lang="en-US" altLang="zh-CN" b="1" dirty="0">
                <a:solidFill>
                  <a:srgbClr val="0000FF"/>
                </a:solidFill>
                <a:latin typeface="华文楷体" panose="02010600040101010101" pitchFamily="2" charset="-122"/>
                <a:ea typeface="华文楷体" panose="02010600040101010101" pitchFamily="2" charset="-122"/>
              </a:rPr>
              <a:t>xuhui_meng@hust.edu.cn</a:t>
            </a:r>
          </a:p>
        </p:txBody>
      </p:sp>
      <p:sp>
        <p:nvSpPr>
          <p:cNvPr id="2" name="矩形 1">
            <a:extLst>
              <a:ext uri="{FF2B5EF4-FFF2-40B4-BE49-F238E27FC236}">
                <a16:creationId xmlns:a16="http://schemas.microsoft.com/office/drawing/2014/main" id="{11361427-37D8-46C8-9C84-F47E163DF02A}"/>
              </a:ext>
            </a:extLst>
          </p:cNvPr>
          <p:cNvSpPr/>
          <p:nvPr/>
        </p:nvSpPr>
        <p:spPr>
          <a:xfrm>
            <a:off x="2497488" y="5505133"/>
            <a:ext cx="4149021" cy="369332"/>
          </a:xfrm>
          <a:prstGeom prst="rect">
            <a:avLst/>
          </a:prstGeom>
        </p:spPr>
        <p:txBody>
          <a:bodyPr wrap="none">
            <a:spAutoFit/>
          </a:bodyPr>
          <a:lstStyle/>
          <a:p>
            <a:r>
              <a:rPr lang="zh-CN" altLang="en-US" i="1" dirty="0">
                <a:solidFill>
                  <a:srgbClr val="C00000"/>
                </a:solidFill>
                <a:latin typeface="Times New Roman" panose="02020603050405020304" pitchFamily="18" charset="0"/>
                <a:cs typeface="Times New Roman" panose="02020603050405020304" pitchFamily="18" charset="0"/>
              </a:rPr>
              <a:t>https://github.com/XuhuiM/SciML-Course</a:t>
            </a:r>
          </a:p>
        </p:txBody>
      </p:sp>
    </p:spTree>
    <p:extLst>
      <p:ext uri="{BB962C8B-B14F-4D97-AF65-F5344CB8AC3E}">
        <p14:creationId xmlns:p14="http://schemas.microsoft.com/office/powerpoint/2010/main" val="605082213"/>
      </p:ext>
    </p:extLst>
  </p:cSld>
  <p:clrMapOvr>
    <a:masterClrMapping/>
  </p:clrMapOvr>
  <mc:AlternateContent xmlns:mc="http://schemas.openxmlformats.org/markup-compatibility/2006" xmlns:p14="http://schemas.microsoft.com/office/powerpoint/2010/main">
    <mc:Choice Requires="p14">
      <p:transition spd="slow" p14:dur="2000" advTm="12659"/>
    </mc:Choice>
    <mc:Fallback xmlns="">
      <p:transition spd="slow" advTm="126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PINN variants</a:t>
            </a:r>
          </a:p>
        </p:txBody>
      </p:sp>
      <p:sp>
        <p:nvSpPr>
          <p:cNvPr id="6" name="TextBox 1">
            <a:extLst>
              <a:ext uri="{FF2B5EF4-FFF2-40B4-BE49-F238E27FC236}">
                <a16:creationId xmlns:a16="http://schemas.microsoft.com/office/drawing/2014/main" id="{FFC00AB6-5D0D-81D2-7F9E-912A594BA98C}"/>
              </a:ext>
            </a:extLst>
          </p:cNvPr>
          <p:cNvSpPr txBox="1"/>
          <p:nvPr/>
        </p:nvSpPr>
        <p:spPr>
          <a:xfrm>
            <a:off x="625465" y="1418096"/>
            <a:ext cx="8168647" cy="402180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35719" tIns="35719" rIns="35719" bIns="35719" numCol="1" spcCol="38100" rtlCol="0" anchor="ctr">
            <a:spAutoFit/>
          </a:bodyPr>
          <a:lstStyle/>
          <a:p>
            <a:pPr marL="0" marR="0" lvl="0" indent="0" algn="l" defTabSz="410730" rtl="0" eaLnBrk="1" fontAlgn="auto" latinLnBrk="1" hangingPunct="0">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srgbClr val="000000"/>
                </a:solidFill>
                <a:effectLst/>
                <a:uLnTx/>
                <a:uFillTx/>
                <a:latin typeface="Trebuchet MS"/>
                <a:ea typeface="+mn-ea"/>
                <a:cs typeface="+mn-cs"/>
              </a:rPr>
              <a:t>An Alphabet of </a:t>
            </a:r>
            <a:r>
              <a:rPr kumimoji="0" lang="en-US" sz="2800" b="1" i="0" u="sng" strike="noStrike" kern="1200" cap="none" spc="0" normalizeH="0" baseline="0" noProof="0" dirty="0">
                <a:ln>
                  <a:noFill/>
                </a:ln>
                <a:solidFill>
                  <a:srgbClr val="FF0000"/>
                </a:solidFill>
                <a:effectLst/>
                <a:uLnTx/>
                <a:uFillTx/>
                <a:latin typeface="Trebuchet MS"/>
                <a:ea typeface="+mn-ea"/>
                <a:cs typeface="+mn-cs"/>
              </a:rPr>
              <a:t>PINNs </a:t>
            </a:r>
            <a:r>
              <a:rPr kumimoji="0" lang="en-US" sz="1687" b="1" i="0" u="sng" strike="noStrike" kern="1200" cap="none" spc="0" normalizeH="0" baseline="0" noProof="0" dirty="0">
                <a:ln>
                  <a:noFill/>
                </a:ln>
                <a:solidFill>
                  <a:srgbClr val="FFFFFF"/>
                </a:solidFill>
                <a:effectLst/>
                <a:uLnTx/>
                <a:uFillTx/>
                <a:latin typeface="Trebuchet MS"/>
                <a:ea typeface="+mn-ea"/>
                <a:cs typeface="+mn-cs"/>
              </a:rPr>
              <a:t>aper in Nature Physics Reviews, June 2021)</a:t>
            </a:r>
            <a:endParaRPr kumimoji="0" lang="en-US" sz="1687" b="1" i="0" u="none" strike="noStrike" kern="1200" cap="none" spc="0" normalizeH="0" baseline="0" noProof="0" dirty="0">
              <a:ln>
                <a:noFill/>
              </a:ln>
              <a:solidFill>
                <a:srgbClr val="FFFFFF"/>
              </a:solidFill>
              <a:effectLst/>
              <a:uLnTx/>
              <a:uFillTx/>
              <a:latin typeface="Trebuchet MS"/>
              <a:ea typeface="+mn-ea"/>
              <a:cs typeface="+mn-cs"/>
            </a:endParaRPr>
          </a:p>
          <a:p>
            <a:pPr marL="0" marR="0" lvl="0" indent="0" algn="l" defTabSz="410730" rtl="0" eaLnBrk="1" fontAlgn="auto" latinLnBrk="1" hangingPunct="0">
              <a:lnSpc>
                <a:spcPct val="100000"/>
              </a:lnSpc>
              <a:spcBef>
                <a:spcPts val="0"/>
              </a:spcBef>
              <a:spcAft>
                <a:spcPts val="0"/>
              </a:spcAft>
              <a:buClrTx/>
              <a:buSzTx/>
              <a:buFontTx/>
              <a:buNone/>
              <a:tabLst/>
              <a:defRPr/>
            </a:pPr>
            <a:endParaRPr kumimoji="0" lang="en-US" sz="1266" b="1" i="0" u="none" strike="noStrike" kern="1200" cap="none" spc="0" normalizeH="0" baseline="0" noProof="0" dirty="0">
              <a:ln>
                <a:noFill/>
              </a:ln>
              <a:solidFill>
                <a:srgbClr val="000000"/>
              </a:solidFill>
              <a:effectLst/>
              <a:uLnTx/>
              <a:uFillTx/>
              <a:latin typeface="Trebuchet MS"/>
              <a:ea typeface="+mn-ea"/>
              <a:cs typeface="+mn-cs"/>
            </a:endParaRP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0070C0"/>
                </a:solidFill>
                <a:effectLst/>
                <a:uLnTx/>
                <a:uFillTx/>
                <a:latin typeface="Comic Sans MS" panose="030F0702030302020204" pitchFamily="66" charset="0"/>
                <a:ea typeface="+mn-ea"/>
                <a:cs typeface="+mn-cs"/>
              </a:rPr>
              <a:t>vPINNs</a:t>
            </a:r>
            <a:r>
              <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/hp-</a:t>
            </a:r>
            <a:r>
              <a:rPr kumimoji="0" lang="en-US" sz="2400" b="1" i="0" u="none" strike="noStrike" kern="1200" cap="none" spc="0" normalizeH="0" baseline="0" noProof="0" dirty="0" err="1">
                <a:ln>
                  <a:noFill/>
                </a:ln>
                <a:solidFill>
                  <a:srgbClr val="0070C0"/>
                </a:solidFill>
                <a:effectLst/>
                <a:uLnTx/>
                <a:uFillTx/>
                <a:latin typeface="Comic Sans MS" panose="030F0702030302020204" pitchFamily="66" charset="0"/>
                <a:ea typeface="+mn-ea"/>
                <a:cs typeface="+mn-cs"/>
              </a:rPr>
              <a:t>vPINNs</a:t>
            </a:r>
            <a:r>
              <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variational PINNs (Lecture 9)</a:t>
            </a: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endPar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endParaRP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0070C0"/>
                </a:solidFill>
                <a:effectLst/>
                <a:uLnTx/>
                <a:uFillTx/>
                <a:latin typeface="Comic Sans MS" panose="030F0702030302020204" pitchFamily="66" charset="0"/>
                <a:ea typeface="+mn-ea"/>
                <a:cs typeface="+mn-cs"/>
              </a:rPr>
              <a:t>gPINNs</a:t>
            </a:r>
            <a:r>
              <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gradient-enhanced PINNs</a:t>
            </a: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0070C0"/>
                </a:solidFill>
                <a:effectLst/>
                <a:uLnTx/>
                <a:uFillTx/>
                <a:latin typeface="Comic Sans MS" panose="030F0702030302020204" pitchFamily="66" charset="0"/>
                <a:ea typeface="+mn-ea"/>
                <a:cs typeface="+mn-cs"/>
              </a:rPr>
              <a:t>cPINNs</a:t>
            </a:r>
            <a:r>
              <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conservative PINNs</a:t>
            </a: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600000"/>
                </a:solidFill>
                <a:effectLst/>
                <a:uLnTx/>
                <a:uFillTx/>
                <a:latin typeface="Comic Sans MS" panose="030F0702030302020204" pitchFamily="66" charset="0"/>
                <a:ea typeface="+mn-ea"/>
                <a:cs typeface="+mn-cs"/>
              </a:rPr>
              <a:t>xPINNs</a:t>
            </a:r>
            <a:r>
              <a:rPr kumimoji="0" lang="en-US" sz="2400" b="1" i="0" u="none" strike="noStrike" kern="1200" cap="none" spc="0" normalizeH="0" baseline="0" noProof="0" dirty="0">
                <a:ln>
                  <a:noFill/>
                </a:ln>
                <a:solidFill>
                  <a:srgbClr val="600000"/>
                </a:solidFill>
                <a:effectLst/>
                <a:uLnTx/>
                <a:uFillTx/>
                <a:latin typeface="Comic Sans MS" panose="030F0702030302020204" pitchFamily="66" charset="0"/>
                <a:ea typeface="+mn-ea"/>
                <a:cs typeface="+mn-cs"/>
              </a:rPr>
              <a:t>: </a:t>
            </a:r>
            <a:r>
              <a:rPr kumimoji="0" lang="en-US" sz="2400" b="1" i="0" u="none" strike="noStrike" kern="1200" cap="none" spc="0" normalizeH="0" baseline="0" noProof="0" dirty="0" err="1">
                <a:ln>
                  <a:noFill/>
                </a:ln>
                <a:solidFill>
                  <a:srgbClr val="600000"/>
                </a:solidFill>
                <a:effectLst/>
                <a:uLnTx/>
                <a:uFillTx/>
                <a:latin typeface="Comic Sans MS" panose="030F0702030302020204" pitchFamily="66" charset="0"/>
                <a:ea typeface="+mn-ea"/>
                <a:cs typeface="+mn-cs"/>
              </a:rPr>
              <a:t>eXtended</a:t>
            </a:r>
            <a:r>
              <a:rPr kumimoji="0" lang="en-US" sz="2400" b="1" i="0" u="none" strike="noStrike" kern="1200" cap="none" spc="0" normalizeH="0" baseline="0" noProof="0" dirty="0">
                <a:ln>
                  <a:noFill/>
                </a:ln>
                <a:solidFill>
                  <a:srgbClr val="600000"/>
                </a:solidFill>
                <a:effectLst/>
                <a:uLnTx/>
                <a:uFillTx/>
                <a:latin typeface="Comic Sans MS" panose="030F0702030302020204" pitchFamily="66" charset="0"/>
                <a:ea typeface="+mn-ea"/>
                <a:cs typeface="+mn-cs"/>
              </a:rPr>
              <a:t> PINNs</a:t>
            </a:r>
            <a:endParaRPr kumimoji="0" lang="en-US" sz="2400" b="1"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endParaRP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00B050"/>
                </a:solidFill>
                <a:effectLst/>
                <a:uLnTx/>
                <a:uFillTx/>
                <a:latin typeface="Comic Sans MS" panose="030F0702030302020204" pitchFamily="66" charset="0"/>
                <a:ea typeface="+mn-ea"/>
                <a:cs typeface="+mn-cs"/>
              </a:rPr>
              <a:t>fPINNs</a:t>
            </a:r>
            <a:r>
              <a:rPr kumimoji="0" lang="en-US" sz="2400" b="1" i="0" u="none" strike="noStrike" kern="1200" cap="none" spc="0" normalizeH="0" baseline="0" noProof="0" dirty="0">
                <a:ln>
                  <a:noFill/>
                </a:ln>
                <a:solidFill>
                  <a:srgbClr val="00B050"/>
                </a:solidFill>
                <a:effectLst/>
                <a:uLnTx/>
                <a:uFillTx/>
                <a:latin typeface="Comic Sans MS" panose="030F0702030302020204" pitchFamily="66" charset="0"/>
                <a:ea typeface="+mn-ea"/>
                <a:cs typeface="+mn-cs"/>
              </a:rPr>
              <a:t>: fractional PINNs</a:t>
            </a: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err="1">
                <a:ln>
                  <a:noFill/>
                </a:ln>
                <a:solidFill>
                  <a:srgbClr val="FF0000"/>
                </a:solidFill>
                <a:effectLst/>
                <a:uLnTx/>
                <a:uFillTx/>
                <a:latin typeface="Comic Sans MS" panose="030F0702030302020204" pitchFamily="66" charset="0"/>
                <a:ea typeface="+mn-ea"/>
                <a:cs typeface="+mn-cs"/>
              </a:rPr>
              <a:t>sPINNs</a:t>
            </a:r>
            <a:r>
              <a:rPr kumimoji="0" lang="en-US" sz="2400" b="1"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 stochastic PINNs</a:t>
            </a: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endParaRPr kumimoji="0" lang="en-US" sz="2400" b="1" i="0" u="none" strike="noStrike" kern="1200" cap="none" spc="0" normalizeH="0" baseline="0" noProof="0" dirty="0">
              <a:ln>
                <a:noFill/>
              </a:ln>
              <a:solidFill>
                <a:srgbClr val="00B050"/>
              </a:solidFill>
              <a:effectLst/>
              <a:uLnTx/>
              <a:uFillTx/>
              <a:latin typeface="Comic Sans MS" panose="030F0702030302020204" pitchFamily="66" charset="0"/>
              <a:ea typeface="+mn-ea"/>
              <a:cs typeface="+mn-cs"/>
            </a:endParaRPr>
          </a:p>
          <a:p>
            <a:pPr marL="401801" marR="0" lvl="0" indent="-401801" algn="l" defTabSz="410730" rtl="0" eaLnBrk="1" fontAlgn="auto" latinLnBrk="1" hangingPunct="0">
              <a:lnSpc>
                <a:spcPct val="100000"/>
              </a:lnSpc>
              <a:spcBef>
                <a:spcPts val="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890C58">
                    <a:lumMod val="75000"/>
                  </a:srgbClr>
                </a:solidFill>
                <a:effectLst/>
                <a:uLnTx/>
                <a:uFillTx/>
                <a:latin typeface="Comic Sans MS" panose="030F0702030302020204" pitchFamily="66" charset="0"/>
                <a:ea typeface="+mn-ea"/>
                <a:cs typeface="+mn-cs"/>
              </a:rPr>
              <a:t>BPINNs: Bayesian PINNs …</a:t>
            </a:r>
          </a:p>
        </p:txBody>
      </p:sp>
    </p:spTree>
    <p:extLst>
      <p:ext uri="{BB962C8B-B14F-4D97-AF65-F5344CB8AC3E}">
        <p14:creationId xmlns:p14="http://schemas.microsoft.com/office/powerpoint/2010/main" val="2930185476"/>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3</a:t>
            </a:fld>
            <a:endParaRPr lang="en-US" sz="1350" dirty="0">
              <a:solidFill>
                <a:srgbClr val="FFFFFF"/>
              </a:solidFill>
              <a:latin typeface="Trebuchet MS"/>
            </a:endParaRPr>
          </a:p>
        </p:txBody>
      </p:sp>
      <p:pic>
        <p:nvPicPr>
          <p:cNvPr id="4" name="Picture 3">
            <a:extLst>
              <a:ext uri="{FF2B5EF4-FFF2-40B4-BE49-F238E27FC236}">
                <a16:creationId xmlns:a16="http://schemas.microsoft.com/office/drawing/2014/main" id="{89ADBB72-DAAA-4E09-9EDD-F6EBE394CACA}"/>
              </a:ext>
            </a:extLst>
          </p:cNvPr>
          <p:cNvPicPr>
            <a:picLocks noChangeAspect="1"/>
          </p:cNvPicPr>
          <p:nvPr/>
        </p:nvPicPr>
        <p:blipFill rotWithShape="1">
          <a:blip r:embed="rId4"/>
          <a:srcRect l="25376" t="9301" r="26051" b="64503"/>
          <a:stretch/>
        </p:blipFill>
        <p:spPr>
          <a:xfrm>
            <a:off x="4845776" y="1955246"/>
            <a:ext cx="4210440" cy="1700213"/>
          </a:xfrm>
          <a:prstGeom prst="rect">
            <a:avLst/>
          </a:prstGeom>
        </p:spPr>
      </p:pic>
      <p:pic>
        <p:nvPicPr>
          <p:cNvPr id="6" name="Picture 5" descr="Diagram&#10;&#10;Description automatically generated">
            <a:extLst>
              <a:ext uri="{FF2B5EF4-FFF2-40B4-BE49-F238E27FC236}">
                <a16:creationId xmlns:a16="http://schemas.microsoft.com/office/drawing/2014/main" id="{85A89996-82FE-4103-BD05-ADCF3E7537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097" y="1714585"/>
            <a:ext cx="4717679" cy="2638426"/>
          </a:xfrm>
          <a:prstGeom prst="rect">
            <a:avLst/>
          </a:prstGeom>
        </p:spPr>
      </p:pic>
      <p:pic>
        <p:nvPicPr>
          <p:cNvPr id="10" name="Picture 9" descr="\documentclass{article}&#10;\usepackage[a4paper, total={6in, 8in}]{geometry}&#10;\usepackage{amsmath}&#10;\usepackage{amssymb}&#10;\usepackage{xcolor}&#10;\usepackage{graphicx}&#10;&#10;\pagestyle{empty}&#10;\begin{document}&#10;&#10;&#10;\[ \mathcal{L}(\tilde{\Theta})=\frac{1}{N_{u}} \sum_{i=1}^{N_{u}}\left|u_{\text {target }}^{i}-u_{\tilde{\Theta}}\left(x_{i}^{u}\right)\right|^{2}+\frac{1}{N_{f}} \sum_{i=1}^{N_{f}}\left|\mathcal{F}_{\tilde{\Theta}}\left(x_{i}^{f}\right)\right|^{2}+\text { {\color{red}Interface Loss} } \]&#10;&#10;&#10;\end{document}&#10;" title="IguanaTex Bitmap Display">
            <a:extLst>
              <a:ext uri="{FF2B5EF4-FFF2-40B4-BE49-F238E27FC236}">
                <a16:creationId xmlns:a16="http://schemas.microsoft.com/office/drawing/2014/main" id="{66DB8E89-821E-4F01-9F61-ADFDDE43B964}"/>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482285" y="4677256"/>
            <a:ext cx="6179429" cy="573714"/>
          </a:xfrm>
          <a:prstGeom prst="rect">
            <a:avLst/>
          </a:prstGeom>
        </p:spPr>
      </p:pic>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PINNs with Domain Decomposition</a:t>
            </a:r>
          </a:p>
        </p:txBody>
      </p:sp>
    </p:spTree>
    <p:extLst>
      <p:ext uri="{BB962C8B-B14F-4D97-AF65-F5344CB8AC3E}">
        <p14:creationId xmlns:p14="http://schemas.microsoft.com/office/powerpoint/2010/main" val="35146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2DA246-5EBB-4F04-895B-9843A60AF2F7}"/>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4</a:t>
            </a:fld>
            <a:endParaRPr lang="en-US" sz="1350" dirty="0">
              <a:solidFill>
                <a:srgbClr val="FFFFFF"/>
              </a:solidFill>
              <a:latin typeface="Trebuchet MS"/>
            </a:endParaRPr>
          </a:p>
        </p:txBody>
      </p:sp>
      <p:pic>
        <p:nvPicPr>
          <p:cNvPr id="6" name="Picture 5" descr="\documentclass{article}&#10;\usepackage[a4paper, total={6in, 8in}]{geometry}&#10;\usepackage{amsmath}&#10;\usepackage{amssymb}&#10;\usepackage{xcolor}&#10;\usepackage{graphicx}&#10;&#10;\pagestyle{empty}&#10;\begin{document}&#10;&#10;&#10;\underline{cPINNs}: Interface conditions in the `` $q^{\text {th }}&quot;$ subdomain. \newline&#10;&#10;$\mathrm{MSE}_{\text {flux }}=\sum_{\forall q^{+}}\left(\frac{1}{N_{l_{q}}} \sum_{i=1}^{N_{l q}}\left|f_{q}\left(u\left(\mathbf{x}_{l_{q}}^{(i)}\right)\right) \cdot \mathbf{n}-f_{q^{+}}\left(u\left(\mathbf{x}_{l_{q}}^{(i)}\right) \cdot \mathbf{n}\right)\right|^{2}\right)$ \newline&#10;&#10;where $f$ is the flux and $q=1,2, \cdots, N_{s d}$.\newline&#10;&#10;$\operatorname{MSE}_{u_{\text {avg }}}=\sum_{\forall q^{+}}\left(\frac{1}{N_{l_{q}}} \sum_{i=1}^{N_{l_{q}}}\left|u_{\tilde{\Theta}_{q}}\left(\mathbf{x}_{l_{q}}^{(i)}\right)-\left\{\left\{u_{\tilde{\Theta}_{q}}\left(\mathbf{x}_{l_{q}}^{(i)}\right)\right\}\right\}\right|^{2}\right)$&#10;&#10;&#10;\end{document}&#10;" title="IguanaTex Bitmap Display">
            <a:extLst>
              <a:ext uri="{FF2B5EF4-FFF2-40B4-BE49-F238E27FC236}">
                <a16:creationId xmlns:a16="http://schemas.microsoft.com/office/drawing/2014/main" id="{8EE60A91-78A6-465A-87AB-9B984E42B8E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89812" y="1587858"/>
            <a:ext cx="5798858" cy="1841143"/>
          </a:xfrm>
          <a:prstGeom prst="rect">
            <a:avLst/>
          </a:prstGeom>
        </p:spPr>
      </p:pic>
      <p:pic>
        <p:nvPicPr>
          <p:cNvPr id="13" name="Picture 12" descr="Diagram&#10;&#10;Description automatically generated with medium confidence">
            <a:extLst>
              <a:ext uri="{FF2B5EF4-FFF2-40B4-BE49-F238E27FC236}">
                <a16:creationId xmlns:a16="http://schemas.microsoft.com/office/drawing/2014/main" id="{97FE3518-E043-4A69-88FE-B02B984D2C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7581" y="3570061"/>
            <a:ext cx="2014819" cy="1814766"/>
          </a:xfrm>
          <a:prstGeom prst="rect">
            <a:avLst/>
          </a:prstGeom>
        </p:spPr>
      </p:pic>
      <p:pic>
        <p:nvPicPr>
          <p:cNvPr id="15" name="Picture 14" descr="Diagram&#10;&#10;Description automatically generated">
            <a:extLst>
              <a:ext uri="{FF2B5EF4-FFF2-40B4-BE49-F238E27FC236}">
                <a16:creationId xmlns:a16="http://schemas.microsoft.com/office/drawing/2014/main" id="{76C0A240-DF28-4FAB-944F-8202E46E45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8150" y="3555772"/>
            <a:ext cx="2029109" cy="1829055"/>
          </a:xfrm>
          <a:prstGeom prst="rect">
            <a:avLst/>
          </a:prstGeom>
        </p:spPr>
      </p:pic>
      <p:sp>
        <p:nvSpPr>
          <p:cNvPr id="23" name="Rectangle 22">
            <a:extLst>
              <a:ext uri="{FF2B5EF4-FFF2-40B4-BE49-F238E27FC236}">
                <a16:creationId xmlns:a16="http://schemas.microsoft.com/office/drawing/2014/main" id="{8B970936-F334-4FA9-8B2B-68CB9A73A1B0}"/>
              </a:ext>
            </a:extLst>
          </p:cNvPr>
          <p:cNvSpPr/>
          <p:nvPr/>
        </p:nvSpPr>
        <p:spPr>
          <a:xfrm>
            <a:off x="325114" y="1957443"/>
            <a:ext cx="5937663" cy="562550"/>
          </a:xfrm>
          <a:prstGeom prst="rect">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85800">
              <a:defRPr/>
            </a:pPr>
            <a:endParaRPr lang="en-IN" sz="1350">
              <a:solidFill>
                <a:srgbClr val="CDCDCD"/>
              </a:solidFill>
              <a:latin typeface="Trebuchet MS"/>
            </a:endParaRPr>
          </a:p>
        </p:txBody>
      </p:sp>
      <p:sp>
        <p:nvSpPr>
          <p:cNvPr id="24" name="Rectangle 23">
            <a:extLst>
              <a:ext uri="{FF2B5EF4-FFF2-40B4-BE49-F238E27FC236}">
                <a16:creationId xmlns:a16="http://schemas.microsoft.com/office/drawing/2014/main" id="{A23D4CDF-39FA-4266-ABFC-9093610F0FC7}"/>
              </a:ext>
            </a:extLst>
          </p:cNvPr>
          <p:cNvSpPr/>
          <p:nvPr/>
        </p:nvSpPr>
        <p:spPr>
          <a:xfrm>
            <a:off x="325114" y="2936980"/>
            <a:ext cx="5937663" cy="562550"/>
          </a:xfrm>
          <a:prstGeom prst="rect">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85800">
              <a:defRPr/>
            </a:pPr>
            <a:endParaRPr lang="en-IN" sz="1350">
              <a:solidFill>
                <a:srgbClr val="CDCDCD"/>
              </a:solidFill>
              <a:latin typeface="Trebuchet MS"/>
            </a:endParaRPr>
          </a:p>
        </p:txBody>
      </p:sp>
      <p:sp>
        <p:nvSpPr>
          <p:cNvPr id="14" name="TextBox 13">
            <a:extLst>
              <a:ext uri="{FF2B5EF4-FFF2-40B4-BE49-F238E27FC236}">
                <a16:creationId xmlns:a16="http://schemas.microsoft.com/office/drawing/2014/main" id="{A8F72667-FE26-488C-A472-3C46D9E47C0E}"/>
              </a:ext>
            </a:extLst>
          </p:cNvPr>
          <p:cNvSpPr txBox="1"/>
          <p:nvPr/>
        </p:nvSpPr>
        <p:spPr>
          <a:xfrm>
            <a:off x="496262" y="5312849"/>
            <a:ext cx="7362126" cy="507831"/>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14313" indent="-214313" defTabSz="685800">
              <a:buFont typeface="Wingdings" panose="05000000000000000000" pitchFamily="2" charset="2"/>
              <a:buChar char="§"/>
              <a:defRPr/>
            </a:pPr>
            <a:endParaRPr lang="en-US" sz="900" dirty="0">
              <a:solidFill>
                <a:srgbClr val="0070C0"/>
              </a:solidFill>
              <a:latin typeface="Arial" panose="020B0604020202020204" pitchFamily="34" charset="0"/>
              <a:cs typeface="Arial" panose="020B0604020202020204" pitchFamily="34" charset="0"/>
            </a:endParaRPr>
          </a:p>
          <a:p>
            <a:pPr marL="214313" indent="-214313" defTabSz="685800">
              <a:buFont typeface="Wingdings" panose="05000000000000000000" pitchFamily="2" charset="2"/>
              <a:buChar char="§"/>
              <a:defRPr/>
            </a:pPr>
            <a:r>
              <a:rPr lang="en-US" sz="900" dirty="0">
                <a:solidFill>
                  <a:srgbClr val="0070C0"/>
                </a:solidFill>
                <a:latin typeface="Arial" panose="020B0604020202020204" pitchFamily="34" charset="0"/>
                <a:cs typeface="Arial" panose="020B0604020202020204" pitchFamily="34" charset="0"/>
              </a:rPr>
              <a:t>Jagtap AD, </a:t>
            </a:r>
            <a:r>
              <a:rPr lang="en-US" sz="900" dirty="0" err="1">
                <a:solidFill>
                  <a:srgbClr val="0070C0"/>
                </a:solidFill>
                <a:latin typeface="Arial" panose="020B0604020202020204" pitchFamily="34" charset="0"/>
                <a:cs typeface="Arial" panose="020B0604020202020204" pitchFamily="34" charset="0"/>
              </a:rPr>
              <a:t>Kharazmi</a:t>
            </a:r>
            <a:r>
              <a:rPr lang="en-US" sz="900" dirty="0">
                <a:solidFill>
                  <a:srgbClr val="0070C0"/>
                </a:solidFill>
                <a:latin typeface="Arial" panose="020B0604020202020204" pitchFamily="34" charset="0"/>
                <a:cs typeface="Arial" panose="020B0604020202020204" pitchFamily="34" charset="0"/>
              </a:rPr>
              <a:t> E, Karniadakis GE. Conservative physics-informed neural networks on discrete domains for conservation laws: Applications to forward and inverse problems. Computer Methods in Applied Mechanics and Engineering. 2020 Jun 15;365:113028</a:t>
            </a:r>
            <a:endParaRPr lang="en-US" sz="900" dirty="0">
              <a:solidFill>
                <a:srgbClr val="0070C0"/>
              </a:solidFill>
              <a:latin typeface="Trebuchet MS"/>
            </a:endParaRPr>
          </a:p>
        </p:txBody>
      </p:sp>
      <p:sp>
        <p:nvSpPr>
          <p:cNvPr id="2" name="圆角矩形 7">
            <a:extLst>
              <a:ext uri="{FF2B5EF4-FFF2-40B4-BE49-F238E27FC236}">
                <a16:creationId xmlns:a16="http://schemas.microsoft.com/office/drawing/2014/main" id="{103085C7-0AE6-65A5-3B60-0443D5DEEDCE}"/>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3200" b="1" dirty="0">
                <a:solidFill>
                  <a:srgbClr val="C00000"/>
                </a:solidFill>
                <a:latin typeface="Arial" panose="020B0604020202020204" pitchFamily="34" charset="0"/>
                <a:cs typeface="Arial" panose="020B0604020202020204" pitchFamily="34" charset="0"/>
              </a:rPr>
              <a:t>Conservative PINNs (</a:t>
            </a:r>
            <a:r>
              <a:rPr lang="en-IN" altLang="zh-CN" sz="3200" b="1" dirty="0" err="1">
                <a:solidFill>
                  <a:srgbClr val="C00000"/>
                </a:solidFill>
                <a:latin typeface="Arial" panose="020B0604020202020204" pitchFamily="34" charset="0"/>
                <a:cs typeface="Arial" panose="020B0604020202020204" pitchFamily="34" charset="0"/>
              </a:rPr>
              <a:t>cPINNs</a:t>
            </a:r>
            <a:r>
              <a:rPr lang="en-IN" altLang="zh-CN" sz="3200" b="1" dirty="0">
                <a:solidFill>
                  <a:srgbClr val="C00000"/>
                </a:solidFill>
                <a:latin typeface="Arial" panose="020B0604020202020204" pitchFamily="34" charset="0"/>
                <a:cs typeface="Arial" panose="020B0604020202020204" pitchFamily="34" charset="0"/>
              </a:rPr>
              <a:t>)</a:t>
            </a:r>
            <a:endParaRPr lang="en-IN" altLang="zh-CN" sz="2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1377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492B5F-3EC4-44F9-B639-0655D1EE967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5</a:t>
            </a:fld>
            <a:endParaRPr lang="en-US" sz="1350" dirty="0">
              <a:solidFill>
                <a:srgbClr val="FFFFFF"/>
              </a:solidFill>
              <a:latin typeface="Trebuchet MS"/>
            </a:endParaRPr>
          </a:p>
        </p:txBody>
      </p:sp>
      <p:pic>
        <p:nvPicPr>
          <p:cNvPr id="25" name="Picture 24" descr="\documentclass{article}&#10;\usepackage[a4paper, total={6in, 8in}]{geometry}&#10;\usepackage{amsmath}&#10;\usepackage{amssymb}&#10;\usepackage{xcolor}&#10;\usepackage{graphicx}&#10;&#10;\pagestyle{empty}&#10;\begin{document}&#10;&#10;&#10;\hspace{-0.22in}$u_{t}+u u_{x}=\nu u_{x} x, x \in \textbf{R}, t&gt;0$ with IC : $u(x, 0)=-\sin (\pi x)$ and $\textbf{BC :} u(t, 1)=u(t,-1)=0 .$&#10;\begin{center}&#10;\begin{tabular}{|c|c|c|c|c|}&#10;\hline Subdomain number &amp; 1 &amp; 2 &amp; 3 &amp; 4 \\&#10;\hline $\#$ Layers &amp; 2 &amp; 6 &amp; 3 &amp; 2 \\&#10;$\#$ Neurons &amp; 20 &amp; 30 &amp; 25 &amp; 20 \\&#10;$\#$ Residual points &amp; 6000 &amp; 8000 &amp; 4000 &amp; 4000 \\&#10;Adaptive activation function &amp; $\cos$ &amp; $\sin$ &amp; $\tanh$ &amp; $\sin$ \\&#10;\hline&#10;\end{tabular}&#10;\end{center}&#10;Learning rate : 8e-4, Optimizer : Adam&#10;&#10;&#10;\end{document}&#10;" title="IguanaTex Bitmap Display">
            <a:extLst>
              <a:ext uri="{FF2B5EF4-FFF2-40B4-BE49-F238E27FC236}">
                <a16:creationId xmlns:a16="http://schemas.microsoft.com/office/drawing/2014/main" id="{7C046906-7128-420B-B88E-76CDFDBA31FD}"/>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36762" y="1233486"/>
            <a:ext cx="6084571" cy="1491200"/>
          </a:xfrm>
          <a:prstGeom prst="rect">
            <a:avLst/>
          </a:prstGeom>
        </p:spPr>
      </p:pic>
      <p:pic>
        <p:nvPicPr>
          <p:cNvPr id="16" name="Picture 15" descr="Graphical user interface, chart, application&#10;&#10;Description automatically generated">
            <a:extLst>
              <a:ext uri="{FF2B5EF4-FFF2-40B4-BE49-F238E27FC236}">
                <a16:creationId xmlns:a16="http://schemas.microsoft.com/office/drawing/2014/main" id="{A6A9A0A8-6218-450A-80F2-5B1276FED23D}"/>
              </a:ext>
            </a:extLst>
          </p:cNvPr>
          <p:cNvPicPr>
            <a:picLocks noChangeAspect="1"/>
          </p:cNvPicPr>
          <p:nvPr/>
        </p:nvPicPr>
        <p:blipFill rotWithShape="1">
          <a:blip r:embed="rId5">
            <a:extLst>
              <a:ext uri="{28A0092B-C50C-407E-A947-70E740481C1C}">
                <a14:useLocalDpi xmlns:a14="http://schemas.microsoft.com/office/drawing/2010/main" val="0"/>
              </a:ext>
            </a:extLst>
          </a:blip>
          <a:srcRect l="1066" b="53707"/>
          <a:stretch/>
        </p:blipFill>
        <p:spPr>
          <a:xfrm>
            <a:off x="735401" y="4809041"/>
            <a:ext cx="7673197" cy="1171073"/>
          </a:xfrm>
          <a:prstGeom prst="rect">
            <a:avLst/>
          </a:prstGeom>
        </p:spPr>
      </p:pic>
      <p:pic>
        <p:nvPicPr>
          <p:cNvPr id="18" name="Picture 17" descr="Chart&#10;&#10;Description automatically generated">
            <a:extLst>
              <a:ext uri="{FF2B5EF4-FFF2-40B4-BE49-F238E27FC236}">
                <a16:creationId xmlns:a16="http://schemas.microsoft.com/office/drawing/2014/main" id="{6BBFED16-27B4-4915-BB12-0F7EAF5EB7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4999" y="2932276"/>
            <a:ext cx="2776658" cy="1669175"/>
          </a:xfrm>
          <a:prstGeom prst="rect">
            <a:avLst/>
          </a:prstGeom>
        </p:spPr>
      </p:pic>
      <p:sp>
        <p:nvSpPr>
          <p:cNvPr id="2" name="圆角矩形 7">
            <a:extLst>
              <a:ext uri="{FF2B5EF4-FFF2-40B4-BE49-F238E27FC236}">
                <a16:creationId xmlns:a16="http://schemas.microsoft.com/office/drawing/2014/main" id="{030DDC0D-00C1-C17D-FB8B-4CB314F38466}"/>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3200" b="1" dirty="0" err="1">
                <a:solidFill>
                  <a:srgbClr val="C00000"/>
                </a:solidFill>
                <a:latin typeface="Arial" panose="020B0604020202020204" pitchFamily="34" charset="0"/>
                <a:cs typeface="Arial" panose="020B0604020202020204" pitchFamily="34" charset="0"/>
              </a:rPr>
              <a:t>cPINNs</a:t>
            </a:r>
            <a:r>
              <a:rPr lang="en-IN" altLang="zh-CN" sz="3200" b="1" dirty="0">
                <a:solidFill>
                  <a:srgbClr val="C00000"/>
                </a:solidFill>
                <a:latin typeface="Arial" panose="020B0604020202020204" pitchFamily="34" charset="0"/>
                <a:cs typeface="Arial" panose="020B0604020202020204" pitchFamily="34" charset="0"/>
              </a:rPr>
              <a:t>: Burgers equation</a:t>
            </a:r>
            <a:endParaRPr lang="en-IN" altLang="zh-CN" sz="2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0951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1B6BED-B2B3-4DF6-A54A-D8F5C1EEB4CC}"/>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6</a:t>
            </a:fld>
            <a:endParaRPr lang="en-US" sz="1350" dirty="0">
              <a:solidFill>
                <a:srgbClr val="FFFFFF"/>
              </a:solidFill>
              <a:latin typeface="Trebuchet MS"/>
            </a:endParaRPr>
          </a:p>
        </p:txBody>
      </p:sp>
      <p:pic>
        <p:nvPicPr>
          <p:cNvPr id="12" name="Picture 11" descr="\documentclass{article}&#10;\usepackage[a4paper, total={6in, 8in}]{geometry}&#10;\usepackage{amsmath}&#10;\usepackage{amssymb}&#10;\usepackage{xcolor}&#10;\usepackage{graphicx}&#10;&#10;\pagestyle{empty}&#10;\begin{document}&#10;&#10;&#10;$$&#10;\begin{aligned}&#10;\mathbf{u}_{t}+(\mathbf{u} \cdot \nabla) \mathbf{u} &amp;=-\nabla p+\frac{1}{R e} \nabla^{2} \mathbf{u}, \quad \text { in } \Omega \\&#10;\nabla \cdot \mathbf{u} &amp;=0, \quad \text { in } \Omega&#10;\end{aligned}&#10;$$&#10;\begin{tabular}{|c|c|c|c|c|c|c|c|c|c|c|c|c|}&#10;\hline SD No. &amp; 1 &amp; 2 &amp; 3 &amp; 4 &amp; 5 &amp; 6 &amp; 7 &amp; 8 &amp; 9 &amp; 10 &amp; 11 &amp; 12 \\&#10;\hline$\# \mathrm{~L}$ &amp; 6 &amp; 6 &amp; 6 &amp; 6 &amp; 4 &amp; 6 &amp; 6 &amp; 4 &amp; 6 &amp; 6 &amp; 6 &amp; 6 \\&#10;$\# \mathrm{~N}$ &amp; 20 &amp; 20 &amp; 20 &amp; 20 &amp; 20 &amp; 20 &amp; 20 &amp; 20 &amp; 20 &amp; 20 &amp; 20 &amp; 20 \\&#10;$\# \mathrm{R} . \mathrm{pts}$ &amp; $2.5 \mathrm{k}$ &amp; $5 \mathrm{k}$ &amp; $2.5 \mathrm{k}$ &amp; $2.5 \mathrm{k}$ &amp; $5 \mathrm{k}$ &amp; $2.5 \mathrm{k}$ &amp; $2.5 \mathrm{k}$ &amp; $5 \mathrm{k}$ &amp; $2.5 \mathrm{k}$ &amp; $2.5 \mathrm{k}$ &amp; $5 \mathrm{k}$ &amp; $2.5 \mathrm{k}$ \\&#10;\hline&#10;\end{tabular}\newline&#10;&#10;Learning rate : 6e-4, Optimizer : Adam, Adaptive Activation Fun. : tanh&#10;&#10;&#10;\end{document}&#10;" title="IguanaTex Bitmap Display">
            <a:extLst>
              <a:ext uri="{FF2B5EF4-FFF2-40B4-BE49-F238E27FC236}">
                <a16:creationId xmlns:a16="http://schemas.microsoft.com/office/drawing/2014/main" id="{59FD978A-16B2-445D-8D48-CFD7115F492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67229" y="1597971"/>
            <a:ext cx="5674058" cy="1631086"/>
          </a:xfrm>
          <a:prstGeom prst="rect">
            <a:avLst/>
          </a:prstGeom>
        </p:spPr>
      </p:pic>
      <p:pic>
        <p:nvPicPr>
          <p:cNvPr id="9" name="Picture 8" descr="Graphical user interface&#10;&#10;Description automatically generated with low confidence">
            <a:extLst>
              <a:ext uri="{FF2B5EF4-FFF2-40B4-BE49-F238E27FC236}">
                <a16:creationId xmlns:a16="http://schemas.microsoft.com/office/drawing/2014/main" id="{FAE7C3BC-B6D2-42DE-8192-64B35A4AC676}"/>
              </a:ext>
            </a:extLst>
          </p:cNvPr>
          <p:cNvPicPr>
            <a:picLocks noChangeAspect="1"/>
          </p:cNvPicPr>
          <p:nvPr/>
        </p:nvPicPr>
        <p:blipFill rotWithShape="1">
          <a:blip r:embed="rId5">
            <a:extLst>
              <a:ext uri="{28A0092B-C50C-407E-A947-70E740481C1C}">
                <a14:useLocalDpi xmlns:a14="http://schemas.microsoft.com/office/drawing/2010/main" val="0"/>
              </a:ext>
            </a:extLst>
          </a:blip>
          <a:srcRect l="1044"/>
          <a:stretch/>
        </p:blipFill>
        <p:spPr>
          <a:xfrm>
            <a:off x="382318" y="3628943"/>
            <a:ext cx="6043880" cy="1863107"/>
          </a:xfrm>
          <a:prstGeom prst="rect">
            <a:avLst/>
          </a:prstGeom>
        </p:spPr>
      </p:pic>
      <p:sp>
        <p:nvSpPr>
          <p:cNvPr id="10" name="TextBox 9">
            <a:extLst>
              <a:ext uri="{FF2B5EF4-FFF2-40B4-BE49-F238E27FC236}">
                <a16:creationId xmlns:a16="http://schemas.microsoft.com/office/drawing/2014/main" id="{FE4BB4F6-7866-4E49-A044-EB7148CDEE04}"/>
              </a:ext>
            </a:extLst>
          </p:cNvPr>
          <p:cNvSpPr txBox="1"/>
          <p:nvPr/>
        </p:nvSpPr>
        <p:spPr>
          <a:xfrm>
            <a:off x="202486" y="328918"/>
            <a:ext cx="7664278"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685800">
              <a:lnSpc>
                <a:spcPct val="90000"/>
              </a:lnSpc>
              <a:defRPr/>
            </a:pPr>
            <a:r>
              <a:rPr lang="en-IN" sz="2100" b="1" dirty="0" err="1">
                <a:solidFill>
                  <a:srgbClr val="000000"/>
                </a:solidFill>
                <a:latin typeface="Arial" panose="020B0604020202020204" pitchFamily="34" charset="0"/>
                <a:cs typeface="Arial" panose="020B0604020202020204" pitchFamily="34" charset="0"/>
              </a:rPr>
              <a:t>cPINN</a:t>
            </a:r>
            <a:r>
              <a:rPr lang="en-IN" sz="2100" b="1" dirty="0">
                <a:solidFill>
                  <a:srgbClr val="000000"/>
                </a:solidFill>
                <a:latin typeface="Arial" panose="020B0604020202020204" pitchFamily="34" charset="0"/>
                <a:cs typeface="Arial" panose="020B0604020202020204" pitchFamily="34" charset="0"/>
              </a:rPr>
              <a:t> Results: 2D Incompressible Navier Stokes Equation</a:t>
            </a:r>
          </a:p>
        </p:txBody>
      </p:sp>
      <p:pic>
        <p:nvPicPr>
          <p:cNvPr id="14" name="Picture 13" descr="Chart, line chart&#10;&#10;Description automatically generated">
            <a:extLst>
              <a:ext uri="{FF2B5EF4-FFF2-40B4-BE49-F238E27FC236}">
                <a16:creationId xmlns:a16="http://schemas.microsoft.com/office/drawing/2014/main" id="{C6EB5D0D-5478-4B2B-B010-E964CCED8F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8604" y="1570606"/>
            <a:ext cx="2774228" cy="2007271"/>
          </a:xfrm>
          <a:prstGeom prst="rect">
            <a:avLst/>
          </a:prstGeom>
        </p:spPr>
      </p:pic>
      <p:pic>
        <p:nvPicPr>
          <p:cNvPr id="16" name="Picture 15" descr="Chart, line chart&#10;&#10;Description automatically generated">
            <a:extLst>
              <a:ext uri="{FF2B5EF4-FFF2-40B4-BE49-F238E27FC236}">
                <a16:creationId xmlns:a16="http://schemas.microsoft.com/office/drawing/2014/main" id="{4F8D053B-163E-405D-B347-B4C3DD6F20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5190" y="3617385"/>
            <a:ext cx="2719820" cy="2002831"/>
          </a:xfrm>
          <a:prstGeom prst="rect">
            <a:avLst/>
          </a:prstGeom>
        </p:spPr>
      </p:pic>
    </p:spTree>
    <p:extLst>
      <p:ext uri="{BB962C8B-B14F-4D97-AF65-F5344CB8AC3E}">
        <p14:creationId xmlns:p14="http://schemas.microsoft.com/office/powerpoint/2010/main" val="390660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ocumentclass{article}&#10;\usepackage[a4paper, total={6in, 8in}]{geometry}&#10;\usepackage{amsmath}&#10;\usepackage{amssymb}&#10;\usepackage{xcolor}&#10;\usepackage{graphicx}&#10;&#10;\pagestyle{empty}&#10;\begin{document}&#10;&#10;&#10;\hspace{-0.22in}We have the following equation with some unknown parameters $\alpha, \beta, \nu$.&#10;$$&#10;u_{t}+u u_{x}-\beta u_{x}-\nu u_{x x}+\alpha u_{x x x}=0, \quad x \in \Omega \subset \mathbb{R}, t&gt;0,&#10;$$&#10;Aim : Identify all the terms $\alpha, \beta, \nu$ with  data given by the viscous Burgers equation.&#10;&#10;&#10;\end{document}&#10;" title="IguanaTex Bitmap Display">
            <a:extLst>
              <a:ext uri="{FF2B5EF4-FFF2-40B4-BE49-F238E27FC236}">
                <a16:creationId xmlns:a16="http://schemas.microsoft.com/office/drawing/2014/main" id="{DFEEE63D-7618-4101-BCA2-D8B2A7B2E17F}"/>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16498" y="1707669"/>
            <a:ext cx="7024001" cy="1009143"/>
          </a:xfrm>
          <a:prstGeom prst="rect">
            <a:avLst/>
          </a:prstGeom>
        </p:spPr>
      </p:pic>
      <p:sp>
        <p:nvSpPr>
          <p:cNvPr id="8" name="Rectangle 7">
            <a:extLst>
              <a:ext uri="{FF2B5EF4-FFF2-40B4-BE49-F238E27FC236}">
                <a16:creationId xmlns:a16="http://schemas.microsoft.com/office/drawing/2014/main" id="{15C98A4D-0862-4A13-AE0C-30AF9A134EC3}"/>
              </a:ext>
            </a:extLst>
          </p:cNvPr>
          <p:cNvSpPr/>
          <p:nvPr/>
        </p:nvSpPr>
        <p:spPr>
          <a:xfrm>
            <a:off x="516498" y="2416475"/>
            <a:ext cx="6923785" cy="427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9" name="TextBox 8">
            <a:extLst>
              <a:ext uri="{FF2B5EF4-FFF2-40B4-BE49-F238E27FC236}">
                <a16:creationId xmlns:a16="http://schemas.microsoft.com/office/drawing/2014/main" id="{92009F68-1CBF-4B79-8690-EA68DA751635}"/>
              </a:ext>
            </a:extLst>
          </p:cNvPr>
          <p:cNvSpPr txBox="1"/>
          <p:nvPr/>
        </p:nvSpPr>
        <p:spPr>
          <a:xfrm>
            <a:off x="677750" y="1037144"/>
            <a:ext cx="5883342"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100" b="1" dirty="0" err="1">
                <a:solidFill>
                  <a:schemeClr val="tx1"/>
                </a:solidFill>
                <a:latin typeface="Arial" panose="020B0604020202020204" pitchFamily="34" charset="0"/>
                <a:cs typeface="Arial" panose="020B0604020202020204" pitchFamily="34" charset="0"/>
              </a:rPr>
              <a:t>cPINN</a:t>
            </a:r>
            <a:r>
              <a:rPr lang="en-IN" sz="2100" b="1" dirty="0">
                <a:solidFill>
                  <a:schemeClr val="tx1"/>
                </a:solidFill>
                <a:latin typeface="Arial" panose="020B0604020202020204" pitchFamily="34" charset="0"/>
                <a:cs typeface="Arial" panose="020B0604020202020204" pitchFamily="34" charset="0"/>
              </a:rPr>
              <a:t> Results: Inverse 2D Burgers Equation</a:t>
            </a:r>
          </a:p>
        </p:txBody>
      </p:sp>
      <p:pic>
        <p:nvPicPr>
          <p:cNvPr id="11" name="Picture 10" descr="Chart&#10;&#10;Description automatically generated">
            <a:extLst>
              <a:ext uri="{FF2B5EF4-FFF2-40B4-BE49-F238E27FC236}">
                <a16:creationId xmlns:a16="http://schemas.microsoft.com/office/drawing/2014/main" id="{0CFAB223-A23F-4B4D-B986-4616E2160B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30" y="3114530"/>
            <a:ext cx="9059540" cy="2150569"/>
          </a:xfrm>
          <a:prstGeom prst="rect">
            <a:avLst/>
          </a:prstGeom>
        </p:spPr>
      </p:pic>
    </p:spTree>
    <p:extLst>
      <p:ext uri="{BB962C8B-B14F-4D97-AF65-F5344CB8AC3E}">
        <p14:creationId xmlns:p14="http://schemas.microsoft.com/office/powerpoint/2010/main" val="1739815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cumentclass{article}&#10;\usepackage[a4paper, total={6in, 8in}]{geometry}&#10;\usepackage{amsmath}&#10;\usepackage{amssymb}&#10;\usepackage{xcolor}&#10;\usepackage{graphicx}&#10;&#10;\pagestyle{empty}&#10;\begin{document}&#10;&#10;&#10;\hspace{0.98in}XPINNs : Interface conditions in the `` $q^{\text {th }}&quot;$ subdomain.&#10;&#10;\begin{align*}&#10;&amp;\operatorname{MSE}_{u_{\text {avg }}}=\sum_{\forall q^{+}}\left(\frac{1}{N_{l_{q}}} \sum_{i=1}^{N_{l_{q}}}\left|u_{\tilde{\Theta}_{q}}\left(\mathbf{x}_{l_{q}}^{(i)}\right)-\left\{\left\{u_{\tilde{\Theta}_{q}}\left(\mathbf{x}_{l_{q}}^{(i)}\right)\right\}\right\}\right|^{2}\right) \\&#10;&amp;\operatorname{MSE}_{\mathcal{R}}=\sum_{\forall q^{+}}\left(\frac{1}{N_{l_{q}}} \sum_{i=1}^{N_{l_{q}}}\left|\mathcal{F}_{\tilde{\Theta}_{q}}\left(\mathbf{x}_{l_{q}}^{(i)}\right)-\mathcal{F}_{\tilde{\Theta}_{q^{+}}}\left(\mathbf{x}_{l_{q}}^{(i)}\right)\right|^{2}\right) \\&#10;&amp;\hspace{1.2in}+&#10;\end{align*}&#10;&#10;&#10;\hspace{0.98in}Additional continuity conditions \newline&#10;&#10;\hspace{0.98in}Additional advantages over cPINN\newline&#10;&#10;\hspace{0.98in}(1) Extension to any differential equation(s)\newline&#10;&#10;\hspace{0.98in}(2) Generalized space-time domain decomposition \newline&#10;&#10;\hspace{0.98in}(3) Simple interface conditions&#10;&#10;&#10;&#10;\end{document}&#10;" title="IguanaTex Bitmap Display">
            <a:extLst>
              <a:ext uri="{FF2B5EF4-FFF2-40B4-BE49-F238E27FC236}">
                <a16:creationId xmlns:a16="http://schemas.microsoft.com/office/drawing/2014/main" id="{28507CF9-3849-40C3-A0DA-EF84D9EFDCFC}"/>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843035" y="1519486"/>
            <a:ext cx="4445486" cy="4105028"/>
          </a:xfrm>
          <a:prstGeom prst="rect">
            <a:avLst/>
          </a:prstGeom>
        </p:spPr>
      </p:pic>
      <p:sp>
        <p:nvSpPr>
          <p:cNvPr id="40" name="TextBox 39">
            <a:extLst>
              <a:ext uri="{FF2B5EF4-FFF2-40B4-BE49-F238E27FC236}">
                <a16:creationId xmlns:a16="http://schemas.microsoft.com/office/drawing/2014/main" id="{4C4D3FB2-07F3-4080-9931-64F374851952}"/>
              </a:ext>
            </a:extLst>
          </p:cNvPr>
          <p:cNvSpPr txBox="1"/>
          <p:nvPr/>
        </p:nvSpPr>
        <p:spPr>
          <a:xfrm>
            <a:off x="697678" y="961151"/>
            <a:ext cx="3964547" cy="4247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400" b="1" dirty="0">
                <a:solidFill>
                  <a:schemeClr val="tx1"/>
                </a:solidFill>
                <a:latin typeface="Arial" panose="020B0604020202020204" pitchFamily="34" charset="0"/>
                <a:cs typeface="Arial" panose="020B0604020202020204" pitchFamily="34" charset="0"/>
              </a:rPr>
              <a:t>Extended PINNs (XPINNs)</a:t>
            </a:r>
          </a:p>
        </p:txBody>
      </p:sp>
      <p:sp>
        <p:nvSpPr>
          <p:cNvPr id="41" name="Rectangle 40">
            <a:extLst>
              <a:ext uri="{FF2B5EF4-FFF2-40B4-BE49-F238E27FC236}">
                <a16:creationId xmlns:a16="http://schemas.microsoft.com/office/drawing/2014/main" id="{40EC1211-01D5-4587-90A3-398B4683628B}"/>
              </a:ext>
            </a:extLst>
          </p:cNvPr>
          <p:cNvSpPr/>
          <p:nvPr/>
        </p:nvSpPr>
        <p:spPr>
          <a:xfrm>
            <a:off x="796428" y="3706982"/>
            <a:ext cx="2752421" cy="7590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5" name="Picture 4">
            <a:extLst>
              <a:ext uri="{FF2B5EF4-FFF2-40B4-BE49-F238E27FC236}">
                <a16:creationId xmlns:a16="http://schemas.microsoft.com/office/drawing/2014/main" id="{C64AB712-1124-162E-8DE7-D8A677778D5D}"/>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5721626" y="2270263"/>
            <a:ext cx="1594104" cy="190500"/>
          </a:xfrm>
          <a:prstGeom prst="rect">
            <a:avLst/>
          </a:prstGeom>
        </p:spPr>
      </p:pic>
      <p:sp>
        <p:nvSpPr>
          <p:cNvPr id="6" name="Rectangle 5">
            <a:extLst>
              <a:ext uri="{FF2B5EF4-FFF2-40B4-BE49-F238E27FC236}">
                <a16:creationId xmlns:a16="http://schemas.microsoft.com/office/drawing/2014/main" id="{0F0DD969-0DCF-63E0-50E2-897A61BFEC08}"/>
              </a:ext>
            </a:extLst>
          </p:cNvPr>
          <p:cNvSpPr/>
          <p:nvPr/>
        </p:nvSpPr>
        <p:spPr>
          <a:xfrm>
            <a:off x="5714172" y="2213942"/>
            <a:ext cx="1658179" cy="3130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010613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B225CB-74EA-4577-AFBF-9F86986EDCB0}"/>
              </a:ext>
            </a:extLst>
          </p:cNvPr>
          <p:cNvSpPr>
            <a:spLocks noGrp="1"/>
          </p:cNvSpPr>
          <p:nvPr>
            <p:ph type="sldNum" sz="quarter" idx="12"/>
          </p:nvPr>
        </p:nvSpPr>
        <p:spPr/>
        <p:txBody>
          <a:bodyPr/>
          <a:lstStyle/>
          <a:p>
            <a:fld id="{5DEF7F31-0B8A-474A-B86C-91F381754329}" type="slidenum">
              <a:rPr lang="en-US" smtClean="0"/>
              <a:t>9</a:t>
            </a:fld>
            <a:endParaRPr lang="en-US" dirty="0"/>
          </a:p>
        </p:txBody>
      </p:sp>
      <p:pic>
        <p:nvPicPr>
          <p:cNvPr id="15" name="Picture 14">
            <a:extLst>
              <a:ext uri="{FF2B5EF4-FFF2-40B4-BE49-F238E27FC236}">
                <a16:creationId xmlns:a16="http://schemas.microsoft.com/office/drawing/2014/main" id="{08EA5108-CD52-92A1-ABB1-AB5C35BB97F4}"/>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46621" y="2044942"/>
            <a:ext cx="7658100" cy="1844039"/>
          </a:xfrm>
          <a:prstGeom prst="rect">
            <a:avLst/>
          </a:prstGeom>
        </p:spPr>
      </p:pic>
      <p:sp>
        <p:nvSpPr>
          <p:cNvPr id="6" name="TextBox 5">
            <a:extLst>
              <a:ext uri="{FF2B5EF4-FFF2-40B4-BE49-F238E27FC236}">
                <a16:creationId xmlns:a16="http://schemas.microsoft.com/office/drawing/2014/main" id="{31B74AC0-6B1E-4B39-BE2F-0B0231290CB4}"/>
              </a:ext>
            </a:extLst>
          </p:cNvPr>
          <p:cNvSpPr txBox="1"/>
          <p:nvPr/>
        </p:nvSpPr>
        <p:spPr>
          <a:xfrm>
            <a:off x="247515" y="1080546"/>
            <a:ext cx="6782627"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100" b="1" dirty="0">
                <a:solidFill>
                  <a:schemeClr val="tx1"/>
                </a:solidFill>
                <a:latin typeface="Arial" panose="020B0604020202020204" pitchFamily="34" charset="0"/>
                <a:cs typeface="Arial" panose="020B0604020202020204" pitchFamily="34" charset="0"/>
              </a:rPr>
              <a:t>Comparison of PINN, </a:t>
            </a:r>
            <a:r>
              <a:rPr lang="en-IN" sz="2100" b="1" dirty="0" err="1">
                <a:solidFill>
                  <a:schemeClr val="tx1"/>
                </a:solidFill>
                <a:latin typeface="Arial" panose="020B0604020202020204" pitchFamily="34" charset="0"/>
                <a:cs typeface="Arial" panose="020B0604020202020204" pitchFamily="34" charset="0"/>
              </a:rPr>
              <a:t>cPINN</a:t>
            </a:r>
            <a:r>
              <a:rPr lang="en-IN" sz="2100" b="1" dirty="0">
                <a:solidFill>
                  <a:schemeClr val="tx1"/>
                </a:solidFill>
                <a:latin typeface="Arial" panose="020B0604020202020204" pitchFamily="34" charset="0"/>
                <a:cs typeface="Arial" panose="020B0604020202020204" pitchFamily="34" charset="0"/>
              </a:rPr>
              <a:t> and XPINN frameworks</a:t>
            </a:r>
          </a:p>
        </p:txBody>
      </p:sp>
      <p:sp>
        <p:nvSpPr>
          <p:cNvPr id="9" name="TextBox 8">
            <a:extLst>
              <a:ext uri="{FF2B5EF4-FFF2-40B4-BE49-F238E27FC236}">
                <a16:creationId xmlns:a16="http://schemas.microsoft.com/office/drawing/2014/main" id="{118512B8-AD59-4940-8A7D-A955F411FEE5}"/>
              </a:ext>
            </a:extLst>
          </p:cNvPr>
          <p:cNvSpPr txBox="1"/>
          <p:nvPr/>
        </p:nvSpPr>
        <p:spPr>
          <a:xfrm>
            <a:off x="654341" y="4758953"/>
            <a:ext cx="7631885" cy="507831"/>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14313" indent="-214313">
              <a:buFont typeface="Wingdings" panose="05000000000000000000" pitchFamily="2" charset="2"/>
              <a:buChar char="§"/>
            </a:pPr>
            <a:r>
              <a:rPr lang="en-US" sz="900" dirty="0">
                <a:solidFill>
                  <a:srgbClr val="0070C0"/>
                </a:solidFill>
                <a:latin typeface="Arial" panose="020B0604020202020204" pitchFamily="34" charset="0"/>
                <a:cs typeface="Arial" panose="020B0604020202020204" pitchFamily="34" charset="0"/>
              </a:rPr>
              <a:t>Jagtap AD, Karniadakis GE. Extended physics-informed neural networks (</a:t>
            </a:r>
            <a:r>
              <a:rPr lang="en-US" sz="900" dirty="0" err="1">
                <a:solidFill>
                  <a:srgbClr val="0070C0"/>
                </a:solidFill>
                <a:latin typeface="Arial" panose="020B0604020202020204" pitchFamily="34" charset="0"/>
                <a:cs typeface="Arial" panose="020B0604020202020204" pitchFamily="34" charset="0"/>
              </a:rPr>
              <a:t>xPINNs</a:t>
            </a:r>
            <a:r>
              <a:rPr lang="en-US" sz="900" dirty="0">
                <a:solidFill>
                  <a:srgbClr val="0070C0"/>
                </a:solidFill>
                <a:latin typeface="Arial" panose="020B0604020202020204" pitchFamily="34" charset="0"/>
                <a:cs typeface="Arial" panose="020B0604020202020204" pitchFamily="34" charset="0"/>
              </a:rPr>
              <a:t>): A generalized space-time domain decomposition based deep learning framework for nonlinear partial differential equations. Communications in Computational Physics. 2020 Nov 1;28(5):2002-41.</a:t>
            </a:r>
          </a:p>
          <a:p>
            <a:pPr marL="214313" indent="-214313">
              <a:buFont typeface="Wingdings" panose="05000000000000000000" pitchFamily="2" charset="2"/>
              <a:buChar char="§"/>
            </a:pPr>
            <a:endParaRPr lang="en-US" sz="9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300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CDE1D4-EE46-473A-A0D4-D5125D5916FA}"/>
              </a:ext>
            </a:extLst>
          </p:cNvPr>
          <p:cNvSpPr>
            <a:spLocks noGrp="1"/>
          </p:cNvSpPr>
          <p:nvPr>
            <p:ph type="sldNum" sz="quarter" idx="12"/>
          </p:nvPr>
        </p:nvSpPr>
        <p:spPr/>
        <p:txBody>
          <a:bodyPr/>
          <a:lstStyle/>
          <a:p>
            <a:fld id="{5DEF7F31-0B8A-474A-B86C-91F381754329}" type="slidenum">
              <a:rPr lang="en-US" smtClean="0"/>
              <a:t>10</a:t>
            </a:fld>
            <a:endParaRPr lang="en-US" dirty="0"/>
          </a:p>
        </p:txBody>
      </p:sp>
      <p:pic>
        <p:nvPicPr>
          <p:cNvPr id="14" name="Picture 13" descr="\documentclass{article}&#10;\usepackage[a4paper, total={6in, 8in}]{geometry}&#10;\usepackage{amsmath}&#10;\usepackage{amssymb}&#10;\usepackage{xcolor}&#10;\usepackage{graphicx}&#10;&#10;\pagestyle{empty}&#10;\begin{document}&#10;&#10;&#10;&#10;&#10;$$&#10;\begin{aligned}&#10;&amp;\begin{array}{ccc}&#10;\hline \text { Subdomain number } &amp; 1 &amp; 2 \\&#10;\hline \text { \# Layers } &amp; 6 &amp; 7 \\&#10;\text { \# Neurons } &amp; 20 &amp; 25 \\&#10;\text { \# Residual points } &amp; 7000 &amp; 3000 \\&#10;\text { Adaptive Activation function } &amp; \text { tanh } &amp; \text { sin } \\&#10;\hline&#10;\end{array}\\&#10;&amp;\text { Learning rate : } 8 \mathrm{e}-4, \text { Optimizer : Adam } &#10;\end{aligned}&#10;$$&#10;$$\text { Relative } L_{2} \text { error in the whole domain : } 8.93265 \mathrm{e}-3$$&#10;&#10;&#10;\end{document}&#10;" title="IguanaTex Bitmap Display">
            <a:extLst>
              <a:ext uri="{FF2B5EF4-FFF2-40B4-BE49-F238E27FC236}">
                <a16:creationId xmlns:a16="http://schemas.microsoft.com/office/drawing/2014/main" id="{A37F57A4-C9DA-4DA6-887E-DCE901921A6C}"/>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33914" y="1620776"/>
            <a:ext cx="3520001" cy="1406171"/>
          </a:xfrm>
          <a:prstGeom prst="rect">
            <a:avLst/>
          </a:prstGeom>
        </p:spPr>
      </p:pic>
      <p:sp>
        <p:nvSpPr>
          <p:cNvPr id="6" name="TextBox 5">
            <a:extLst>
              <a:ext uri="{FF2B5EF4-FFF2-40B4-BE49-F238E27FC236}">
                <a16:creationId xmlns:a16="http://schemas.microsoft.com/office/drawing/2014/main" id="{A55726E2-16C2-4CFF-B54B-11CA31DE9C7E}"/>
              </a:ext>
            </a:extLst>
          </p:cNvPr>
          <p:cNvSpPr txBox="1"/>
          <p:nvPr/>
        </p:nvSpPr>
        <p:spPr>
          <a:xfrm>
            <a:off x="358833" y="1039652"/>
            <a:ext cx="4479111"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100" b="1" dirty="0">
                <a:solidFill>
                  <a:schemeClr val="tx1"/>
                </a:solidFill>
                <a:latin typeface="Arial" panose="020B0604020202020204" pitchFamily="34" charset="0"/>
                <a:cs typeface="Arial" panose="020B0604020202020204" pitchFamily="34" charset="0"/>
              </a:rPr>
              <a:t>XPINN Results: Burgers Equation</a:t>
            </a:r>
          </a:p>
        </p:txBody>
      </p:sp>
      <p:pic>
        <p:nvPicPr>
          <p:cNvPr id="8" name="Picture 7" descr="Chart&#10;&#10;Description automatically generated with low confidence">
            <a:extLst>
              <a:ext uri="{FF2B5EF4-FFF2-40B4-BE49-F238E27FC236}">
                <a16:creationId xmlns:a16="http://schemas.microsoft.com/office/drawing/2014/main" id="{F27B6E53-EE13-44FE-A162-61EEBA4D3A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5787" y="1573871"/>
            <a:ext cx="3754300" cy="1644860"/>
          </a:xfrm>
          <a:prstGeom prst="rect">
            <a:avLst/>
          </a:prstGeom>
        </p:spPr>
      </p:pic>
      <p:pic>
        <p:nvPicPr>
          <p:cNvPr id="10" name="Picture 9" descr="Chart&#10;&#10;Description automatically generated">
            <a:extLst>
              <a:ext uri="{FF2B5EF4-FFF2-40B4-BE49-F238E27FC236}">
                <a16:creationId xmlns:a16="http://schemas.microsoft.com/office/drawing/2014/main" id="{1FAB5A5B-228C-4C55-B4E7-F44BB55AEDD6}"/>
              </a:ext>
            </a:extLst>
          </p:cNvPr>
          <p:cNvPicPr>
            <a:picLocks noChangeAspect="1"/>
          </p:cNvPicPr>
          <p:nvPr/>
        </p:nvPicPr>
        <p:blipFill rotWithShape="1">
          <a:blip r:embed="rId6">
            <a:extLst>
              <a:ext uri="{28A0092B-C50C-407E-A947-70E740481C1C}">
                <a14:useLocalDpi xmlns:a14="http://schemas.microsoft.com/office/drawing/2010/main" val="0"/>
              </a:ext>
            </a:extLst>
          </a:blip>
          <a:srcRect t="7889" b="2974"/>
          <a:stretch/>
        </p:blipFill>
        <p:spPr>
          <a:xfrm>
            <a:off x="646536" y="3493611"/>
            <a:ext cx="8024090" cy="1743614"/>
          </a:xfrm>
          <a:prstGeom prst="rect">
            <a:avLst/>
          </a:prstGeom>
        </p:spPr>
      </p:pic>
    </p:spTree>
    <p:extLst>
      <p:ext uri="{BB962C8B-B14F-4D97-AF65-F5344CB8AC3E}">
        <p14:creationId xmlns:p14="http://schemas.microsoft.com/office/powerpoint/2010/main" val="210946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79B81D1-246F-4623-9539-15B818C8E9E5}"/>
              </a:ext>
            </a:extLst>
          </p:cNvPr>
          <p:cNvSpPr>
            <a:spLocks noGrp="1"/>
          </p:cNvSpPr>
          <p:nvPr>
            <p:ph type="sldNum" sz="quarter" idx="12"/>
          </p:nvPr>
        </p:nvSpPr>
        <p:spPr/>
        <p:txBody>
          <a:bodyPr/>
          <a:lstStyle/>
          <a:p>
            <a:fld id="{5DEF7F31-0B8A-474A-B86C-91F381754329}" type="slidenum">
              <a:rPr lang="en-US" smtClean="0"/>
              <a:t>11</a:t>
            </a:fld>
            <a:endParaRPr lang="en-US" dirty="0"/>
          </a:p>
        </p:txBody>
      </p:sp>
      <p:pic>
        <p:nvPicPr>
          <p:cNvPr id="26" name="Picture 25" descr="\documentclass{article}&#10;\usepackage[a4paper, total={6in, 8in}]{geometry}&#10;\usepackage{amsmath}&#10;\usepackage{amssymb}&#10;\usepackage{xcolor}&#10;\usepackage{graphicx}&#10;&#10;\pagestyle{empty}&#10;\begin{document}&#10;&#10;\hspace{-0.22in}$&#10;U_{t}+F_{x}+G_{y}=0, \quad(\mathbf{x}, t) \in \Omega \times(0, T] \subset \mathbb{R}^{2} \times \mathbb{R}_{+}$, &#10;with appropriate initial and boundary conditions. \newline&#10;\begin{center}&#10;\begin{tabular}{ccc}&#10;\hline Subdomain number &amp; 1 &amp; 2 \\&#10;\hline $\#$ Layers &amp; 6 &amp; 6 \\&#10;$\#$ Neurons &amp; 20 &amp; 25 \\&#10;$\#$ Residual points &amp; 12000 &amp; 8000 \\&#10;Adaptive activation function &amp; sin &amp; tanh \\&#10;\hline&#10;\end{tabular}&#10;\end{center}&#10;&#10;\end{document}&#10;" title="IguanaTex Bitmap Display">
            <a:extLst>
              <a:ext uri="{FF2B5EF4-FFF2-40B4-BE49-F238E27FC236}">
                <a16:creationId xmlns:a16="http://schemas.microsoft.com/office/drawing/2014/main" id="{57E8918E-C1F3-4ED0-AF9B-602C1C2BCB15}"/>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83383" y="1646086"/>
            <a:ext cx="8213716" cy="1716569"/>
          </a:xfrm>
          <a:prstGeom prst="rect">
            <a:avLst/>
          </a:prstGeom>
        </p:spPr>
      </p:pic>
      <p:sp>
        <p:nvSpPr>
          <p:cNvPr id="20" name="TextBox 19">
            <a:extLst>
              <a:ext uri="{FF2B5EF4-FFF2-40B4-BE49-F238E27FC236}">
                <a16:creationId xmlns:a16="http://schemas.microsoft.com/office/drawing/2014/main" id="{A99B4377-AD20-489D-9945-FAEDA6552C13}"/>
              </a:ext>
            </a:extLst>
          </p:cNvPr>
          <p:cNvSpPr txBox="1"/>
          <p:nvPr/>
        </p:nvSpPr>
        <p:spPr>
          <a:xfrm>
            <a:off x="159918" y="1093487"/>
            <a:ext cx="6543779"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100" b="1" dirty="0">
                <a:solidFill>
                  <a:schemeClr val="tx1"/>
                </a:solidFill>
                <a:latin typeface="Arial" panose="020B0604020202020204" pitchFamily="34" charset="0"/>
                <a:cs typeface="Arial" panose="020B0604020202020204" pitchFamily="34" charset="0"/>
              </a:rPr>
              <a:t>XPINN Results: 2D Compressible Euler Equations</a:t>
            </a:r>
          </a:p>
        </p:txBody>
      </p:sp>
      <p:pic>
        <p:nvPicPr>
          <p:cNvPr id="22" name="Picture 21" descr="Chart&#10;&#10;Description automatically generated">
            <a:extLst>
              <a:ext uri="{FF2B5EF4-FFF2-40B4-BE49-F238E27FC236}">
                <a16:creationId xmlns:a16="http://schemas.microsoft.com/office/drawing/2014/main" id="{B727F000-D32E-42A8-96C9-07C958F467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4985" y="3590084"/>
            <a:ext cx="5428179" cy="2245133"/>
          </a:xfrm>
          <a:prstGeom prst="rect">
            <a:avLst/>
          </a:prstGeom>
        </p:spPr>
      </p:pic>
    </p:spTree>
    <p:extLst>
      <p:ext uri="{BB962C8B-B14F-4D97-AF65-F5344CB8AC3E}">
        <p14:creationId xmlns:p14="http://schemas.microsoft.com/office/powerpoint/2010/main" val="428372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E7B73E-F821-40B7-980D-069FA6C965A4}"/>
              </a:ext>
            </a:extLst>
          </p:cNvPr>
          <p:cNvSpPr>
            <a:spLocks noGrp="1"/>
          </p:cNvSpPr>
          <p:nvPr>
            <p:ph type="sldNum" sz="quarter" idx="12"/>
          </p:nvPr>
        </p:nvSpPr>
        <p:spPr/>
        <p:txBody>
          <a:bodyPr/>
          <a:lstStyle/>
          <a:p>
            <a:fld id="{5DEF7F31-0B8A-474A-B86C-91F381754329}" type="slidenum">
              <a:rPr lang="en-US" smtClean="0"/>
              <a:t>12</a:t>
            </a:fld>
            <a:endParaRPr lang="en-US" dirty="0"/>
          </a:p>
        </p:txBody>
      </p:sp>
      <p:pic>
        <p:nvPicPr>
          <p:cNvPr id="5" name="Picture 4" descr="Chart, pie chart&#10;&#10;Description automatically generated">
            <a:extLst>
              <a:ext uri="{FF2B5EF4-FFF2-40B4-BE49-F238E27FC236}">
                <a16:creationId xmlns:a16="http://schemas.microsoft.com/office/drawing/2014/main" id="{8DDED63C-41A1-443B-9436-9782D95E2A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6286" y="1501405"/>
            <a:ext cx="5635204" cy="2676842"/>
          </a:xfrm>
          <a:prstGeom prst="rect">
            <a:avLst/>
          </a:prstGeom>
        </p:spPr>
      </p:pic>
      <p:pic>
        <p:nvPicPr>
          <p:cNvPr id="9" name="Picture 8" descr="Chart&#10;&#10;Description automatically generated">
            <a:extLst>
              <a:ext uri="{FF2B5EF4-FFF2-40B4-BE49-F238E27FC236}">
                <a16:creationId xmlns:a16="http://schemas.microsoft.com/office/drawing/2014/main" id="{3817D61B-A946-4F9C-80BD-B4BCA38DE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603" y="4097961"/>
            <a:ext cx="2196755" cy="1598417"/>
          </a:xfrm>
          <a:prstGeom prst="rect">
            <a:avLst/>
          </a:prstGeom>
        </p:spPr>
      </p:pic>
      <p:pic>
        <p:nvPicPr>
          <p:cNvPr id="11" name="Picture 10" descr="Chart&#10;&#10;Description automatically generated">
            <a:extLst>
              <a:ext uri="{FF2B5EF4-FFF2-40B4-BE49-F238E27FC236}">
                <a16:creationId xmlns:a16="http://schemas.microsoft.com/office/drawing/2014/main" id="{5F895B11-29E1-4CD5-860C-AF9DBE5995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22379" y="4097961"/>
            <a:ext cx="2075774" cy="1523318"/>
          </a:xfrm>
          <a:prstGeom prst="rect">
            <a:avLst/>
          </a:prstGeom>
        </p:spPr>
      </p:pic>
      <p:pic>
        <p:nvPicPr>
          <p:cNvPr id="13" name="Picture 12" descr="Shape&#10;&#10;Description automatically generated with low confidence">
            <a:extLst>
              <a:ext uri="{FF2B5EF4-FFF2-40B4-BE49-F238E27FC236}">
                <a16:creationId xmlns:a16="http://schemas.microsoft.com/office/drawing/2014/main" id="{6AB615F4-E64C-462E-8533-0CF4BCF5EF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5143" y="4117560"/>
            <a:ext cx="2196755" cy="1537729"/>
          </a:xfrm>
          <a:prstGeom prst="rect">
            <a:avLst/>
          </a:prstGeom>
        </p:spPr>
      </p:pic>
      <p:pic>
        <p:nvPicPr>
          <p:cNvPr id="15" name="Picture 14" descr="Graphical user interface&#10;&#10;Description automatically generated">
            <a:extLst>
              <a:ext uri="{FF2B5EF4-FFF2-40B4-BE49-F238E27FC236}">
                <a16:creationId xmlns:a16="http://schemas.microsoft.com/office/drawing/2014/main" id="{B7DFDE93-7401-4383-ACD0-A1D282484A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60278" y="4082859"/>
            <a:ext cx="2270745" cy="1607128"/>
          </a:xfrm>
          <a:prstGeom prst="rect">
            <a:avLst/>
          </a:prstGeom>
        </p:spPr>
      </p:pic>
      <p:sp>
        <p:nvSpPr>
          <p:cNvPr id="16" name="TextBox 15">
            <a:extLst>
              <a:ext uri="{FF2B5EF4-FFF2-40B4-BE49-F238E27FC236}">
                <a16:creationId xmlns:a16="http://schemas.microsoft.com/office/drawing/2014/main" id="{B2FFDF06-FF49-455E-A675-5A342B958805}"/>
              </a:ext>
            </a:extLst>
          </p:cNvPr>
          <p:cNvSpPr txBox="1"/>
          <p:nvPr/>
        </p:nvSpPr>
        <p:spPr>
          <a:xfrm>
            <a:off x="159918" y="1093487"/>
            <a:ext cx="6543779" cy="3831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IN" sz="2100" b="1" dirty="0">
                <a:solidFill>
                  <a:schemeClr val="tx1"/>
                </a:solidFill>
                <a:latin typeface="Arial" panose="020B0604020202020204" pitchFamily="34" charset="0"/>
                <a:cs typeface="Arial" panose="020B0604020202020204" pitchFamily="34" charset="0"/>
              </a:rPr>
              <a:t>XPINN Results: 2D Compressible Euler Equations</a:t>
            </a:r>
          </a:p>
        </p:txBody>
      </p:sp>
    </p:spTree>
    <p:extLst>
      <p:ext uri="{BB962C8B-B14F-4D97-AF65-F5344CB8AC3E}">
        <p14:creationId xmlns:p14="http://schemas.microsoft.com/office/powerpoint/2010/main" val="3620506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Contents</a:t>
            </a:r>
          </a:p>
        </p:txBody>
      </p:sp>
      <p:sp>
        <p:nvSpPr>
          <p:cNvPr id="2" name="文本框 1">
            <a:extLst>
              <a:ext uri="{FF2B5EF4-FFF2-40B4-BE49-F238E27FC236}">
                <a16:creationId xmlns:a16="http://schemas.microsoft.com/office/drawing/2014/main" id="{66C4B3CC-4919-4B0C-BEDA-5A309DD3CCAF}"/>
              </a:ext>
            </a:extLst>
          </p:cNvPr>
          <p:cNvSpPr txBox="1"/>
          <p:nvPr/>
        </p:nvSpPr>
        <p:spPr>
          <a:xfrm>
            <a:off x="494686" y="1333902"/>
            <a:ext cx="8524567" cy="4093428"/>
          </a:xfrm>
          <a:prstGeom prst="rect">
            <a:avLst/>
          </a:prstGeom>
          <a:noFill/>
        </p:spPr>
        <p:txBody>
          <a:bodyPr wrap="square" rtlCol="0">
            <a:spAutoFit/>
          </a:bodyPr>
          <a:lstStyle/>
          <a:p>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Brief review on FDM/FVM</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Learning numerical schemes from data</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Applications to PDEs</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56072637"/>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Contents</a:t>
            </a:r>
          </a:p>
        </p:txBody>
      </p:sp>
      <p:sp>
        <p:nvSpPr>
          <p:cNvPr id="2" name="文本框 1">
            <a:extLst>
              <a:ext uri="{FF2B5EF4-FFF2-40B4-BE49-F238E27FC236}">
                <a16:creationId xmlns:a16="http://schemas.microsoft.com/office/drawing/2014/main" id="{66C4B3CC-4919-4B0C-BEDA-5A309DD3CCAF}"/>
              </a:ext>
            </a:extLst>
          </p:cNvPr>
          <p:cNvSpPr txBox="1"/>
          <p:nvPr/>
        </p:nvSpPr>
        <p:spPr>
          <a:xfrm>
            <a:off x="494686" y="1333902"/>
            <a:ext cx="8524567" cy="4093428"/>
          </a:xfrm>
          <a:prstGeom prst="rect">
            <a:avLst/>
          </a:prstGeom>
          <a:noFill/>
        </p:spPr>
        <p:txBody>
          <a:bodyPr wrap="square" rtlCol="0">
            <a:spAutoFit/>
          </a:bodyPr>
          <a:lstStyle/>
          <a:p>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solidFill>
                  <a:srgbClr val="FF0000"/>
                </a:solidFill>
                <a:latin typeface="Times New Roman" panose="02020603050405020304" pitchFamily="18" charset="0"/>
                <a:cs typeface="Times New Roman" panose="02020603050405020304" pitchFamily="18" charset="0"/>
              </a:rPr>
              <a:t>Brief review on FDM/FVM</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Learning numerical schemes from data</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Applications to PDEs</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78814809"/>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Finite Difference Method (FDM)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8278761"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From Wiki</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3E99CF6-8E67-4534-8CBD-1828D7028A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37215"/>
            <a:ext cx="9135750" cy="2534004"/>
          </a:xfrm>
          <a:prstGeom prst="rect">
            <a:avLst/>
          </a:prstGeom>
        </p:spPr>
      </p:pic>
    </p:spTree>
    <p:extLst>
      <p:ext uri="{BB962C8B-B14F-4D97-AF65-F5344CB8AC3E}">
        <p14:creationId xmlns:p14="http://schemas.microsoft.com/office/powerpoint/2010/main" val="188081543"/>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Finite Difference Method (FDM)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8278761"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From Wiki</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79D9D105-AE74-4FAE-B8CA-91D700EB0A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77" y="854572"/>
            <a:ext cx="7201905" cy="1086002"/>
          </a:xfrm>
          <a:prstGeom prst="rect">
            <a:avLst/>
          </a:prstGeom>
        </p:spPr>
      </p:pic>
      <p:pic>
        <p:nvPicPr>
          <p:cNvPr id="6" name="图片 5">
            <a:extLst>
              <a:ext uri="{FF2B5EF4-FFF2-40B4-BE49-F238E27FC236}">
                <a16:creationId xmlns:a16="http://schemas.microsoft.com/office/drawing/2014/main" id="{C4376E43-AEE8-4BCD-957C-71C3B91671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731" y="2350595"/>
            <a:ext cx="4829849" cy="1038370"/>
          </a:xfrm>
          <a:prstGeom prst="rect">
            <a:avLst/>
          </a:prstGeom>
        </p:spPr>
      </p:pic>
      <p:pic>
        <p:nvPicPr>
          <p:cNvPr id="9" name="图片 8">
            <a:extLst>
              <a:ext uri="{FF2B5EF4-FFF2-40B4-BE49-F238E27FC236}">
                <a16:creationId xmlns:a16="http://schemas.microsoft.com/office/drawing/2014/main" id="{F79899A9-F20D-40A6-ACBF-6FBC2CE24D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8516" y="2201981"/>
            <a:ext cx="2911737" cy="1780406"/>
          </a:xfrm>
          <a:prstGeom prst="rect">
            <a:avLst/>
          </a:prstGeom>
        </p:spPr>
      </p:pic>
      <p:pic>
        <p:nvPicPr>
          <p:cNvPr id="11" name="图片 10">
            <a:extLst>
              <a:ext uri="{FF2B5EF4-FFF2-40B4-BE49-F238E27FC236}">
                <a16:creationId xmlns:a16="http://schemas.microsoft.com/office/drawing/2014/main" id="{03CF1C2C-4092-4259-8E9D-C2506F3CC4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214" y="3522691"/>
            <a:ext cx="3667637" cy="1162212"/>
          </a:xfrm>
          <a:prstGeom prst="rect">
            <a:avLst/>
          </a:prstGeom>
        </p:spPr>
      </p:pic>
      <p:pic>
        <p:nvPicPr>
          <p:cNvPr id="13" name="图片 12">
            <a:extLst>
              <a:ext uri="{FF2B5EF4-FFF2-40B4-BE49-F238E27FC236}">
                <a16:creationId xmlns:a16="http://schemas.microsoft.com/office/drawing/2014/main" id="{359D6092-7361-4CA4-8E4A-66816CFFE0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4362" y="4818630"/>
            <a:ext cx="4839375" cy="1762371"/>
          </a:xfrm>
          <a:prstGeom prst="rect">
            <a:avLst/>
          </a:prstGeom>
        </p:spPr>
      </p:pic>
      <p:pic>
        <p:nvPicPr>
          <p:cNvPr id="15" name="图片 14">
            <a:extLst>
              <a:ext uri="{FF2B5EF4-FFF2-40B4-BE49-F238E27FC236}">
                <a16:creationId xmlns:a16="http://schemas.microsoft.com/office/drawing/2014/main" id="{D1FEA2D0-D4A3-4929-BCAE-1E9B8546685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76046" y="4597159"/>
            <a:ext cx="2911737" cy="1780406"/>
          </a:xfrm>
          <a:prstGeom prst="rect">
            <a:avLst/>
          </a:prstGeom>
        </p:spPr>
      </p:pic>
      <p:sp>
        <p:nvSpPr>
          <p:cNvPr id="17" name="矩形: 圆角 16">
            <a:extLst>
              <a:ext uri="{FF2B5EF4-FFF2-40B4-BE49-F238E27FC236}">
                <a16:creationId xmlns:a16="http://schemas.microsoft.com/office/drawing/2014/main" id="{C8B94EF0-93B9-4FDA-B55B-1896D1C50ACE}"/>
              </a:ext>
            </a:extLst>
          </p:cNvPr>
          <p:cNvSpPr/>
          <p:nvPr/>
        </p:nvSpPr>
        <p:spPr>
          <a:xfrm>
            <a:off x="472053" y="2185803"/>
            <a:ext cx="5132303" cy="253227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EF32DA08-31FC-41AA-A99D-858ED950EE8F}"/>
              </a:ext>
            </a:extLst>
          </p:cNvPr>
          <p:cNvSpPr/>
          <p:nvPr/>
        </p:nvSpPr>
        <p:spPr>
          <a:xfrm>
            <a:off x="472053" y="4793570"/>
            <a:ext cx="5132303" cy="1975134"/>
          </a:xfrm>
          <a:prstGeom prst="round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30547"/>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Finite Volume Method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8278761"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From Wiki</a:t>
            </a:r>
            <a:endParaRPr lang="zh-CN" altLang="en-US" sz="1200" i="1"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EDE903D7-363C-41E9-B7F0-B24A706F6B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2441" y="2427268"/>
            <a:ext cx="1629002" cy="628738"/>
          </a:xfrm>
          <a:prstGeom prst="rect">
            <a:avLst/>
          </a:prstGeom>
        </p:spPr>
      </p:pic>
      <p:pic>
        <p:nvPicPr>
          <p:cNvPr id="12" name="图片 11">
            <a:extLst>
              <a:ext uri="{FF2B5EF4-FFF2-40B4-BE49-F238E27FC236}">
                <a16:creationId xmlns:a16="http://schemas.microsoft.com/office/drawing/2014/main" id="{F03D1D62-642A-4F03-ADB0-49EBB992B3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40454"/>
            <a:ext cx="9144000" cy="3802365"/>
          </a:xfrm>
          <a:prstGeom prst="rect">
            <a:avLst/>
          </a:prstGeom>
        </p:spPr>
      </p:pic>
    </p:spTree>
    <p:extLst>
      <p:ext uri="{BB962C8B-B14F-4D97-AF65-F5344CB8AC3E}">
        <p14:creationId xmlns:p14="http://schemas.microsoft.com/office/powerpoint/2010/main" val="1181512029"/>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Finite Volume Method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8278761"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From Wiki</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47C04C3F-02CC-4646-8C90-68BED24849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60074"/>
            <a:ext cx="9144000" cy="4709988"/>
          </a:xfrm>
          <a:prstGeom prst="rect">
            <a:avLst/>
          </a:prstGeom>
        </p:spPr>
      </p:pic>
    </p:spTree>
    <p:extLst>
      <p:ext uri="{BB962C8B-B14F-4D97-AF65-F5344CB8AC3E}">
        <p14:creationId xmlns:p14="http://schemas.microsoft.com/office/powerpoint/2010/main" val="330212306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Finite Volume Method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8278761"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From Wiki</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DCA7FFB4-260B-48EB-8A0A-B69BE8075D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57630"/>
            <a:ext cx="9144000" cy="1759514"/>
          </a:xfrm>
          <a:prstGeom prst="rect">
            <a:avLst/>
          </a:prstGeom>
        </p:spPr>
      </p:pic>
    </p:spTree>
    <p:extLst>
      <p:ext uri="{BB962C8B-B14F-4D97-AF65-F5344CB8AC3E}">
        <p14:creationId xmlns:p14="http://schemas.microsoft.com/office/powerpoint/2010/main" val="4113968219"/>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From DNNs to PINNs</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670" y="1112909"/>
            <a:ext cx="3794306" cy="2868866"/>
          </a:xfrm>
          <a:prstGeom prst="rect">
            <a:avLst/>
          </a:prstGeom>
        </p:spPr>
      </p:pic>
      <p:grpSp>
        <p:nvGrpSpPr>
          <p:cNvPr id="11" name="组合 10"/>
          <p:cNvGrpSpPr/>
          <p:nvPr/>
        </p:nvGrpSpPr>
        <p:grpSpPr>
          <a:xfrm>
            <a:off x="5426721" y="1190533"/>
            <a:ext cx="3474611" cy="3171315"/>
            <a:chOff x="5465971" y="1054037"/>
            <a:chExt cx="3474611" cy="3171315"/>
          </a:xfrm>
        </p:grpSpPr>
        <p:grpSp>
          <p:nvGrpSpPr>
            <p:cNvPr id="5" name="组合 4"/>
            <p:cNvGrpSpPr/>
            <p:nvPr/>
          </p:nvGrpSpPr>
          <p:grpSpPr>
            <a:xfrm>
              <a:off x="5465971" y="1054037"/>
              <a:ext cx="3474611" cy="2004879"/>
              <a:chOff x="5151229" y="1346753"/>
              <a:chExt cx="3474611" cy="2004879"/>
            </a:xfrm>
          </p:grpSpPr>
          <mc:AlternateContent xmlns:mc="http://schemas.openxmlformats.org/markup-compatibility/2006" xmlns:a14="http://schemas.microsoft.com/office/drawing/2010/main">
            <mc:Choice Requires="a14">
              <p:sp>
                <p:nvSpPr>
                  <p:cNvPr id="6" name="文本框 5"/>
                  <p:cNvSpPr txBox="1"/>
                  <p:nvPr/>
                </p:nvSpPr>
                <p:spPr>
                  <a:xfrm>
                    <a:off x="5151229" y="1346753"/>
                    <a:ext cx="33934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𝜎</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1</m:t>
                              </m:r>
                            </m:sub>
                            <m:sup>
                              <m:r>
                                <a:rPr lang="en-US" b="0" i="1" smtClean="0">
                                  <a:latin typeface="Cambria Math" panose="02040503050406030204" pitchFamily="18" charset="0"/>
                                </a:rPr>
                                <m:t>𝑇</m:t>
                              </m:r>
                            </m:sup>
                          </m:sSubSup>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151229" y="1346753"/>
                    <a:ext cx="3393440" cy="369332"/>
                  </a:xfrm>
                  <a:prstGeom prst="rect">
                    <a:avLst/>
                  </a:prstGeom>
                  <a:blipFill>
                    <a:blip r:embed="rId4"/>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5232400" y="1859364"/>
                    <a:ext cx="3393440" cy="1492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𝜎</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2</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oMath>
                      </m:oMathPara>
                    </a14:m>
                    <a:endParaRPr lang="en-US" b="0" dirty="0"/>
                  </a:p>
                  <a:p>
                    <a:endParaRPr lang="en-US" b="0" dirty="0"/>
                  </a:p>
                  <a:p>
                    <a:pPr algn="ctr"/>
                    <a:r>
                      <a:rPr lang="en-US" dirty="0"/>
                      <a:t>…</a:t>
                    </a:r>
                  </a:p>
                  <a:p>
                    <a:pPr algn="ctr"/>
                    <a:endParaRPr lang="en-US"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𝑙</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𝑙</m:t>
                              </m:r>
                            </m:sub>
                          </m:sSub>
                        </m:oMath>
                      </m:oMathPara>
                    </a14:m>
                    <a:endParaRPr 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5232400" y="1859364"/>
                    <a:ext cx="3393440" cy="1492268"/>
                  </a:xfrm>
                  <a:prstGeom prst="rect">
                    <a:avLst/>
                  </a:prstGeom>
                  <a:blipFill>
                    <a:blip r:embed="rId5"/>
                    <a:stretch>
                      <a:fillRect/>
                    </a:stretch>
                  </a:blipFill>
                </p:spPr>
                <p:txBody>
                  <a:bodyPr/>
                  <a:lstStyle/>
                  <a:p>
                    <a:r>
                      <a:rPr lang="en-US">
                        <a:noFill/>
                      </a:rPr>
                      <a:t> </a:t>
                    </a:r>
                  </a:p>
                </p:txBody>
              </p:sp>
            </mc:Fallback>
          </mc:AlternateContent>
        </p:grpSp>
        <p:sp>
          <p:nvSpPr>
            <p:cNvPr id="4" name="文本框 3"/>
            <p:cNvSpPr txBox="1"/>
            <p:nvPr/>
          </p:nvSpPr>
          <p:spPr>
            <a:xfrm>
              <a:off x="5618371" y="1054037"/>
              <a:ext cx="4776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a:t>
              </a:r>
            </a:p>
          </p:txBody>
        </p:sp>
        <p:sp>
          <p:nvSpPr>
            <p:cNvPr id="9" name="文本框 8"/>
            <p:cNvSpPr txBox="1"/>
            <p:nvPr/>
          </p:nvSpPr>
          <p:spPr>
            <a:xfrm>
              <a:off x="5618371" y="3279077"/>
              <a:ext cx="284490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  PDE part: </a:t>
              </a:r>
              <a:r>
                <a:rPr lang="en-US" b="1" i="1" dirty="0">
                  <a:latin typeface="Times New Roman" panose="02020603050405020304" pitchFamily="18" charset="0"/>
                  <a:cs typeface="Times New Roman" panose="02020603050405020304" pitchFamily="18" charset="0"/>
                </a:rPr>
                <a:t>Chain rule</a:t>
              </a:r>
            </a:p>
          </p:txBody>
        </p:sp>
        <mc:AlternateContent xmlns:mc="http://schemas.openxmlformats.org/markup-compatibility/2006" xmlns:a14="http://schemas.microsoft.com/office/drawing/2010/main">
          <mc:Choice Requires="a14">
            <p:sp>
              <p:nvSpPr>
                <p:cNvPr id="10" name="文本框 9"/>
                <p:cNvSpPr txBox="1"/>
                <p:nvPr/>
              </p:nvSpPr>
              <p:spPr>
                <a:xfrm>
                  <a:off x="5658956" y="3856020"/>
                  <a:ext cx="31698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𝑡</m:t>
                            </m:r>
                          </m:sub>
                        </m:sSub>
                        <m:r>
                          <a:rPr lang="en-US" b="0" i="1" smtClean="0">
                            <a:latin typeface="Cambria Math" panose="02040503050406030204" pitchFamily="18" charset="0"/>
                          </a:rPr>
                          <m:t>𝑢</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𝑥</m:t>
                            </m:r>
                          </m:sub>
                        </m:sSub>
                        <m:r>
                          <a:rPr lang="en-US" b="0" i="1" smtClean="0">
                            <a:latin typeface="Cambria Math" panose="02040503050406030204" pitchFamily="18" charset="0"/>
                          </a:rPr>
                          <m:t>𝑢</m:t>
                        </m:r>
                        <m:r>
                          <a:rPr lang="en-US" b="0" i="1" smtClean="0">
                            <a:latin typeface="Cambria Math" panose="02040503050406030204" pitchFamily="18" charset="0"/>
                          </a:rPr>
                          <m:t>, …</m:t>
                        </m:r>
                      </m:oMath>
                    </m:oMathPara>
                  </a14:m>
                  <a:endParaRPr 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5658956" y="3856020"/>
                  <a:ext cx="3169811" cy="369332"/>
                </a:xfrm>
                <a:prstGeom prst="rect">
                  <a:avLst/>
                </a:prstGeom>
                <a:blipFill>
                  <a:blip r:embed="rId6"/>
                  <a:stretch>
                    <a:fillRect/>
                  </a:stretch>
                </a:blipFill>
              </p:spPr>
              <p:txBody>
                <a:bodyPr/>
                <a:lstStyle/>
                <a:p>
                  <a:r>
                    <a:rPr lang="en-US">
                      <a:noFill/>
                    </a:rPr>
                    <a:t> </a:t>
                  </a:r>
                </a:p>
              </p:txBody>
            </p:sp>
          </mc:Fallback>
        </mc:AlternateContent>
      </p:grpSp>
      <p:sp>
        <p:nvSpPr>
          <p:cNvPr id="12" name="文本框 11"/>
          <p:cNvSpPr txBox="1"/>
          <p:nvPr/>
        </p:nvSpPr>
        <p:spPr>
          <a:xfrm>
            <a:off x="580738" y="4661765"/>
            <a:ext cx="8056476"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Loss function: </a:t>
            </a:r>
          </a:p>
          <a:p>
            <a:endParaRPr lang="en-US" sz="20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580738" y="5066076"/>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Forward problem:</a:t>
            </a:r>
          </a:p>
        </p:txBody>
      </p:sp>
      <mc:AlternateContent xmlns:mc="http://schemas.openxmlformats.org/markup-compatibility/2006" xmlns:a14="http://schemas.microsoft.com/office/drawing/2010/main">
        <mc:Choice Requires="a14">
          <p:sp>
            <p:nvSpPr>
              <p:cNvPr id="14" name="矩形 13"/>
              <p:cNvSpPr/>
              <p:nvPr/>
            </p:nvSpPr>
            <p:spPr>
              <a:xfrm>
                <a:off x="2578313" y="5074632"/>
                <a:ext cx="4522905" cy="4585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𝐿</m:t>
                      </m:r>
                      <m:r>
                        <a:rPr lang="en-US" i="1" smtClean="0">
                          <a:latin typeface="Cambria Math" panose="02040503050406030204" pitchFamily="18" charset="0"/>
                        </a:rPr>
                        <m:t>=</m:t>
                      </m:r>
                      <m:sSup>
                        <m:sSupPr>
                          <m:ctrlPr>
                            <a:rPr lang="en-US" i="1">
                              <a:latin typeface="Cambria Math" panose="02040503050406030204" pitchFamily="18" charset="0"/>
                            </a:rPr>
                          </m:ctrlPr>
                        </m:sSupPr>
                        <m:e>
                          <m:limLow>
                            <m:limLowPr>
                              <m:ctrlPr>
                                <a:rPr lang="en-US" b="0" i="1" smtClean="0">
                                  <a:latin typeface="Cambria Math" panose="02040503050406030204" pitchFamily="18" charset="0"/>
                                </a:rPr>
                              </m:ctrlPr>
                            </m:limLowPr>
                            <m:e>
                              <m:r>
                                <m:rPr>
                                  <m:sty m:val="p"/>
                                </m:rPr>
                                <a:rPr lang="en-US">
                                  <a:latin typeface="Cambria Math" panose="02040503050406030204" pitchFamily="18" charset="0"/>
                                </a:rPr>
                                <m:t>min</m:t>
                              </m:r>
                            </m:e>
                            <m:lim>
                              <m:r>
                                <a:rPr lang="en-US" b="0" i="1" smtClean="0">
                                  <a:latin typeface="Cambria Math" panose="02040503050406030204" pitchFamily="18" charset="0"/>
                                </a:rPr>
                                <m:t>𝜃</m:t>
                              </m:r>
                            </m:lim>
                          </m:limLow>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e>
                        <m:sup>
                          <m:r>
                            <a:rPr lang="en-US" i="1">
                              <a:latin typeface="Cambria Math" panose="02040503050406030204" pitchFamily="18" charset="0"/>
                            </a:rPr>
                            <m:t>2</m:t>
                          </m:r>
                        </m:sup>
                      </m:sSup>
                      <m:r>
                        <a:rPr lang="en-US">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Sub>
                            </m:e>
                          </m:d>
                        </m:e>
                        <m:sup>
                          <m:r>
                            <a:rPr lang="en-US" b="0" i="0" smtClean="0">
                              <a:latin typeface="Cambria Math" panose="02040503050406030204" pitchFamily="18" charset="0"/>
                            </a:rPr>
                            <m:t>2</m:t>
                          </m:r>
                        </m:sup>
                      </m:sSup>
                      <m:r>
                        <a:rPr lang="en-US">
                          <a:latin typeface="Cambria Math" panose="02040503050406030204" pitchFamily="18" charset="0"/>
                        </a:rPr>
                        <m:t>)</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2578313" y="5074632"/>
                <a:ext cx="4522905" cy="458523"/>
              </a:xfrm>
              <a:prstGeom prst="rect">
                <a:avLst/>
              </a:prstGeom>
              <a:blipFill>
                <a:blip r:embed="rId7"/>
                <a:stretch>
                  <a:fillRect b="-2632"/>
                </a:stretch>
              </a:blipFill>
            </p:spPr>
            <p:txBody>
              <a:bodyPr/>
              <a:lstStyle/>
              <a:p>
                <a:r>
                  <a:rPr lang="en-US">
                    <a:noFill/>
                  </a:rPr>
                  <a:t> </a:t>
                </a:r>
              </a:p>
            </p:txBody>
          </p:sp>
        </mc:Fallback>
      </mc:AlternateContent>
      <p:sp>
        <p:nvSpPr>
          <p:cNvPr id="15" name="文本框 14"/>
          <p:cNvSpPr txBox="1"/>
          <p:nvPr/>
        </p:nvSpPr>
        <p:spPr>
          <a:xfrm>
            <a:off x="580738" y="5527118"/>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Inverse problem:</a:t>
            </a:r>
          </a:p>
        </p:txBody>
      </p:sp>
      <mc:AlternateContent xmlns:mc="http://schemas.openxmlformats.org/markup-compatibility/2006" xmlns:a14="http://schemas.microsoft.com/office/drawing/2010/main">
        <mc:Choice Requires="a14">
          <p:sp>
            <p:nvSpPr>
              <p:cNvPr id="16" name="矩形 15"/>
              <p:cNvSpPr/>
              <p:nvPr/>
            </p:nvSpPr>
            <p:spPr>
              <a:xfrm>
                <a:off x="2578313" y="5548280"/>
                <a:ext cx="5696816" cy="479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𝐿</m:t>
                      </m:r>
                      <m:r>
                        <a:rPr lang="en-US" i="1" smtClean="0">
                          <a:latin typeface="Cambria Math" panose="02040503050406030204" pitchFamily="18" charset="0"/>
                        </a:rPr>
                        <m:t>=</m:t>
                      </m:r>
                      <m:sSup>
                        <m:sSupPr>
                          <m:ctrlPr>
                            <a:rPr lang="en-US" i="1">
                              <a:latin typeface="Cambria Math" panose="02040503050406030204" pitchFamily="18" charset="0"/>
                            </a:rPr>
                          </m:ctrlPr>
                        </m:sSupPr>
                        <m:e>
                          <m:limLow>
                            <m:limLowPr>
                              <m:ctrlPr>
                                <a:rPr lang="en-US" b="0" i="1" smtClean="0">
                                  <a:latin typeface="Cambria Math" panose="02040503050406030204" pitchFamily="18" charset="0"/>
                                </a:rPr>
                              </m:ctrlPr>
                            </m:limLowPr>
                            <m:e>
                              <m:r>
                                <m:rPr>
                                  <m:sty m:val="p"/>
                                </m:rPr>
                                <a:rPr lang="en-US">
                                  <a:latin typeface="Cambria Math" panose="02040503050406030204" pitchFamily="18" charset="0"/>
                                </a:rPr>
                                <m:t>min</m:t>
                              </m:r>
                            </m:e>
                            <m:lim>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𝜆</m:t>
                              </m:r>
                            </m:lim>
                          </m:limLow>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e>
                        <m:sup>
                          <m:r>
                            <a:rPr lang="en-US" i="1">
                              <a:latin typeface="Cambria Math" panose="02040503050406030204" pitchFamily="18" charset="0"/>
                            </a:rPr>
                            <m:t>2</m:t>
                          </m:r>
                        </m:sup>
                      </m:sSup>
                      <m:r>
                        <a:rPr lang="en-US">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𝑢</m:t>
                              </m:r>
                            </m:e>
                          </m:d>
                        </m:e>
                        <m:sup>
                          <m:r>
                            <a:rPr lang="en-US" b="0" i="1" smtClean="0">
                              <a:latin typeface="Cambria Math" panose="02040503050406030204" pitchFamily="18" charset="0"/>
                            </a:rPr>
                            <m:t>2</m:t>
                          </m:r>
                        </m:sup>
                      </m:sSup>
                      <m:r>
                        <a:rPr lang="en-US">
                          <a:latin typeface="Cambria Math" panose="02040503050406030204" pitchFamily="18" charset="0"/>
                        </a:rPr>
                        <m:t>)</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2578313" y="5548280"/>
                <a:ext cx="5696816" cy="479683"/>
              </a:xfrm>
              <a:prstGeom prst="rect">
                <a:avLst/>
              </a:prstGeom>
              <a:blipFill>
                <a:blip r:embed="rId8"/>
                <a:stretch>
                  <a:fillRect/>
                </a:stretch>
              </a:blipFill>
            </p:spPr>
            <p:txBody>
              <a:bodyPr/>
              <a:lstStyle/>
              <a:p>
                <a:r>
                  <a:rPr lang="en-US">
                    <a:noFill/>
                  </a:rPr>
                  <a:t> </a:t>
                </a:r>
              </a:p>
            </p:txBody>
          </p:sp>
        </mc:Fallback>
      </mc:AlternateContent>
      <p:sp>
        <p:nvSpPr>
          <p:cNvPr id="18" name="矩形 17"/>
          <p:cNvSpPr/>
          <p:nvPr/>
        </p:nvSpPr>
        <p:spPr>
          <a:xfrm>
            <a:off x="7250533" y="6396335"/>
            <a:ext cx="1893467" cy="461665"/>
          </a:xfrm>
          <a:prstGeom prst="rect">
            <a:avLst/>
          </a:prstGeom>
        </p:spPr>
        <p:txBody>
          <a:bodyPr wrap="none">
            <a:spAutoFit/>
          </a:bodyPr>
          <a:lstStyle/>
          <a:p>
            <a:r>
              <a:rPr lang="en-US" sz="1200" i="1" dirty="0" err="1">
                <a:latin typeface="Times New Roman" panose="02020603050405020304" pitchFamily="18" charset="0"/>
                <a:cs typeface="Times New Roman" panose="02020603050405020304" pitchFamily="18" charset="0"/>
              </a:rPr>
              <a:t>Raissi</a:t>
            </a:r>
            <a:r>
              <a:rPr lang="en-US" sz="1200" i="1" dirty="0">
                <a:latin typeface="Times New Roman" panose="02020603050405020304" pitchFamily="18" charset="0"/>
                <a:cs typeface="Times New Roman" panose="02020603050405020304" pitchFamily="18" charset="0"/>
              </a:rPr>
              <a:t>, et al, JCP, 2019</a:t>
            </a:r>
          </a:p>
          <a:p>
            <a:r>
              <a:rPr lang="en-US" sz="1200" i="1" dirty="0">
                <a:latin typeface="Times New Roman" panose="02020603050405020304" pitchFamily="18" charset="0"/>
                <a:cs typeface="Times New Roman" panose="02020603050405020304" pitchFamily="18" charset="0"/>
              </a:rPr>
              <a:t>Meng, et al, CMAME, 2020</a:t>
            </a:r>
          </a:p>
        </p:txBody>
      </p:sp>
      <p:sp>
        <p:nvSpPr>
          <p:cNvPr id="22" name="文本框 21">
            <a:extLst>
              <a:ext uri="{FF2B5EF4-FFF2-40B4-BE49-F238E27FC236}">
                <a16:creationId xmlns:a16="http://schemas.microsoft.com/office/drawing/2014/main" id="{3BE1F7E1-211A-4E2D-87EC-F8C396EAF36B}"/>
              </a:ext>
            </a:extLst>
          </p:cNvPr>
          <p:cNvSpPr txBox="1"/>
          <p:nvPr/>
        </p:nvSpPr>
        <p:spPr>
          <a:xfrm>
            <a:off x="646881" y="4167881"/>
            <a:ext cx="4129884"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Physics-informed neural networks (PINNs)</a:t>
            </a:r>
            <a:endParaRPr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301196"/>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FDM-based PINNs</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670" y="1112909"/>
            <a:ext cx="3794306" cy="2868866"/>
          </a:xfrm>
          <a:prstGeom prst="rect">
            <a:avLst/>
          </a:prstGeom>
        </p:spPr>
      </p:pic>
      <p:grpSp>
        <p:nvGrpSpPr>
          <p:cNvPr id="11" name="组合 10"/>
          <p:cNvGrpSpPr/>
          <p:nvPr/>
        </p:nvGrpSpPr>
        <p:grpSpPr>
          <a:xfrm>
            <a:off x="5426721" y="1190533"/>
            <a:ext cx="3946706" cy="3171315"/>
            <a:chOff x="5465971" y="1054037"/>
            <a:chExt cx="3946706" cy="3171315"/>
          </a:xfrm>
        </p:grpSpPr>
        <p:grpSp>
          <p:nvGrpSpPr>
            <p:cNvPr id="5" name="组合 4"/>
            <p:cNvGrpSpPr/>
            <p:nvPr/>
          </p:nvGrpSpPr>
          <p:grpSpPr>
            <a:xfrm>
              <a:off x="5465971" y="1054037"/>
              <a:ext cx="3474611" cy="2004879"/>
              <a:chOff x="5151229" y="1346753"/>
              <a:chExt cx="3474611" cy="2004879"/>
            </a:xfrm>
          </p:grpSpPr>
          <mc:AlternateContent xmlns:mc="http://schemas.openxmlformats.org/markup-compatibility/2006" xmlns:a14="http://schemas.microsoft.com/office/drawing/2010/main">
            <mc:Choice Requires="a14">
              <p:sp>
                <p:nvSpPr>
                  <p:cNvPr id="6" name="文本框 5"/>
                  <p:cNvSpPr txBox="1"/>
                  <p:nvPr/>
                </p:nvSpPr>
                <p:spPr>
                  <a:xfrm>
                    <a:off x="5151229" y="1346753"/>
                    <a:ext cx="33934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𝜎</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1</m:t>
                              </m:r>
                            </m:sub>
                            <m:sup>
                              <m:r>
                                <a:rPr lang="en-US" b="0" i="1" smtClean="0">
                                  <a:latin typeface="Cambria Math" panose="02040503050406030204" pitchFamily="18" charset="0"/>
                                </a:rPr>
                                <m:t>𝑇</m:t>
                              </m:r>
                            </m:sup>
                          </m:sSubSup>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151229" y="1346753"/>
                    <a:ext cx="3393440" cy="369332"/>
                  </a:xfrm>
                  <a:prstGeom prst="rect">
                    <a:avLst/>
                  </a:prstGeom>
                  <a:blipFill>
                    <a:blip r:embed="rId4"/>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5232400" y="1859364"/>
                    <a:ext cx="3393440" cy="1492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𝜎</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2</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oMath>
                      </m:oMathPara>
                    </a14:m>
                    <a:endParaRPr lang="en-US" b="0" dirty="0"/>
                  </a:p>
                  <a:p>
                    <a:endParaRPr lang="en-US" b="0" dirty="0"/>
                  </a:p>
                  <a:p>
                    <a:pPr algn="ctr"/>
                    <a:r>
                      <a:rPr lang="en-US" dirty="0"/>
                      <a:t>…</a:t>
                    </a:r>
                  </a:p>
                  <a:p>
                    <a:pPr algn="ctr"/>
                    <a:endParaRPr lang="en-US"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𝑙</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𝑙</m:t>
                              </m:r>
                            </m:sub>
                          </m:sSub>
                        </m:oMath>
                      </m:oMathPara>
                    </a14:m>
                    <a:endParaRPr 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5232400" y="1859364"/>
                    <a:ext cx="3393440" cy="1492268"/>
                  </a:xfrm>
                  <a:prstGeom prst="rect">
                    <a:avLst/>
                  </a:prstGeom>
                  <a:blipFill>
                    <a:blip r:embed="rId5"/>
                    <a:stretch>
                      <a:fillRect/>
                    </a:stretch>
                  </a:blipFill>
                </p:spPr>
                <p:txBody>
                  <a:bodyPr/>
                  <a:lstStyle/>
                  <a:p>
                    <a:r>
                      <a:rPr lang="en-US">
                        <a:noFill/>
                      </a:rPr>
                      <a:t> </a:t>
                    </a:r>
                  </a:p>
                </p:txBody>
              </p:sp>
            </mc:Fallback>
          </mc:AlternateContent>
        </p:grpSp>
        <p:sp>
          <p:nvSpPr>
            <p:cNvPr id="4" name="文本框 3"/>
            <p:cNvSpPr txBox="1"/>
            <p:nvPr/>
          </p:nvSpPr>
          <p:spPr>
            <a:xfrm>
              <a:off x="5618371" y="1054037"/>
              <a:ext cx="4776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a:t>
              </a:r>
            </a:p>
          </p:txBody>
        </p:sp>
        <p:sp>
          <p:nvSpPr>
            <p:cNvPr id="9" name="文本框 8"/>
            <p:cNvSpPr txBox="1"/>
            <p:nvPr/>
          </p:nvSpPr>
          <p:spPr>
            <a:xfrm>
              <a:off x="5618371" y="3279077"/>
              <a:ext cx="37943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  PDE part: </a:t>
              </a:r>
              <a:r>
                <a:rPr lang="en-US" b="1" i="1" dirty="0">
                  <a:latin typeface="Times New Roman" panose="02020603050405020304" pitchFamily="18" charset="0"/>
                  <a:cs typeface="Times New Roman" panose="02020603050405020304" pitchFamily="18" charset="0"/>
                </a:rPr>
                <a:t>finite difference</a:t>
              </a:r>
            </a:p>
          </p:txBody>
        </p:sp>
        <mc:AlternateContent xmlns:mc="http://schemas.openxmlformats.org/markup-compatibility/2006" xmlns:a14="http://schemas.microsoft.com/office/drawing/2010/main">
          <mc:Choice Requires="a14">
            <p:sp>
              <p:nvSpPr>
                <p:cNvPr id="10" name="文本框 9"/>
                <p:cNvSpPr txBox="1"/>
                <p:nvPr/>
              </p:nvSpPr>
              <p:spPr>
                <a:xfrm>
                  <a:off x="5658956" y="3856020"/>
                  <a:ext cx="31698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𝑡</m:t>
                            </m:r>
                          </m:sub>
                        </m:sSub>
                        <m:r>
                          <a:rPr lang="en-US" b="0" i="1" smtClean="0">
                            <a:latin typeface="Cambria Math" panose="02040503050406030204" pitchFamily="18" charset="0"/>
                          </a:rPr>
                          <m:t>𝑢</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𝑥</m:t>
                            </m:r>
                          </m:sub>
                        </m:sSub>
                        <m:r>
                          <a:rPr lang="en-US" b="0" i="1" smtClean="0">
                            <a:latin typeface="Cambria Math" panose="02040503050406030204" pitchFamily="18" charset="0"/>
                          </a:rPr>
                          <m:t>𝑢</m:t>
                        </m:r>
                        <m:r>
                          <a:rPr lang="en-US" b="0" i="1" smtClean="0">
                            <a:latin typeface="Cambria Math" panose="02040503050406030204" pitchFamily="18" charset="0"/>
                          </a:rPr>
                          <m:t>, …</m:t>
                        </m:r>
                      </m:oMath>
                    </m:oMathPara>
                  </a14:m>
                  <a:endParaRPr 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5658956" y="3856020"/>
                  <a:ext cx="3169811" cy="369332"/>
                </a:xfrm>
                <a:prstGeom prst="rect">
                  <a:avLst/>
                </a:prstGeom>
                <a:blipFill>
                  <a:blip r:embed="rId6"/>
                  <a:stretch>
                    <a:fillRect/>
                  </a:stretch>
                </a:blipFill>
              </p:spPr>
              <p:txBody>
                <a:bodyPr/>
                <a:lstStyle/>
                <a:p>
                  <a:r>
                    <a:rPr lang="en-US">
                      <a:noFill/>
                    </a:rPr>
                    <a:t> </a:t>
                  </a:r>
                </a:p>
              </p:txBody>
            </p:sp>
          </mc:Fallback>
        </mc:AlternateContent>
      </p:grpSp>
      <p:sp>
        <p:nvSpPr>
          <p:cNvPr id="22" name="文本框 21">
            <a:extLst>
              <a:ext uri="{FF2B5EF4-FFF2-40B4-BE49-F238E27FC236}">
                <a16:creationId xmlns:a16="http://schemas.microsoft.com/office/drawing/2014/main" id="{3BE1F7E1-211A-4E2D-87EC-F8C396EAF36B}"/>
              </a:ext>
            </a:extLst>
          </p:cNvPr>
          <p:cNvSpPr txBox="1"/>
          <p:nvPr/>
        </p:nvSpPr>
        <p:spPr>
          <a:xfrm>
            <a:off x="646881" y="4167881"/>
            <a:ext cx="4129884"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Physics-informed neural networks (PINNs)</a:t>
            </a:r>
            <a:endParaRPr lang="zh-CN" altLang="en-US" sz="14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6701FEA2-2C02-48B7-A535-633F9103D051}"/>
              </a:ext>
            </a:extLst>
          </p:cNvPr>
          <p:cNvPicPr>
            <a:picLocks noChangeAspect="1"/>
          </p:cNvPicPr>
          <p:nvPr/>
        </p:nvPicPr>
        <p:blipFill>
          <a:blip r:embed="rId7"/>
          <a:stretch>
            <a:fillRect/>
          </a:stretch>
        </p:blipFill>
        <p:spPr>
          <a:xfrm>
            <a:off x="646881" y="4475658"/>
            <a:ext cx="3305046" cy="2002987"/>
          </a:xfrm>
          <a:prstGeom prst="rect">
            <a:avLst/>
          </a:prstGeom>
        </p:spPr>
      </p:pic>
      <p:pic>
        <p:nvPicPr>
          <p:cNvPr id="17" name="图片 16">
            <a:extLst>
              <a:ext uri="{FF2B5EF4-FFF2-40B4-BE49-F238E27FC236}">
                <a16:creationId xmlns:a16="http://schemas.microsoft.com/office/drawing/2014/main" id="{A1A32E80-BF36-4E42-B862-B705F4769D0F}"/>
              </a:ext>
            </a:extLst>
          </p:cNvPr>
          <p:cNvPicPr>
            <a:picLocks noChangeAspect="1"/>
          </p:cNvPicPr>
          <p:nvPr/>
        </p:nvPicPr>
        <p:blipFill rotWithShape="1">
          <a:blip r:embed="rId8"/>
          <a:srcRect t="49286"/>
          <a:stretch/>
        </p:blipFill>
        <p:spPr>
          <a:xfrm>
            <a:off x="4313548" y="4478478"/>
            <a:ext cx="4334317" cy="739536"/>
          </a:xfrm>
          <a:prstGeom prst="rect">
            <a:avLst/>
          </a:prstGeom>
        </p:spPr>
      </p:pic>
      <p:pic>
        <p:nvPicPr>
          <p:cNvPr id="19" name="图片 18">
            <a:extLst>
              <a:ext uri="{FF2B5EF4-FFF2-40B4-BE49-F238E27FC236}">
                <a16:creationId xmlns:a16="http://schemas.microsoft.com/office/drawing/2014/main" id="{DC0BC4BC-804A-4511-A982-4CC83D796B21}"/>
              </a:ext>
            </a:extLst>
          </p:cNvPr>
          <p:cNvPicPr>
            <a:picLocks noChangeAspect="1"/>
          </p:cNvPicPr>
          <p:nvPr/>
        </p:nvPicPr>
        <p:blipFill>
          <a:blip r:embed="rId9"/>
          <a:stretch>
            <a:fillRect/>
          </a:stretch>
        </p:blipFill>
        <p:spPr>
          <a:xfrm>
            <a:off x="3977528" y="5219030"/>
            <a:ext cx="4842633" cy="1149994"/>
          </a:xfrm>
          <a:prstGeom prst="rect">
            <a:avLst/>
          </a:prstGeom>
        </p:spPr>
      </p:pic>
      <p:sp>
        <p:nvSpPr>
          <p:cNvPr id="21" name="矩形 20">
            <a:extLst>
              <a:ext uri="{FF2B5EF4-FFF2-40B4-BE49-F238E27FC236}">
                <a16:creationId xmlns:a16="http://schemas.microsoft.com/office/drawing/2014/main" id="{EA595BFA-A44E-4814-99C5-C821065034AF}"/>
              </a:ext>
            </a:extLst>
          </p:cNvPr>
          <p:cNvSpPr/>
          <p:nvPr/>
        </p:nvSpPr>
        <p:spPr>
          <a:xfrm>
            <a:off x="7987914" y="6581001"/>
            <a:ext cx="1156086" cy="276999"/>
          </a:xfrm>
          <a:prstGeom prst="rect">
            <a:avLst/>
          </a:prstGeom>
        </p:spPr>
        <p:txBody>
          <a:bodyPr wrap="none">
            <a:spAutoFit/>
          </a:bodyPr>
          <a:lstStyle/>
          <a:p>
            <a:r>
              <a:rPr lang="en-US" sz="1200" i="1" dirty="0">
                <a:latin typeface="Times New Roman" panose="02020603050405020304" pitchFamily="18" charset="0"/>
                <a:cs typeface="Times New Roman" panose="02020603050405020304" pitchFamily="18" charset="0"/>
              </a:rPr>
              <a:t>Lim, et al, 2022</a:t>
            </a:r>
          </a:p>
        </p:txBody>
      </p:sp>
    </p:spTree>
    <p:extLst>
      <p:ext uri="{BB962C8B-B14F-4D97-AF65-F5344CB8AC3E}">
        <p14:creationId xmlns:p14="http://schemas.microsoft.com/office/powerpoint/2010/main" val="83194321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FDM-based PINNs</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670" y="1112909"/>
            <a:ext cx="3794306" cy="2868866"/>
          </a:xfrm>
          <a:prstGeom prst="rect">
            <a:avLst/>
          </a:prstGeom>
        </p:spPr>
      </p:pic>
      <p:grpSp>
        <p:nvGrpSpPr>
          <p:cNvPr id="11" name="组合 10"/>
          <p:cNvGrpSpPr/>
          <p:nvPr/>
        </p:nvGrpSpPr>
        <p:grpSpPr>
          <a:xfrm>
            <a:off x="5426721" y="1190533"/>
            <a:ext cx="3946706" cy="3171315"/>
            <a:chOff x="5465971" y="1054037"/>
            <a:chExt cx="3946706" cy="3171315"/>
          </a:xfrm>
        </p:grpSpPr>
        <p:grpSp>
          <p:nvGrpSpPr>
            <p:cNvPr id="5" name="组合 4"/>
            <p:cNvGrpSpPr/>
            <p:nvPr/>
          </p:nvGrpSpPr>
          <p:grpSpPr>
            <a:xfrm>
              <a:off x="5465971" y="1054037"/>
              <a:ext cx="3474611" cy="2004879"/>
              <a:chOff x="5151229" y="1346753"/>
              <a:chExt cx="3474611" cy="2004879"/>
            </a:xfrm>
          </p:grpSpPr>
          <mc:AlternateContent xmlns:mc="http://schemas.openxmlformats.org/markup-compatibility/2006" xmlns:a14="http://schemas.microsoft.com/office/drawing/2010/main">
            <mc:Choice Requires="a14">
              <p:sp>
                <p:nvSpPr>
                  <p:cNvPr id="6" name="文本框 5"/>
                  <p:cNvSpPr txBox="1"/>
                  <p:nvPr/>
                </p:nvSpPr>
                <p:spPr>
                  <a:xfrm>
                    <a:off x="5151229" y="1346753"/>
                    <a:ext cx="33934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𝜎</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1</m:t>
                              </m:r>
                            </m:sub>
                            <m:sup>
                              <m:r>
                                <a:rPr lang="en-US" b="0" i="1" smtClean="0">
                                  <a:latin typeface="Cambria Math" panose="02040503050406030204" pitchFamily="18" charset="0"/>
                                </a:rPr>
                                <m:t>𝑇</m:t>
                              </m:r>
                            </m:sup>
                          </m:sSubSup>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5151229" y="1346753"/>
                    <a:ext cx="3393440" cy="369332"/>
                  </a:xfrm>
                  <a:prstGeom prst="rect">
                    <a:avLst/>
                  </a:prstGeom>
                  <a:blipFill>
                    <a:blip r:embed="rId4"/>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5232400" y="1859364"/>
                    <a:ext cx="3393440" cy="1492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𝜎</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2</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d>
                        </m:oMath>
                      </m:oMathPara>
                    </a14:m>
                    <a:endParaRPr lang="en-US" b="0" dirty="0"/>
                  </a:p>
                  <a:p>
                    <a:endParaRPr lang="en-US" b="0" dirty="0"/>
                  </a:p>
                  <a:p>
                    <a:pPr algn="ctr"/>
                    <a:r>
                      <a:rPr lang="en-US" dirty="0"/>
                      <a:t>…</a:t>
                    </a:r>
                  </a:p>
                  <a:p>
                    <a:pPr algn="ctr"/>
                    <a:endParaRPr lang="en-US"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𝑙</m:t>
                              </m:r>
                            </m:sub>
                            <m:sup>
                              <m:r>
                                <a:rPr lang="en-US" b="0" i="1" smtClean="0">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𝑙</m:t>
                              </m:r>
                            </m:sub>
                          </m:sSub>
                        </m:oMath>
                      </m:oMathPara>
                    </a14:m>
                    <a:endParaRPr 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5232400" y="1859364"/>
                    <a:ext cx="3393440" cy="1492268"/>
                  </a:xfrm>
                  <a:prstGeom prst="rect">
                    <a:avLst/>
                  </a:prstGeom>
                  <a:blipFill>
                    <a:blip r:embed="rId5"/>
                    <a:stretch>
                      <a:fillRect/>
                    </a:stretch>
                  </a:blipFill>
                </p:spPr>
                <p:txBody>
                  <a:bodyPr/>
                  <a:lstStyle/>
                  <a:p>
                    <a:r>
                      <a:rPr lang="en-US">
                        <a:noFill/>
                      </a:rPr>
                      <a:t> </a:t>
                    </a:r>
                  </a:p>
                </p:txBody>
              </p:sp>
            </mc:Fallback>
          </mc:AlternateContent>
        </p:grpSp>
        <p:sp>
          <p:nvSpPr>
            <p:cNvPr id="4" name="文本框 3"/>
            <p:cNvSpPr txBox="1"/>
            <p:nvPr/>
          </p:nvSpPr>
          <p:spPr>
            <a:xfrm>
              <a:off x="5618371" y="1054037"/>
              <a:ext cx="4776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a:t>
              </a:r>
            </a:p>
          </p:txBody>
        </p:sp>
        <p:sp>
          <p:nvSpPr>
            <p:cNvPr id="9" name="文本框 8"/>
            <p:cNvSpPr txBox="1"/>
            <p:nvPr/>
          </p:nvSpPr>
          <p:spPr>
            <a:xfrm>
              <a:off x="5618371" y="3279077"/>
              <a:ext cx="37943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  PDE part: </a:t>
              </a:r>
              <a:r>
                <a:rPr lang="en-US" b="1" i="1" dirty="0">
                  <a:latin typeface="Times New Roman" panose="02020603050405020304" pitchFamily="18" charset="0"/>
                  <a:cs typeface="Times New Roman" panose="02020603050405020304" pitchFamily="18" charset="0"/>
                </a:rPr>
                <a:t>finite difference</a:t>
              </a:r>
            </a:p>
          </p:txBody>
        </p:sp>
        <mc:AlternateContent xmlns:mc="http://schemas.openxmlformats.org/markup-compatibility/2006" xmlns:a14="http://schemas.microsoft.com/office/drawing/2010/main">
          <mc:Choice Requires="a14">
            <p:sp>
              <p:nvSpPr>
                <p:cNvPr id="10" name="文本框 9"/>
                <p:cNvSpPr txBox="1"/>
                <p:nvPr/>
              </p:nvSpPr>
              <p:spPr>
                <a:xfrm>
                  <a:off x="5658956" y="3856020"/>
                  <a:ext cx="31698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𝑡</m:t>
                            </m:r>
                          </m:sub>
                        </m:sSub>
                        <m:r>
                          <a:rPr lang="en-US" b="0" i="1" smtClean="0">
                            <a:latin typeface="Cambria Math" panose="02040503050406030204" pitchFamily="18" charset="0"/>
                          </a:rPr>
                          <m:t>𝑢</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𝑥</m:t>
                            </m:r>
                          </m:sub>
                        </m:sSub>
                        <m:r>
                          <a:rPr lang="en-US" b="0" i="1" smtClean="0">
                            <a:latin typeface="Cambria Math" panose="02040503050406030204" pitchFamily="18" charset="0"/>
                          </a:rPr>
                          <m:t>𝑢</m:t>
                        </m:r>
                        <m:r>
                          <a:rPr lang="en-US" b="0" i="1" smtClean="0">
                            <a:latin typeface="Cambria Math" panose="02040503050406030204" pitchFamily="18" charset="0"/>
                          </a:rPr>
                          <m:t>, …</m:t>
                        </m:r>
                      </m:oMath>
                    </m:oMathPara>
                  </a14:m>
                  <a:endParaRPr 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5658956" y="3856020"/>
                  <a:ext cx="3169811" cy="369332"/>
                </a:xfrm>
                <a:prstGeom prst="rect">
                  <a:avLst/>
                </a:prstGeom>
                <a:blipFill>
                  <a:blip r:embed="rId6"/>
                  <a:stretch>
                    <a:fillRect/>
                  </a:stretch>
                </a:blipFill>
              </p:spPr>
              <p:txBody>
                <a:bodyPr/>
                <a:lstStyle/>
                <a:p>
                  <a:r>
                    <a:rPr lang="en-US">
                      <a:noFill/>
                    </a:rPr>
                    <a:t> </a:t>
                  </a:r>
                </a:p>
              </p:txBody>
            </p:sp>
          </mc:Fallback>
        </mc:AlternateContent>
      </p:grpSp>
      <p:sp>
        <p:nvSpPr>
          <p:cNvPr id="12" name="文本框 11"/>
          <p:cNvSpPr txBox="1"/>
          <p:nvPr/>
        </p:nvSpPr>
        <p:spPr>
          <a:xfrm>
            <a:off x="580738" y="4661765"/>
            <a:ext cx="8056476"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Loss function: </a:t>
            </a:r>
          </a:p>
          <a:p>
            <a:endParaRPr lang="en-US" sz="20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580738" y="5066076"/>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Forward problem:</a:t>
            </a:r>
          </a:p>
        </p:txBody>
      </p:sp>
      <mc:AlternateContent xmlns:mc="http://schemas.openxmlformats.org/markup-compatibility/2006" xmlns:a14="http://schemas.microsoft.com/office/drawing/2010/main">
        <mc:Choice Requires="a14">
          <p:sp>
            <p:nvSpPr>
              <p:cNvPr id="14" name="矩形 13"/>
              <p:cNvSpPr/>
              <p:nvPr/>
            </p:nvSpPr>
            <p:spPr>
              <a:xfrm>
                <a:off x="2578313" y="5074632"/>
                <a:ext cx="4522905" cy="4585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𝐿</m:t>
                      </m:r>
                      <m:r>
                        <a:rPr lang="en-US" i="1" smtClean="0">
                          <a:latin typeface="Cambria Math" panose="02040503050406030204" pitchFamily="18" charset="0"/>
                        </a:rPr>
                        <m:t>=</m:t>
                      </m:r>
                      <m:sSup>
                        <m:sSupPr>
                          <m:ctrlPr>
                            <a:rPr lang="en-US" i="1">
                              <a:latin typeface="Cambria Math" panose="02040503050406030204" pitchFamily="18" charset="0"/>
                            </a:rPr>
                          </m:ctrlPr>
                        </m:sSupPr>
                        <m:e>
                          <m:limLow>
                            <m:limLowPr>
                              <m:ctrlPr>
                                <a:rPr lang="en-US" b="0" i="1" smtClean="0">
                                  <a:latin typeface="Cambria Math" panose="02040503050406030204" pitchFamily="18" charset="0"/>
                                </a:rPr>
                              </m:ctrlPr>
                            </m:limLowPr>
                            <m:e>
                              <m:r>
                                <m:rPr>
                                  <m:sty m:val="p"/>
                                </m:rPr>
                                <a:rPr lang="en-US">
                                  <a:latin typeface="Cambria Math" panose="02040503050406030204" pitchFamily="18" charset="0"/>
                                </a:rPr>
                                <m:t>min</m:t>
                              </m:r>
                            </m:e>
                            <m:lim>
                              <m:r>
                                <a:rPr lang="en-US" b="0" i="1" smtClean="0">
                                  <a:latin typeface="Cambria Math" panose="02040503050406030204" pitchFamily="18" charset="0"/>
                                </a:rPr>
                                <m:t>𝜃</m:t>
                              </m:r>
                            </m:lim>
                          </m:limLow>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e>
                        <m:sup>
                          <m:r>
                            <a:rPr lang="en-US" i="1">
                              <a:latin typeface="Cambria Math" panose="02040503050406030204" pitchFamily="18" charset="0"/>
                            </a:rPr>
                            <m:t>2</m:t>
                          </m:r>
                        </m:sup>
                      </m:sSup>
                      <m:r>
                        <a:rPr lang="en-US">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Sub>
                            </m:e>
                          </m:d>
                        </m:e>
                        <m:sup>
                          <m:r>
                            <a:rPr lang="en-US" b="0" i="0" smtClean="0">
                              <a:latin typeface="Cambria Math" panose="02040503050406030204" pitchFamily="18" charset="0"/>
                            </a:rPr>
                            <m:t>2</m:t>
                          </m:r>
                        </m:sup>
                      </m:sSup>
                      <m:r>
                        <a:rPr lang="en-US">
                          <a:latin typeface="Cambria Math" panose="02040503050406030204" pitchFamily="18" charset="0"/>
                        </a:rPr>
                        <m:t>)</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2578313" y="5074632"/>
                <a:ext cx="4522905" cy="458523"/>
              </a:xfrm>
              <a:prstGeom prst="rect">
                <a:avLst/>
              </a:prstGeom>
              <a:blipFill>
                <a:blip r:embed="rId7"/>
                <a:stretch>
                  <a:fillRect b="-2632"/>
                </a:stretch>
              </a:blipFill>
            </p:spPr>
            <p:txBody>
              <a:bodyPr/>
              <a:lstStyle/>
              <a:p>
                <a:r>
                  <a:rPr lang="en-US">
                    <a:noFill/>
                  </a:rPr>
                  <a:t> </a:t>
                </a:r>
              </a:p>
            </p:txBody>
          </p:sp>
        </mc:Fallback>
      </mc:AlternateContent>
      <p:sp>
        <p:nvSpPr>
          <p:cNvPr id="15" name="文本框 14"/>
          <p:cNvSpPr txBox="1"/>
          <p:nvPr/>
        </p:nvSpPr>
        <p:spPr>
          <a:xfrm>
            <a:off x="580738" y="5527118"/>
            <a:ext cx="258064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Inverse problem:</a:t>
            </a:r>
          </a:p>
        </p:txBody>
      </p:sp>
      <mc:AlternateContent xmlns:mc="http://schemas.openxmlformats.org/markup-compatibility/2006" xmlns:a14="http://schemas.microsoft.com/office/drawing/2010/main">
        <mc:Choice Requires="a14">
          <p:sp>
            <p:nvSpPr>
              <p:cNvPr id="16" name="矩形 15"/>
              <p:cNvSpPr/>
              <p:nvPr/>
            </p:nvSpPr>
            <p:spPr>
              <a:xfrm>
                <a:off x="2578313" y="5548280"/>
                <a:ext cx="5696816" cy="479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𝐿</m:t>
                      </m:r>
                      <m:r>
                        <a:rPr lang="en-US" i="1" smtClean="0">
                          <a:latin typeface="Cambria Math" panose="02040503050406030204" pitchFamily="18" charset="0"/>
                        </a:rPr>
                        <m:t>=</m:t>
                      </m:r>
                      <m:sSup>
                        <m:sSupPr>
                          <m:ctrlPr>
                            <a:rPr lang="en-US" i="1">
                              <a:latin typeface="Cambria Math" panose="02040503050406030204" pitchFamily="18" charset="0"/>
                            </a:rPr>
                          </m:ctrlPr>
                        </m:sSupPr>
                        <m:e>
                          <m:limLow>
                            <m:limLowPr>
                              <m:ctrlPr>
                                <a:rPr lang="en-US" b="0" i="1" smtClean="0">
                                  <a:latin typeface="Cambria Math" panose="02040503050406030204" pitchFamily="18" charset="0"/>
                                </a:rPr>
                              </m:ctrlPr>
                            </m:limLowPr>
                            <m:e>
                              <m:r>
                                <m:rPr>
                                  <m:sty m:val="p"/>
                                </m:rPr>
                                <a:rPr lang="en-US">
                                  <a:latin typeface="Cambria Math" panose="02040503050406030204" pitchFamily="18" charset="0"/>
                                </a:rPr>
                                <m:t>min</m:t>
                              </m:r>
                            </m:e>
                            <m:lim>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𝜆</m:t>
                              </m:r>
                            </m:lim>
                          </m:limLow>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𝑏𝑐</m:t>
                              </m:r>
                            </m:sub>
                          </m:sSub>
                          <m:r>
                            <a:rPr lang="en-US" b="0" i="1" smtClean="0">
                              <a:latin typeface="Cambria Math" panose="02040503050406030204" pitchFamily="18" charset="0"/>
                            </a:rPr>
                            <m:t>|</m:t>
                          </m:r>
                        </m:e>
                        <m:sup>
                          <m:r>
                            <a:rPr lang="en-US" i="1">
                              <a:latin typeface="Cambria Math" panose="02040503050406030204" pitchFamily="18" charset="0"/>
                            </a:rPr>
                            <m:t>2</m:t>
                          </m:r>
                        </m:sup>
                      </m:sSup>
                      <m:r>
                        <a:rPr lang="en-US">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𝑖</m:t>
                                  </m:r>
                                  <m:r>
                                    <a:rPr lang="en-US" i="1">
                                      <a:latin typeface="Cambria Math" panose="02040503050406030204" pitchFamily="18" charset="0"/>
                                    </a:rPr>
                                    <m:t>𝑐</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𝑢</m:t>
                              </m:r>
                            </m:e>
                          </m:d>
                        </m:e>
                        <m:sup>
                          <m:r>
                            <a:rPr lang="en-US" b="0" i="1" smtClean="0">
                              <a:latin typeface="Cambria Math" panose="02040503050406030204" pitchFamily="18" charset="0"/>
                            </a:rPr>
                            <m:t>2</m:t>
                          </m:r>
                        </m:sup>
                      </m:sSup>
                      <m:r>
                        <a:rPr lang="en-US">
                          <a:latin typeface="Cambria Math" panose="02040503050406030204" pitchFamily="18" charset="0"/>
                        </a:rPr>
                        <m:t>)</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2578313" y="5548280"/>
                <a:ext cx="5696816" cy="479683"/>
              </a:xfrm>
              <a:prstGeom prst="rect">
                <a:avLst/>
              </a:prstGeom>
              <a:blipFill>
                <a:blip r:embed="rId8"/>
                <a:stretch>
                  <a:fillRect/>
                </a:stretch>
              </a:blipFill>
            </p:spPr>
            <p:txBody>
              <a:bodyPr/>
              <a:lstStyle/>
              <a:p>
                <a:r>
                  <a:rPr lang="en-US">
                    <a:noFill/>
                  </a:rPr>
                  <a:t> </a:t>
                </a:r>
              </a:p>
            </p:txBody>
          </p:sp>
        </mc:Fallback>
      </mc:AlternateContent>
      <p:sp>
        <p:nvSpPr>
          <p:cNvPr id="18" name="矩形 17"/>
          <p:cNvSpPr/>
          <p:nvPr/>
        </p:nvSpPr>
        <p:spPr>
          <a:xfrm>
            <a:off x="7250533" y="6396335"/>
            <a:ext cx="1893467" cy="461665"/>
          </a:xfrm>
          <a:prstGeom prst="rect">
            <a:avLst/>
          </a:prstGeom>
        </p:spPr>
        <p:txBody>
          <a:bodyPr wrap="none">
            <a:spAutoFit/>
          </a:bodyPr>
          <a:lstStyle/>
          <a:p>
            <a:r>
              <a:rPr lang="en-US" sz="1200" i="1" dirty="0" err="1">
                <a:latin typeface="Times New Roman" panose="02020603050405020304" pitchFamily="18" charset="0"/>
                <a:cs typeface="Times New Roman" panose="02020603050405020304" pitchFamily="18" charset="0"/>
              </a:rPr>
              <a:t>Raissi</a:t>
            </a:r>
            <a:r>
              <a:rPr lang="en-US" sz="1200" i="1" dirty="0">
                <a:latin typeface="Times New Roman" panose="02020603050405020304" pitchFamily="18" charset="0"/>
                <a:cs typeface="Times New Roman" panose="02020603050405020304" pitchFamily="18" charset="0"/>
              </a:rPr>
              <a:t>, et al, JCP, 2019</a:t>
            </a:r>
          </a:p>
          <a:p>
            <a:r>
              <a:rPr lang="en-US" sz="1200" i="1" dirty="0">
                <a:latin typeface="Times New Roman" panose="02020603050405020304" pitchFamily="18" charset="0"/>
                <a:cs typeface="Times New Roman" panose="02020603050405020304" pitchFamily="18" charset="0"/>
              </a:rPr>
              <a:t>Meng, et al, CMAME, 2020</a:t>
            </a:r>
          </a:p>
        </p:txBody>
      </p:sp>
      <p:sp>
        <p:nvSpPr>
          <p:cNvPr id="22" name="文本框 21">
            <a:extLst>
              <a:ext uri="{FF2B5EF4-FFF2-40B4-BE49-F238E27FC236}">
                <a16:creationId xmlns:a16="http://schemas.microsoft.com/office/drawing/2014/main" id="{3BE1F7E1-211A-4E2D-87EC-F8C396EAF36B}"/>
              </a:ext>
            </a:extLst>
          </p:cNvPr>
          <p:cNvSpPr txBox="1"/>
          <p:nvPr/>
        </p:nvSpPr>
        <p:spPr>
          <a:xfrm>
            <a:off x="646881" y="4167881"/>
            <a:ext cx="4129884" cy="307777"/>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Physics-informed neural networks (PINNs)</a:t>
            </a:r>
            <a:endParaRPr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455604"/>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Contents</a:t>
            </a:r>
          </a:p>
        </p:txBody>
      </p:sp>
      <p:sp>
        <p:nvSpPr>
          <p:cNvPr id="2" name="文本框 1">
            <a:extLst>
              <a:ext uri="{FF2B5EF4-FFF2-40B4-BE49-F238E27FC236}">
                <a16:creationId xmlns:a16="http://schemas.microsoft.com/office/drawing/2014/main" id="{66C4B3CC-4919-4B0C-BEDA-5A309DD3CCAF}"/>
              </a:ext>
            </a:extLst>
          </p:cNvPr>
          <p:cNvSpPr txBox="1"/>
          <p:nvPr/>
        </p:nvSpPr>
        <p:spPr>
          <a:xfrm>
            <a:off x="494686" y="1333902"/>
            <a:ext cx="8524567" cy="4093428"/>
          </a:xfrm>
          <a:prstGeom prst="rect">
            <a:avLst/>
          </a:prstGeom>
          <a:noFill/>
        </p:spPr>
        <p:txBody>
          <a:bodyPr wrap="square" rtlCol="0">
            <a:spAutoFit/>
          </a:bodyPr>
          <a:lstStyle/>
          <a:p>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Brief review on FDM/FVM</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solidFill>
                  <a:srgbClr val="FF0000"/>
                </a:solidFill>
                <a:latin typeface="Times New Roman" panose="02020603050405020304" pitchFamily="18" charset="0"/>
                <a:cs typeface="Times New Roman" panose="02020603050405020304" pitchFamily="18" charset="0"/>
              </a:rPr>
              <a:t>Learning numerical schemes from data</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Applications to PDEs</a:t>
            </a: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endParaRPr lang="en-US" altLang="zh-C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p"/>
            </a:pPr>
            <a:r>
              <a:rPr lang="en-US" altLang="zh-CN"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17858250"/>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Learning numerical schemes from data</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5495D135-B576-44B5-9746-B5B6E08A72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7544" y="856271"/>
            <a:ext cx="1857634" cy="819264"/>
          </a:xfrm>
          <a:prstGeom prst="rect">
            <a:avLst/>
          </a:prstGeom>
        </p:spPr>
      </p:pic>
      <p:pic>
        <p:nvPicPr>
          <p:cNvPr id="6" name="图片 5">
            <a:extLst>
              <a:ext uri="{FF2B5EF4-FFF2-40B4-BE49-F238E27FC236}">
                <a16:creationId xmlns:a16="http://schemas.microsoft.com/office/drawing/2014/main" id="{B8D0DEE6-4F2F-4197-B447-96C694C0E8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6517" y="2042813"/>
            <a:ext cx="2419688" cy="933580"/>
          </a:xfrm>
          <a:prstGeom prst="rect">
            <a:avLst/>
          </a:prstGeom>
        </p:spPr>
      </p:pic>
      <p:pic>
        <p:nvPicPr>
          <p:cNvPr id="9" name="图片 8">
            <a:extLst>
              <a:ext uri="{FF2B5EF4-FFF2-40B4-BE49-F238E27FC236}">
                <a16:creationId xmlns:a16="http://schemas.microsoft.com/office/drawing/2014/main" id="{D7EDC82F-A9A7-4EC9-A75D-437A6BD20D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76" y="3429000"/>
            <a:ext cx="9126224" cy="1486107"/>
          </a:xfrm>
          <a:prstGeom prst="rect">
            <a:avLst/>
          </a:prstGeom>
        </p:spPr>
      </p:pic>
    </p:spTree>
    <p:extLst>
      <p:ext uri="{BB962C8B-B14F-4D97-AF65-F5344CB8AC3E}">
        <p14:creationId xmlns:p14="http://schemas.microsoft.com/office/powerpoint/2010/main" val="4169838683"/>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Learning numerical schemes from data</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879ACBF-A8FA-42BF-A50E-8C9471FAB6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01" y="889663"/>
            <a:ext cx="7060798" cy="4736992"/>
          </a:xfrm>
          <a:prstGeom prst="rect">
            <a:avLst/>
          </a:prstGeom>
        </p:spPr>
      </p:pic>
      <p:pic>
        <p:nvPicPr>
          <p:cNvPr id="7" name="图片 6">
            <a:extLst>
              <a:ext uri="{FF2B5EF4-FFF2-40B4-BE49-F238E27FC236}">
                <a16:creationId xmlns:a16="http://schemas.microsoft.com/office/drawing/2014/main" id="{754C8A02-E128-4337-A51C-ABBF06FFE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9049" y="5662077"/>
            <a:ext cx="4305901" cy="1057423"/>
          </a:xfrm>
          <a:prstGeom prst="rect">
            <a:avLst/>
          </a:prstGeom>
        </p:spPr>
      </p:pic>
    </p:spTree>
    <p:extLst>
      <p:ext uri="{BB962C8B-B14F-4D97-AF65-F5344CB8AC3E}">
        <p14:creationId xmlns:p14="http://schemas.microsoft.com/office/powerpoint/2010/main" val="3418939852"/>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1D advection equation</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AB1322D3-10AB-47DB-838C-8E10A8C22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7544" y="856271"/>
            <a:ext cx="1857634" cy="81926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4998C78-9822-460E-832E-F3E34B9666CC}"/>
                  </a:ext>
                </a:extLst>
              </p:cNvPr>
              <p:cNvSpPr txBox="1"/>
              <p:nvPr/>
            </p:nvSpPr>
            <p:spPr>
              <a:xfrm>
                <a:off x="3972233" y="1957659"/>
                <a:ext cx="4975122" cy="369332"/>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rPr>
                      <m:t>𝛼</m:t>
                    </m:r>
                    <m:r>
                      <a:rPr lang="en-US" altLang="zh-CN" b="0" i="1" smtClean="0">
                        <a:latin typeface="Cambria Math" panose="02040503050406030204" pitchFamily="18" charset="0"/>
                      </a:rPr>
                      <m:t>:</m:t>
                    </m:r>
                  </m:oMath>
                </a14:m>
                <a:r>
                  <a:rPr lang="zh-CN" altLang="en-US" dirty="0"/>
                  <a:t> </a:t>
                </a:r>
                <a:r>
                  <a:rPr lang="en-US" altLang="zh-CN" dirty="0">
                    <a:latin typeface="Times New Roman" panose="02020603050405020304" pitchFamily="18" charset="0"/>
                    <a:cs typeface="Times New Roman" panose="02020603050405020304" pitchFamily="18" charset="0"/>
                  </a:rPr>
                  <a:t>4 convolutional layers with 32 filters per layer</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E4998C78-9822-460E-832E-F3E34B9666CC}"/>
                  </a:ext>
                </a:extLst>
              </p:cNvPr>
              <p:cNvSpPr txBox="1">
                <a:spLocks noRot="1" noChangeAspect="1" noMove="1" noResize="1" noEditPoints="1" noAdjustHandles="1" noChangeArrowheads="1" noChangeShapeType="1" noTextEdit="1"/>
              </p:cNvSpPr>
              <p:nvPr/>
            </p:nvSpPr>
            <p:spPr>
              <a:xfrm>
                <a:off x="3972233" y="1957659"/>
                <a:ext cx="4975122" cy="369332"/>
              </a:xfrm>
              <a:prstGeom prst="rect">
                <a:avLst/>
              </a:prstGeom>
              <a:blipFill>
                <a:blip r:embed="rId4"/>
                <a:stretch>
                  <a:fillRect t="-9836" b="-2295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814B1F56-2A57-4B04-BAFD-26BC213AB4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9281" y="2381685"/>
            <a:ext cx="2019582" cy="257211"/>
          </a:xfrm>
          <a:prstGeom prst="rect">
            <a:avLst/>
          </a:prstGeom>
        </p:spPr>
      </p:pic>
      <p:pic>
        <p:nvPicPr>
          <p:cNvPr id="14" name="图片 13">
            <a:extLst>
              <a:ext uri="{FF2B5EF4-FFF2-40B4-BE49-F238E27FC236}">
                <a16:creationId xmlns:a16="http://schemas.microsoft.com/office/drawing/2014/main" id="{97F910CD-5472-4B77-9A1F-4A2FD8EBAA58}"/>
              </a:ext>
            </a:extLst>
          </p:cNvPr>
          <p:cNvPicPr>
            <a:picLocks noChangeAspect="1"/>
          </p:cNvPicPr>
          <p:nvPr/>
        </p:nvPicPr>
        <p:blipFill rotWithShape="1">
          <a:blip r:embed="rId6">
            <a:extLst>
              <a:ext uri="{28A0092B-C50C-407E-A947-70E740481C1C}">
                <a14:useLocalDpi xmlns:a14="http://schemas.microsoft.com/office/drawing/2010/main" val="0"/>
              </a:ext>
            </a:extLst>
          </a:blip>
          <a:srcRect l="8675" r="52263" b="61400"/>
          <a:stretch/>
        </p:blipFill>
        <p:spPr>
          <a:xfrm>
            <a:off x="3196762" y="2925887"/>
            <a:ext cx="2545276" cy="2022431"/>
          </a:xfrm>
          <a:prstGeom prst="rect">
            <a:avLst/>
          </a:prstGeom>
        </p:spPr>
      </p:pic>
      <p:pic>
        <p:nvPicPr>
          <p:cNvPr id="15" name="图片 14">
            <a:extLst>
              <a:ext uri="{FF2B5EF4-FFF2-40B4-BE49-F238E27FC236}">
                <a16:creationId xmlns:a16="http://schemas.microsoft.com/office/drawing/2014/main" id="{9500A140-9779-477D-B0B1-6F8348A944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408" y="5070565"/>
            <a:ext cx="8392582" cy="953297"/>
          </a:xfrm>
          <a:prstGeom prst="rect">
            <a:avLst/>
          </a:prstGeom>
        </p:spPr>
      </p:pic>
    </p:spTree>
    <p:extLst>
      <p:ext uri="{BB962C8B-B14F-4D97-AF65-F5344CB8AC3E}">
        <p14:creationId xmlns:p14="http://schemas.microsoft.com/office/powerpoint/2010/main" val="2631894001"/>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1D advection equation</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AB1322D3-10AB-47DB-838C-8E10A8C22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7544" y="856271"/>
            <a:ext cx="1857634" cy="819264"/>
          </a:xfrm>
          <a:prstGeom prst="rect">
            <a:avLst/>
          </a:prstGeom>
        </p:spPr>
      </p:pic>
      <p:pic>
        <p:nvPicPr>
          <p:cNvPr id="7" name="图片 6">
            <a:extLst>
              <a:ext uri="{FF2B5EF4-FFF2-40B4-BE49-F238E27FC236}">
                <a16:creationId xmlns:a16="http://schemas.microsoft.com/office/drawing/2014/main" id="{14B02E42-93F1-4E2B-839C-69C3312F1C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033" y="1675535"/>
            <a:ext cx="2419688" cy="933580"/>
          </a:xfrm>
          <a:prstGeom prst="rect">
            <a:avLst/>
          </a:prstGeom>
        </p:spPr>
      </p:pic>
      <p:pic>
        <p:nvPicPr>
          <p:cNvPr id="6" name="图片 5">
            <a:extLst>
              <a:ext uri="{FF2B5EF4-FFF2-40B4-BE49-F238E27FC236}">
                <a16:creationId xmlns:a16="http://schemas.microsoft.com/office/drawing/2014/main" id="{814B1F56-2A57-4B04-BAFD-26BC213AB4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45178" y="2378322"/>
            <a:ext cx="2019582" cy="257211"/>
          </a:xfrm>
          <a:prstGeom prst="rect">
            <a:avLst/>
          </a:prstGeom>
        </p:spPr>
      </p:pic>
      <p:pic>
        <p:nvPicPr>
          <p:cNvPr id="10" name="图片 9">
            <a:extLst>
              <a:ext uri="{FF2B5EF4-FFF2-40B4-BE49-F238E27FC236}">
                <a16:creationId xmlns:a16="http://schemas.microsoft.com/office/drawing/2014/main" id="{D9D5D4D3-C215-430D-9746-E27BAE6ED5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3995" y="809259"/>
            <a:ext cx="6516009" cy="5239481"/>
          </a:xfrm>
          <a:prstGeom prst="rect">
            <a:avLst/>
          </a:prstGeom>
        </p:spPr>
      </p:pic>
    </p:spTree>
    <p:extLst>
      <p:ext uri="{BB962C8B-B14F-4D97-AF65-F5344CB8AC3E}">
        <p14:creationId xmlns:p14="http://schemas.microsoft.com/office/powerpoint/2010/main" val="639694191"/>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1D advection equation</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B4B121AC-D5C4-435B-A3A7-A09A57341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942" y="1451543"/>
            <a:ext cx="7640116" cy="3600953"/>
          </a:xfrm>
          <a:prstGeom prst="rect">
            <a:avLst/>
          </a:prstGeom>
        </p:spPr>
      </p:pic>
    </p:spTree>
    <p:extLst>
      <p:ext uri="{BB962C8B-B14F-4D97-AF65-F5344CB8AC3E}">
        <p14:creationId xmlns:p14="http://schemas.microsoft.com/office/powerpoint/2010/main" val="118122874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1D advection equation</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BEFA14C-7882-440B-AA1C-8CC10ECCB1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73" y="854613"/>
            <a:ext cx="7106654" cy="5627913"/>
          </a:xfrm>
          <a:prstGeom prst="rect">
            <a:avLst/>
          </a:prstGeom>
        </p:spPr>
      </p:pic>
    </p:spTree>
    <p:extLst>
      <p:ext uri="{BB962C8B-B14F-4D97-AF65-F5344CB8AC3E}">
        <p14:creationId xmlns:p14="http://schemas.microsoft.com/office/powerpoint/2010/main" val="822825141"/>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deformational flow</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817814B-03AC-4141-B784-AEF6C8278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10" y="976314"/>
            <a:ext cx="7735380" cy="2172003"/>
          </a:xfrm>
          <a:prstGeom prst="rect">
            <a:avLst/>
          </a:prstGeom>
        </p:spPr>
      </p:pic>
      <p:pic>
        <p:nvPicPr>
          <p:cNvPr id="5" name="图片 4">
            <a:extLst>
              <a:ext uri="{FF2B5EF4-FFF2-40B4-BE49-F238E27FC236}">
                <a16:creationId xmlns:a16="http://schemas.microsoft.com/office/drawing/2014/main" id="{36F128C2-F304-4D02-968A-C6A73062F2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679" y="3321393"/>
            <a:ext cx="7783011" cy="1028844"/>
          </a:xfrm>
          <a:prstGeom prst="rect">
            <a:avLst/>
          </a:prstGeom>
        </p:spPr>
      </p:pic>
      <p:pic>
        <p:nvPicPr>
          <p:cNvPr id="7" name="图片 6">
            <a:extLst>
              <a:ext uri="{FF2B5EF4-FFF2-40B4-BE49-F238E27FC236}">
                <a16:creationId xmlns:a16="http://schemas.microsoft.com/office/drawing/2014/main" id="{B9EE8071-8FA3-4A29-BB5D-2323B3C888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0162" y="4699487"/>
            <a:ext cx="7897327" cy="952633"/>
          </a:xfrm>
          <a:prstGeom prst="rect">
            <a:avLst/>
          </a:prstGeom>
        </p:spPr>
      </p:pic>
    </p:spTree>
    <p:extLst>
      <p:ext uri="{BB962C8B-B14F-4D97-AF65-F5344CB8AC3E}">
        <p14:creationId xmlns:p14="http://schemas.microsoft.com/office/powerpoint/2010/main" val="203164753"/>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a:t>
            </a:r>
            <a:r>
              <a:rPr lang="en-US" altLang="zh-CN"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2D deformational flow</a:t>
            </a:r>
            <a:endPar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466F1568-FF5B-4F92-958D-FFDC6E455B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073" y="846151"/>
            <a:ext cx="7725853" cy="5734850"/>
          </a:xfrm>
          <a:prstGeom prst="rect">
            <a:avLst/>
          </a:prstGeom>
        </p:spPr>
      </p:pic>
    </p:spTree>
    <p:extLst>
      <p:ext uri="{BB962C8B-B14F-4D97-AF65-F5344CB8AC3E}">
        <p14:creationId xmlns:p14="http://schemas.microsoft.com/office/powerpoint/2010/main" val="367314534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advection equation</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808E1DCB-1C43-49B7-9933-F60D53991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028" y="1060127"/>
            <a:ext cx="7468642" cy="962159"/>
          </a:xfrm>
          <a:prstGeom prst="rect">
            <a:avLst/>
          </a:prstGeom>
        </p:spPr>
      </p:pic>
      <p:pic>
        <p:nvPicPr>
          <p:cNvPr id="5" name="图片 4">
            <a:extLst>
              <a:ext uri="{FF2B5EF4-FFF2-40B4-BE49-F238E27FC236}">
                <a16:creationId xmlns:a16="http://schemas.microsoft.com/office/drawing/2014/main" id="{A0F555AD-BC66-412B-B316-E71F92F8AD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185" y="2122147"/>
            <a:ext cx="7716327" cy="3419952"/>
          </a:xfrm>
          <a:prstGeom prst="rect">
            <a:avLst/>
          </a:prstGeom>
        </p:spPr>
      </p:pic>
    </p:spTree>
    <p:extLst>
      <p:ext uri="{BB962C8B-B14F-4D97-AF65-F5344CB8AC3E}">
        <p14:creationId xmlns:p14="http://schemas.microsoft.com/office/powerpoint/2010/main" val="95709565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Turbulence</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BBF3A9B0-9843-4DE4-902E-97B8EF1FB1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62" y="967923"/>
            <a:ext cx="8964276" cy="1343212"/>
          </a:xfrm>
          <a:prstGeom prst="rect">
            <a:avLst/>
          </a:prstGeom>
        </p:spPr>
      </p:pic>
      <p:pic>
        <p:nvPicPr>
          <p:cNvPr id="7" name="图片 6">
            <a:extLst>
              <a:ext uri="{FF2B5EF4-FFF2-40B4-BE49-F238E27FC236}">
                <a16:creationId xmlns:a16="http://schemas.microsoft.com/office/drawing/2014/main" id="{58B79E8B-601F-4282-B85B-3738DA4EA4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780796"/>
            <a:ext cx="9144000" cy="2613930"/>
          </a:xfrm>
          <a:prstGeom prst="rect">
            <a:avLst/>
          </a:prstGeom>
        </p:spPr>
      </p:pic>
    </p:spTree>
    <p:extLst>
      <p:ext uri="{BB962C8B-B14F-4D97-AF65-F5344CB8AC3E}">
        <p14:creationId xmlns:p14="http://schemas.microsoft.com/office/powerpoint/2010/main" val="757693677"/>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Turbulence</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BB5EA620-1C37-4D3A-9BC6-365B410331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82" y="751448"/>
            <a:ext cx="7488731" cy="5834244"/>
          </a:xfrm>
          <a:prstGeom prst="rect">
            <a:avLst/>
          </a:prstGeom>
        </p:spPr>
      </p:pic>
    </p:spTree>
    <p:extLst>
      <p:ext uri="{BB962C8B-B14F-4D97-AF65-F5344CB8AC3E}">
        <p14:creationId xmlns:p14="http://schemas.microsoft.com/office/powerpoint/2010/main" val="1608615148"/>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Turbulence</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6C6E5768-8A65-4715-B9D0-963D85FA5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243" y="902070"/>
            <a:ext cx="6981234" cy="5532999"/>
          </a:xfrm>
          <a:prstGeom prst="rect">
            <a:avLst/>
          </a:prstGeom>
        </p:spPr>
      </p:pic>
    </p:spTree>
    <p:extLst>
      <p:ext uri="{BB962C8B-B14F-4D97-AF65-F5344CB8AC3E}">
        <p14:creationId xmlns:p14="http://schemas.microsoft.com/office/powerpoint/2010/main" val="968492542"/>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2D Turbulence</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423355" y="6581001"/>
            <a:ext cx="2546555" cy="276999"/>
          </a:xfrm>
          <a:prstGeom prst="rect">
            <a:avLst/>
          </a:prstGeom>
          <a:noFill/>
        </p:spPr>
        <p:txBody>
          <a:bodyPr wrap="square" rtlCol="0">
            <a:spAutoFit/>
          </a:bodyPr>
          <a:lstStyle/>
          <a:p>
            <a:pPr algn="just"/>
            <a:r>
              <a:rPr lang="en-US" altLang="zh-CN" sz="1200" i="1" dirty="0">
                <a:latin typeface="Times New Roman" panose="02020603050405020304" pitchFamily="18" charset="0"/>
                <a:cs typeface="Times New Roman" panose="02020603050405020304" pitchFamily="18" charset="0"/>
              </a:rPr>
              <a:t>Zhuang, et al, PRF,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CF0EDD9D-C921-4BC3-9D7F-7FCEDE083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298" y="780817"/>
            <a:ext cx="5503737" cy="5938683"/>
          </a:xfrm>
          <a:prstGeom prst="rect">
            <a:avLst/>
          </a:prstGeom>
        </p:spPr>
      </p:pic>
      <p:pic>
        <p:nvPicPr>
          <p:cNvPr id="9" name="图片 8">
            <a:extLst>
              <a:ext uri="{FF2B5EF4-FFF2-40B4-BE49-F238E27FC236}">
                <a16:creationId xmlns:a16="http://schemas.microsoft.com/office/drawing/2014/main" id="{58CF978F-119F-404E-B006-3A97DA2A01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021" y="2495420"/>
            <a:ext cx="2419688" cy="933580"/>
          </a:xfrm>
          <a:prstGeom prst="rect">
            <a:avLst/>
          </a:prstGeom>
        </p:spPr>
      </p:pic>
      <p:pic>
        <p:nvPicPr>
          <p:cNvPr id="10" name="图片 9">
            <a:extLst>
              <a:ext uri="{FF2B5EF4-FFF2-40B4-BE49-F238E27FC236}">
                <a16:creationId xmlns:a16="http://schemas.microsoft.com/office/drawing/2014/main" id="{B5E63A88-85C1-4525-95E5-CFF3194422AA}"/>
              </a:ext>
            </a:extLst>
          </p:cNvPr>
          <p:cNvPicPr>
            <a:picLocks noChangeAspect="1"/>
          </p:cNvPicPr>
          <p:nvPr/>
        </p:nvPicPr>
        <p:blipFill rotWithShape="1">
          <a:blip r:embed="rId5">
            <a:extLst>
              <a:ext uri="{28A0092B-C50C-407E-A947-70E740481C1C}">
                <a14:useLocalDpi xmlns:a14="http://schemas.microsoft.com/office/drawing/2010/main" val="0"/>
              </a:ext>
            </a:extLst>
          </a:blip>
          <a:srcRect l="38375" t="61695" r="42017"/>
          <a:stretch/>
        </p:blipFill>
        <p:spPr>
          <a:xfrm>
            <a:off x="6440129" y="3750158"/>
            <a:ext cx="1789472" cy="569249"/>
          </a:xfrm>
          <a:prstGeom prst="rect">
            <a:avLst/>
          </a:prstGeom>
        </p:spPr>
      </p:pic>
    </p:spTree>
    <p:extLst>
      <p:ext uri="{BB962C8B-B14F-4D97-AF65-F5344CB8AC3E}">
        <p14:creationId xmlns:p14="http://schemas.microsoft.com/office/powerpoint/2010/main" val="840146951"/>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Turbulence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305368" y="6581001"/>
            <a:ext cx="2546555" cy="276999"/>
          </a:xfrm>
          <a:prstGeom prst="rect">
            <a:avLst/>
          </a:prstGeom>
          <a:noFill/>
        </p:spPr>
        <p:txBody>
          <a:bodyPr wrap="square" rtlCol="0">
            <a:spAutoFit/>
          </a:bodyPr>
          <a:lstStyle/>
          <a:p>
            <a:pPr algn="just"/>
            <a:r>
              <a:rPr lang="en-US" altLang="zh-CN" sz="1200" i="1" dirty="0" err="1">
                <a:latin typeface="Times New Roman" panose="02020603050405020304" pitchFamily="18" charset="0"/>
                <a:cs typeface="Times New Roman" panose="02020603050405020304" pitchFamily="18" charset="0"/>
              </a:rPr>
              <a:t>Kochkov</a:t>
            </a:r>
            <a:r>
              <a:rPr lang="en-US" altLang="zh-CN" sz="1200" i="1" dirty="0">
                <a:latin typeface="Times New Roman" panose="02020603050405020304" pitchFamily="18" charset="0"/>
                <a:cs typeface="Times New Roman" panose="02020603050405020304" pitchFamily="18" charset="0"/>
              </a:rPr>
              <a:t>, et al, PNAS, 2021 </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7DECA42-1EB6-421F-B60D-B8572133D5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1312" y="1018002"/>
            <a:ext cx="5201376" cy="1400370"/>
          </a:xfrm>
          <a:prstGeom prst="rect">
            <a:avLst/>
          </a:prstGeom>
        </p:spPr>
      </p:pic>
      <p:pic>
        <p:nvPicPr>
          <p:cNvPr id="10" name="图片 9">
            <a:extLst>
              <a:ext uri="{FF2B5EF4-FFF2-40B4-BE49-F238E27FC236}">
                <a16:creationId xmlns:a16="http://schemas.microsoft.com/office/drawing/2014/main" id="{B3550928-7F14-4FFD-8FF9-C57F6D3672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1100" y="2680236"/>
            <a:ext cx="6801799" cy="2400635"/>
          </a:xfrm>
          <a:prstGeom prst="rect">
            <a:avLst/>
          </a:prstGeom>
        </p:spPr>
      </p:pic>
      <p:pic>
        <p:nvPicPr>
          <p:cNvPr id="12" name="图片 11">
            <a:extLst>
              <a:ext uri="{FF2B5EF4-FFF2-40B4-BE49-F238E27FC236}">
                <a16:creationId xmlns:a16="http://schemas.microsoft.com/office/drawing/2014/main" id="{E27F441C-E556-4713-9FA1-F2A5195EEF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4865" y="5420839"/>
            <a:ext cx="3534268" cy="838317"/>
          </a:xfrm>
          <a:prstGeom prst="rect">
            <a:avLst/>
          </a:prstGeom>
        </p:spPr>
      </p:pic>
    </p:spTree>
    <p:extLst>
      <p:ext uri="{BB962C8B-B14F-4D97-AF65-F5344CB8AC3E}">
        <p14:creationId xmlns:p14="http://schemas.microsoft.com/office/powerpoint/2010/main" val="1523017445"/>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Turbulence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305368" y="6581001"/>
            <a:ext cx="2546555" cy="276999"/>
          </a:xfrm>
          <a:prstGeom prst="rect">
            <a:avLst/>
          </a:prstGeom>
          <a:noFill/>
        </p:spPr>
        <p:txBody>
          <a:bodyPr wrap="square" rtlCol="0">
            <a:spAutoFit/>
          </a:bodyPr>
          <a:lstStyle/>
          <a:p>
            <a:pPr algn="just"/>
            <a:r>
              <a:rPr lang="en-US" altLang="zh-CN" sz="1200" i="1" dirty="0" err="1">
                <a:latin typeface="Times New Roman" panose="02020603050405020304" pitchFamily="18" charset="0"/>
                <a:cs typeface="Times New Roman" panose="02020603050405020304" pitchFamily="18" charset="0"/>
              </a:rPr>
              <a:t>Kochkov</a:t>
            </a:r>
            <a:r>
              <a:rPr lang="en-US" altLang="zh-CN" sz="1200" i="1" dirty="0">
                <a:latin typeface="Times New Roman" panose="02020603050405020304" pitchFamily="18" charset="0"/>
                <a:cs typeface="Times New Roman" panose="02020603050405020304" pitchFamily="18" charset="0"/>
              </a:rPr>
              <a:t>, et al, PNAS,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46380F78-42EC-4103-A3A6-AB55C8083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705" y="942951"/>
            <a:ext cx="6906589" cy="2219635"/>
          </a:xfrm>
          <a:prstGeom prst="rect">
            <a:avLst/>
          </a:prstGeom>
        </p:spPr>
      </p:pic>
      <p:pic>
        <p:nvPicPr>
          <p:cNvPr id="6" name="图片 5">
            <a:extLst>
              <a:ext uri="{FF2B5EF4-FFF2-40B4-BE49-F238E27FC236}">
                <a16:creationId xmlns:a16="http://schemas.microsoft.com/office/drawing/2014/main" id="{D7E92C1D-CECC-49DE-ABD4-968C58D2AB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3941" y="3303944"/>
            <a:ext cx="6916115" cy="3277057"/>
          </a:xfrm>
          <a:prstGeom prst="rect">
            <a:avLst/>
          </a:prstGeom>
        </p:spPr>
      </p:pic>
    </p:spTree>
    <p:extLst>
      <p:ext uri="{BB962C8B-B14F-4D97-AF65-F5344CB8AC3E}">
        <p14:creationId xmlns:p14="http://schemas.microsoft.com/office/powerpoint/2010/main" val="1348094237"/>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Turbulence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305368" y="6581001"/>
            <a:ext cx="2546555" cy="276999"/>
          </a:xfrm>
          <a:prstGeom prst="rect">
            <a:avLst/>
          </a:prstGeom>
          <a:noFill/>
        </p:spPr>
        <p:txBody>
          <a:bodyPr wrap="square" rtlCol="0">
            <a:spAutoFit/>
          </a:bodyPr>
          <a:lstStyle/>
          <a:p>
            <a:pPr algn="just"/>
            <a:r>
              <a:rPr lang="en-US" altLang="zh-CN" sz="1200" i="1" dirty="0" err="1">
                <a:latin typeface="Times New Roman" panose="02020603050405020304" pitchFamily="18" charset="0"/>
                <a:cs typeface="Times New Roman" panose="02020603050405020304" pitchFamily="18" charset="0"/>
              </a:rPr>
              <a:t>Kochkov</a:t>
            </a:r>
            <a:r>
              <a:rPr lang="en-US" altLang="zh-CN" sz="1200" i="1" dirty="0">
                <a:latin typeface="Times New Roman" panose="02020603050405020304" pitchFamily="18" charset="0"/>
                <a:cs typeface="Times New Roman" panose="02020603050405020304" pitchFamily="18" charset="0"/>
              </a:rPr>
              <a:t>, et al, PNAS, 2021 </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57066DB-23E5-4171-97BF-1DCB387BB7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77635"/>
            <a:ext cx="9144000" cy="3902730"/>
          </a:xfrm>
          <a:prstGeom prst="rect">
            <a:avLst/>
          </a:prstGeom>
        </p:spPr>
      </p:pic>
    </p:spTree>
    <p:extLst>
      <p:ext uri="{BB962C8B-B14F-4D97-AF65-F5344CB8AC3E}">
        <p14:creationId xmlns:p14="http://schemas.microsoft.com/office/powerpoint/2010/main" val="4106143179"/>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Turbulence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305368" y="6581001"/>
            <a:ext cx="2546555" cy="276999"/>
          </a:xfrm>
          <a:prstGeom prst="rect">
            <a:avLst/>
          </a:prstGeom>
          <a:noFill/>
        </p:spPr>
        <p:txBody>
          <a:bodyPr wrap="square" rtlCol="0">
            <a:spAutoFit/>
          </a:bodyPr>
          <a:lstStyle/>
          <a:p>
            <a:pPr algn="just"/>
            <a:r>
              <a:rPr lang="en-US" altLang="zh-CN" sz="1200" i="1" dirty="0" err="1">
                <a:latin typeface="Times New Roman" panose="02020603050405020304" pitchFamily="18" charset="0"/>
                <a:cs typeface="Times New Roman" panose="02020603050405020304" pitchFamily="18" charset="0"/>
              </a:rPr>
              <a:t>Kochkov</a:t>
            </a:r>
            <a:r>
              <a:rPr lang="en-US" altLang="zh-CN" sz="1200" i="1" dirty="0">
                <a:latin typeface="Times New Roman" panose="02020603050405020304" pitchFamily="18" charset="0"/>
                <a:cs typeface="Times New Roman" panose="02020603050405020304" pitchFamily="18" charset="0"/>
              </a:rPr>
              <a:t>, et al, PNAS, 2021 </a:t>
            </a:r>
            <a:endParaRPr lang="zh-CN" altLang="en-US" sz="1200" i="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ADADCB1-E472-4D0F-9C5C-87FA7AB99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18994"/>
            <a:ext cx="9144000" cy="3620011"/>
          </a:xfrm>
          <a:prstGeom prst="rect">
            <a:avLst/>
          </a:prstGeom>
        </p:spPr>
      </p:pic>
    </p:spTree>
    <p:extLst>
      <p:ext uri="{BB962C8B-B14F-4D97-AF65-F5344CB8AC3E}">
        <p14:creationId xmlns:p14="http://schemas.microsoft.com/office/powerpoint/2010/main" val="4253321582"/>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Example: Turbulence (FVM)</a:t>
            </a:r>
          </a:p>
        </p:txBody>
      </p:sp>
      <p:sp>
        <p:nvSpPr>
          <p:cNvPr id="16" name="文本框 15">
            <a:extLst>
              <a:ext uri="{FF2B5EF4-FFF2-40B4-BE49-F238E27FC236}">
                <a16:creationId xmlns:a16="http://schemas.microsoft.com/office/drawing/2014/main" id="{ED235958-7F4F-4DFA-A445-C53FCEC8A9A4}"/>
              </a:ext>
            </a:extLst>
          </p:cNvPr>
          <p:cNvSpPr txBox="1"/>
          <p:nvPr/>
        </p:nvSpPr>
        <p:spPr>
          <a:xfrm>
            <a:off x="7305368" y="6581001"/>
            <a:ext cx="2546555" cy="276999"/>
          </a:xfrm>
          <a:prstGeom prst="rect">
            <a:avLst/>
          </a:prstGeom>
          <a:noFill/>
        </p:spPr>
        <p:txBody>
          <a:bodyPr wrap="square" rtlCol="0">
            <a:spAutoFit/>
          </a:bodyPr>
          <a:lstStyle/>
          <a:p>
            <a:pPr algn="just"/>
            <a:r>
              <a:rPr lang="en-US" altLang="zh-CN" sz="1200" i="1" dirty="0" err="1">
                <a:latin typeface="Times New Roman" panose="02020603050405020304" pitchFamily="18" charset="0"/>
                <a:cs typeface="Times New Roman" panose="02020603050405020304" pitchFamily="18" charset="0"/>
              </a:rPr>
              <a:t>Kochkov</a:t>
            </a:r>
            <a:r>
              <a:rPr lang="en-US" altLang="zh-CN" sz="1200" i="1" dirty="0">
                <a:latin typeface="Times New Roman" panose="02020603050405020304" pitchFamily="18" charset="0"/>
                <a:cs typeface="Times New Roman" panose="02020603050405020304" pitchFamily="18" charset="0"/>
              </a:rPr>
              <a:t>, et al, PNAS, 2021 </a:t>
            </a:r>
            <a:endParaRPr lang="zh-CN" altLang="en-US" sz="1200" i="1"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72218BEA-7EFE-4D66-9623-84C5FDAB5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75148"/>
            <a:ext cx="9144000" cy="3707704"/>
          </a:xfrm>
          <a:prstGeom prst="rect">
            <a:avLst/>
          </a:prstGeom>
        </p:spPr>
      </p:pic>
    </p:spTree>
    <p:extLst>
      <p:ext uri="{BB962C8B-B14F-4D97-AF65-F5344CB8AC3E}">
        <p14:creationId xmlns:p14="http://schemas.microsoft.com/office/powerpoint/2010/main" val="2108058189"/>
      </p:ext>
    </p:extLst>
  </p:cSld>
  <p:clrMapOvr>
    <a:masterClrMapping/>
  </p:clrMapOvr>
  <mc:AlternateContent xmlns:mc="http://schemas.openxmlformats.org/markup-compatibility/2006" xmlns:p14="http://schemas.microsoft.com/office/powerpoint/2010/main">
    <mc:Choice Requires="p14">
      <p:transition spd="slow" p14:dur="2000" advTm="169596"/>
    </mc:Choice>
    <mc:Fallback xmlns="">
      <p:transition spd="slow" advTm="16959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84233" y="3075057"/>
            <a:ext cx="7175533" cy="707886"/>
          </a:xfrm>
          <a:prstGeom prst="rect">
            <a:avLst/>
          </a:prstGeom>
          <a:noFill/>
        </p:spPr>
        <p:txBody>
          <a:bodyPr wrap="square" rtlCol="0">
            <a:spAutoFit/>
          </a:bodyPr>
          <a:lstStyle/>
          <a:p>
            <a:pPr algn="ctr"/>
            <a:r>
              <a:rPr lang="en-US" sz="4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Thank you for your attention!</a:t>
            </a:r>
          </a:p>
        </p:txBody>
      </p:sp>
      <p:pic>
        <p:nvPicPr>
          <p:cNvPr id="8" name="图片 7">
            <a:extLst>
              <a:ext uri="{FF2B5EF4-FFF2-40B4-BE49-F238E27FC236}">
                <a16:creationId xmlns:a16="http://schemas.microsoft.com/office/drawing/2014/main" id="{8ADC31F1-D89B-4C21-B37C-7E760FAC0C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1759" y="6263149"/>
            <a:ext cx="822241" cy="594851"/>
          </a:xfrm>
          <a:prstGeom prst="rect">
            <a:avLst/>
          </a:prstGeom>
        </p:spPr>
      </p:pic>
    </p:spTree>
    <p:extLst>
      <p:ext uri="{BB962C8B-B14F-4D97-AF65-F5344CB8AC3E}">
        <p14:creationId xmlns:p14="http://schemas.microsoft.com/office/powerpoint/2010/main" val="2050601838"/>
      </p:ext>
    </p:extLst>
  </p:cSld>
  <p:clrMapOvr>
    <a:masterClrMapping/>
  </p:clrMapOvr>
  <mc:AlternateContent xmlns:mc="http://schemas.openxmlformats.org/markup-compatibility/2006" xmlns:p14="http://schemas.microsoft.com/office/powerpoint/2010/main">
    <mc:Choice Requires="p14">
      <p:transition spd="slow" p14:dur="2000" advTm="1926"/>
    </mc:Choice>
    <mc:Fallback xmlns="">
      <p:transition spd="slow" advTm="192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76.4529"/>
  <p:tag name="ORIGINALWIDTH" val="4054.743"/>
  <p:tag name="LATEXADDIN" val="\documentclass{article}&#10;\usepackage[a4paper, total={6in, 8in}]{geometry}&#10;\usepackage{amsmath}&#10;\usepackage{amssymb}&#10;\usepackage{xcolor}&#10;\usepackage{graphicx}&#10;&#10;\pagestyle{empty}&#10;\begin{document}&#10;&#10;&#10;\[ \mathcal{L}(\tilde{\Theta})=\frac{1}{N_{u}} \sum_{i=1}^{N_{u}}\left|u_{\text {target }}^{i}-u_{\tilde{\Theta}}\left(x_{i}^{u}\right)\right|^{2}+\frac{1}{N_{f}} \sum_{i=1}^{N_{f}}\left|\mathcal{F}_{\tilde{\Theta}}\left(x_{i}^{f}\right)\right|^{2}+\text { {\color{red}Interface Loss} } \]&#10;&#10;&#10;\end{document}&#10;"/>
  <p:tag name="IGUANATEXSIZE" val="20"/>
  <p:tag name="IGUANATEXCURSOR" val="479"/>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08.099"/>
  <p:tag name="ORIGINALWIDTH" val="3805.024"/>
  <p:tag name="LATEXADDIN" val="\documentclass{article}&#10;\usepackage[a4paper, total={6in, 8in}]{geometry}&#10;\usepackage{amsmath}&#10;\usepackage{amssymb}&#10;\usepackage{xcolor}&#10;\usepackage{graphicx}&#10;&#10;\pagestyle{empty}&#10;\begin{document}&#10;&#10;&#10;\underline{cPINNs}: Interface conditions in the `` $q^{\text {th }}&quot;$ subdomain. \newline&#10;&#10;$\mathrm{MSE}_{\text {flux }}=\sum_{\forall q^{+}}\left(\frac{1}{N_{l_{q}}} \sum_{i=1}^{N_{l q}}\left|f_{q}\left(u\left(\mathbf{x}_{l_{q}}^{(i)}\right)\right) \cdot \mathbf{n}-f_{q^{+}}\left(u\left(\mathbf{x}_{l_{q}}^{(i)}\right) \cdot \mathbf{n}\right)\right|^{2}\right)$ \newline&#10;&#10;where $f$ is the flux and $q=1,2, \cdots, N_{s d}$.\newline&#10;&#10;$\operatorname{MSE}_{u_{\text {avg }}}=\sum_{\forall q^{+}}\left(\frac{1}{N_{l_{q}}} \sum_{i=1}^{N_{l_{q}}}\left|u_{\tilde{\Theta}_{q}}\left(\mathbf{x}_{l_{q}}^{(i)}\right)-\left\{\left\{u_{\tilde{\Theta}_{q}}\left(\mathbf{x}_{l_{q}}^{(i)}\right)\right\}\right\}\right|^{2}\right)$&#10;&#10;&#10;\end{document}&#10;"/>
  <p:tag name="IGUANATEXSIZE" val="20"/>
  <p:tag name="IGUANATEXCURSOR" val="263"/>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223.097"/>
  <p:tag name="ORIGINALWIDTH" val="4990.626"/>
  <p:tag name="LATEXADDIN" val="\documentclass{article}&#10;\usepackage[a4paper, total={6in, 8in}]{geometry}&#10;\usepackage{amsmath}&#10;\usepackage{amssymb}&#10;\usepackage{xcolor}&#10;\usepackage{graphicx}&#10;&#10;\pagestyle{empty}&#10;\begin{document}&#10;&#10;&#10;\hspace{-0.22in}$u_{t}+u u_{x}=\nu u_{x} x, x \in \textbf{R}, t&gt;0$ with IC : $u(x, 0)=-\sin (\pi x)$ and $\textbf{BC :} u(t, 1)=u(t,-1)=0 .$&#10;\begin{center}&#10;\begin{tabular}{|c|c|c|c|c|}&#10;\hline Subdomain number &amp; 1 &amp; 2 &amp; 3 &amp; 4 \\&#10;\hline $\#$ Layers &amp; 2 &amp; 6 &amp; 3 &amp; 2 \\&#10;$\#$ Neurons &amp; 20 &amp; 30 &amp; 25 &amp; 20 \\&#10;$\#$ Residual points &amp; 6000 &amp; 8000 &amp; 4000 &amp; 4000 \\&#10;Adaptive activation function &amp; $\cos$ &amp; $\sin$ &amp; $\tanh$ &amp; $\sin$ \\&#10;\hline&#10;\end{tabular}&#10;\end{center}&#10;Learning rate : 8e-4, Optimizer : Adam&#10;&#10;&#10;\end{document}&#10;"/>
  <p:tag name="IGUANATEXSIZE" val="16"/>
  <p:tag name="IGUANATEXCURSOR" val="311"/>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337.833"/>
  <p:tag name="ORIGINALWIDTH" val="4653.918"/>
  <p:tag name="LATEXADDIN" val="\documentclass{article}&#10;\usepackage[a4paper, total={6in, 8in}]{geometry}&#10;\usepackage{amsmath}&#10;\usepackage{amssymb}&#10;\usepackage{xcolor}&#10;\usepackage{graphicx}&#10;&#10;\pagestyle{empty}&#10;\begin{document}&#10;&#10;&#10;$$&#10;\begin{aligned}&#10;\mathbf{u}_{t}+(\mathbf{u} \cdot \nabla) \mathbf{u} &amp;=-\nabla p+\frac{1}{R e} \nabla^{2} \mathbf{u}, \quad \text { in } \Omega \\&#10;\nabla \cdot \mathbf{u} &amp;=0, \quad \text { in } \Omega&#10;\end{aligned}&#10;$$&#10;\begin{tabular}{|c|c|c|c|c|c|c|c|c|c|c|c|c|}&#10;\hline SD No. &amp; 1 &amp; 2 &amp; 3 &amp; 4 &amp; 5 &amp; 6 &amp; 7 &amp; 8 &amp; 9 &amp; 10 &amp; 11 &amp; 12 \\&#10;\hline$\# \mathrm{~L}$ &amp; 6 &amp; 6 &amp; 6 &amp; 6 &amp; 4 &amp; 6 &amp; 6 &amp; 4 &amp; 6 &amp; 6 &amp; 6 &amp; 6 \\&#10;$\# \mathrm{~N}$ &amp; 20 &amp; 20 &amp; 20 &amp; 20 &amp; 20 &amp; 20 &amp; 20 &amp; 20 &amp; 20 &amp; 20 &amp; 20 &amp; 20 \\&#10;$\# \mathrm{R} . \mathrm{pts}$ &amp; $2.5 \mathrm{k}$ &amp; $5 \mathrm{k}$ &amp; $2.5 \mathrm{k}$ &amp; $2.5 \mathrm{k}$ &amp; $5 \mathrm{k}$ &amp; $2.5 \mathrm{k}$ &amp; $2.5 \mathrm{k}$ &amp; $5 \mathrm{k}$ &amp; $2.5 \mathrm{k}$ &amp; $2.5 \mathrm{k}$ &amp; $5 \mathrm{k}$ &amp; $2.5 \mathrm{k}$ \\&#10;\hline&#10;\end{tabular}\newline&#10;&#10;Learning rate : 6e-4, Optimizer : Adam, Adaptive Activation Fun. : tanh&#10;&#10;&#10;\end{document}&#10;"/>
  <p:tag name="IGUANATEXSIZE" val="16"/>
  <p:tag name="IGUANATEXCURSOR" val="1022"/>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662.1672"/>
  <p:tag name="ORIGINALWIDTH" val="4608.924"/>
  <p:tag name="LATEXADDIN" val="\documentclass{article}&#10;\usepackage[a4paper, total={6in, 8in}]{geometry}&#10;\usepackage{amsmath}&#10;\usepackage{amssymb}&#10;\usepackage{xcolor}&#10;\usepackage{graphicx}&#10;&#10;\pagestyle{empty}&#10;\begin{document}&#10;&#10;&#10;\hspace{-0.22in}We have the following equation with some unknown parameters $\alpha, \beta, \nu$.&#10;$$&#10;u_{t}+u u_{x}-\beta u_{x}-\nu u_{x x}+\alpha u_{x x x}=0, \quad x \in \Omega \subset \mathbb{R}, t&gt;0,&#10;$$&#10;Aim : Identify all the terms $\alpha, \beta, \nu$ with  data given by the viscous Burgers equation.&#10;&#10;&#10;\end{document}&#10;"/>
  <p:tag name="IGUANATEXSIZE" val="20"/>
  <p:tag name="IGUANATEXCURSOR" val="475"/>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2992.876"/>
  <p:tag name="ORIGINALWIDTH" val="3241.095"/>
  <p:tag name="LATEXADDIN" val="\documentclass{article}&#10;\usepackage[a4paper, total={6in, 8in}]{geometry}&#10;\usepackage{amsmath}&#10;\usepackage{amssymb}&#10;\usepackage{xcolor}&#10;\usepackage{graphicx}&#10;&#10;\pagestyle{empty}&#10;\begin{document}&#10;&#10;&#10;\hspace{0.98in}XPINNs : Interface conditions in the `` $q^{\text {th }}&quot;$ subdomain.&#10;&#10;\begin{align*}&#10;&amp;\operatorname{MSE}_{u_{\text {avg }}}=\sum_{\forall q^{+}}\left(\frac{1}{N_{l_{q}}} \sum_{i=1}^{N_{l_{q}}}\left|u_{\tilde{\Theta}_{q}}\left(\mathbf{x}_{l_{q}}^{(i)}\right)-\left\{\left\{u_{\tilde{\Theta}_{q}}\left(\mathbf{x}_{l_{q}}^{(i)}\right)\right\}\right\}\right|^{2}\right) \\&#10;&amp;\operatorname{MSE}_{\mathcal{R}}=\sum_{\forall q^{+}}\left(\frac{1}{N_{l_{q}}} \sum_{i=1}^{N_{l_{q}}}\left|\mathcal{F}_{\tilde{\Theta}_{q}}\left(\mathbf{x}_{l_{q}}^{(i)}\right)-\mathcal{F}_{\tilde{\Theta}_{q^{+}}}\left(\mathbf{x}_{l_{q}}^{(i)}\right)\right|^{2}\right) \\&#10;&amp;\hspace{1.2in}+&#10;\end{align*}&#10;&#10;&#10;\hspace{0.98in}Additional continuity conditions \newline&#10;&#10;\hspace{0.98in}Additional advantages over cPINN\newline&#10;&#10;\hspace{0.98in}(1) Extension to any differential equation(s)\newline&#10;&#10;\hspace{0.98in}(2) Generalized space-time domain decomposition \newline&#10;&#10;\hspace{0.98in}(3) Simple interface conditions&#10;&#10;&#10;&#10;\end{document}&#10;"/>
  <p:tag name="IGUANATEXSIZE" val="18"/>
  <p:tag name="IGUANATEXCURSOR" val="267"/>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25"/>
  <p:tag name="ORIGINALWIDTH" val="1046"/>
  <p:tag name="LATEXADDIN" val="\documentclass{article}&#10;\usepackage{amsmath}&#10;\usepackage{amssymb}&#10;\usepackage[a4paper, total={6in, 8in}]{geometry}&#10;\pagestyle{empty}&#10;\begin{document}&#10;&#10;$\{\}$ $\rightarrow$ average value&#10;&#10;&#10;\end{document}"/>
  <p:tag name="IGUANATEXSIZE" val="20"/>
  <p:tag name="IGUANATEXCURSOR" val="185"/>
  <p:tag name="TRANSPARENCY" val="True"/>
  <p:tag name="LATEXENGINEID" val="0"/>
  <p:tag name="TEMPFOLDER" val="/private/var/folders/0f/pks900g16vvdnlvt7dfsztp80000gp/T/com.microsoft.Powerpoint/TemporaryItems/"/>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210"/>
  <p:tag name="ORIGINALWIDTH" val="5025"/>
  <p:tag name="LATEXADDIN" val="\documentclass{article}&#10;\usepackage[a4paper, total={6in, 8in}]{geometry}&#10;\usepackage{amsmath}&#10;\usepackage{amssymb}&#10;\usepackage{xcolor}&#10;\usepackage{graphicx}&#10;&#10;\pagestyle{empty}&#10;\begin{document}&#10;&#10;$$&#10;\begin{array}{ccccc}&#10;\hline &amp; \text { PINN } &amp; \text { cPINN } &amp; \text { XPINN } \\&#10;\hline \text { Spatial Domain Decomposition } &amp; \times &amp; \checkmark &amp; \checkmark\\&#10;\text { Parallelization capacity } &amp; \times &amp; \checkmark &amp; \checkmark \\&#10;\text { Localized representation capacity } &amp; \times &amp; \checkmark &amp; \checkmark \\&#10;\text { Efficient hyperparameter adjustment } &amp; \times &amp; \checkmark &amp; \checkmark \\&#10;\text { Applicability } &amp; \text { Any DEs } &amp; \text { Conservation laws } &amp; \text { Any DEs } \\&#10;\text { Interface conditions } &amp; - &amp; \text { Complex } &amp; \text { Simple } \\&#10;\text { Spatio-Temporal Domain Decomposition } &amp; \times &amp; \times &amp;  \checkmark \\&#10;\hline&#10;\end{array}&#10;$$&#10;\end{document}&#10;"/>
  <p:tag name="IGUANATEXSIZE" val="20"/>
  <p:tag name="IGUANATEXCURSOR" val="361"/>
  <p:tag name="TRANSPARENCY" val="True"/>
  <p:tag name="LATEXENGINEID" val="0"/>
  <p:tag name="TEMPFOLDER" val="/private/var/folders/0f/pks900g16vvdnlvt7dfsztp80000gp/T/com.microsoft.Powerpoint/TemporaryItems/"/>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153.356"/>
  <p:tag name="ORIGINALWIDTH" val="2887.139"/>
  <p:tag name="LATEXADDIN" val="\documentclass{article}&#10;\usepackage[a4paper, total={6in, 8in}]{geometry}&#10;\usepackage{amsmath}&#10;\usepackage{amssymb}&#10;\usepackage{xcolor}&#10;\usepackage{graphicx}&#10;&#10;\pagestyle{empty}&#10;\begin{document}&#10;&#10;&#10;&#10;&#10;$$&#10;\begin{aligned}&#10;&amp;\begin{array}{ccc}&#10;\hline \text { Subdomain number } &amp; 1 &amp; 2 \\&#10;\hline \text { \# Layers } &amp; 6 &amp; 7 \\&#10;\text { \# Neurons } &amp; 20 &amp; 25 \\&#10;\text { \# Residual points } &amp; 7000 &amp; 3000 \\&#10;\text { Adaptive Activation function } &amp; \text { tanh } &amp; \text { sin } \\&#10;\hline&#10;\end{array}\\&#10;&amp;\text { Learning rate : } 8 \mathrm{e}-4, \text { Optimizer : Adam } &#10;\end{aligned}&#10;$$&#10;$$\text { Relative } L_{2} \text { error in the whole domain : } 8.93265 \mathrm{e}-3$$&#10;&#10;&#10;\end{document}&#10;"/>
  <p:tag name="IGUANATEXSIZE" val="16"/>
  <p:tag name="IGUANATEXCURSOR" val="670"/>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126.359"/>
  <p:tag name="ORIGINALWIDTH" val="5389.576"/>
  <p:tag name="LATEXADDIN" val="\documentclass{article}&#10;\usepackage[a4paper, total={6in, 8in}]{geometry}&#10;\usepackage{amsmath}&#10;\usepackage{amssymb}&#10;\usepackage{xcolor}&#10;\usepackage{graphicx}&#10;&#10;\pagestyle{empty}&#10;\begin{document}&#10;&#10;\hspace{-0.22in}$&#10;U_{t}+F_{x}+G_{y}=0, \quad(\mathbf{x}, t) \in \Omega \times(0, T] \subset \mathbb{R}^{2} \times \mathbb{R}_{+}$, &#10;with appropriate initial and boundary conditions. \newline&#10;\begin{center}&#10;\begin{tabular}{ccc}&#10;\hline Subdomain number &amp; 1 &amp; 2 \\&#10;\hline $\#$ Layers &amp; 6 &amp; 6 \\&#10;$\#$ Neurons &amp; 20 &amp; 25 \\&#10;$\#$ Residual points &amp; 12000 &amp; 8000 \\&#10;Adaptive activation function &amp; sin &amp; tanh \\&#10;\hline&#10;\end{tabular}&#10;\end{center}&#10;&#10;\end{document}&#10;"/>
  <p:tag name="IGUANATEXSIZE" val="20"/>
  <p:tag name="IGUANATEXCURSOR" val="209"/>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14810</TotalTime>
  <Words>1226</Words>
  <Application>Microsoft Office PowerPoint</Application>
  <PresentationFormat>全屏显示(4:3)</PresentationFormat>
  <Paragraphs>237</Paragraphs>
  <Slides>42</Slides>
  <Notes>42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42</vt:i4>
      </vt:variant>
    </vt:vector>
  </HeadingPairs>
  <TitlesOfParts>
    <vt:vector size="53" baseType="lpstr">
      <vt:lpstr>Microsoft YaHei UI</vt:lpstr>
      <vt:lpstr>华文楷体</vt:lpstr>
      <vt:lpstr>Arial</vt:lpstr>
      <vt:lpstr>Calibri</vt:lpstr>
      <vt:lpstr>Calibri Light</vt:lpstr>
      <vt:lpstr>Cambria Math</vt:lpstr>
      <vt:lpstr>Comic Sans MS</vt:lpstr>
      <vt:lpstr>Times New Roman</vt:lpstr>
      <vt:lpstr>Trebuchet MS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xhmeng</dc:creator>
  <cp:lastModifiedBy>Xuhui Meng</cp:lastModifiedBy>
  <cp:revision>1441</cp:revision>
  <dcterms:created xsi:type="dcterms:W3CDTF">2017-09-04T15:34:47Z</dcterms:created>
  <dcterms:modified xsi:type="dcterms:W3CDTF">2026-04-22T07:21:38Z</dcterms:modified>
</cp:coreProperties>
</file>